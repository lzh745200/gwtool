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 · 单机离线版 v1.18.0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84632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面向党政机关、企事业单位的单机智能公文汇编与写作辅助工具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零网络请求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1772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ARM64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 军队公文格式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 项自动化测试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463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+ SQLite（FTS5）+ PyMuPDF　|　数据存本机，程序与数据分离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514600" cy="2514600"/>
          </a:xfrm>
          <a:prstGeom prst="roundRect">
            <a:avLst>
              <a:gd name="adj" fmla="val 509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06840" y="1673352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2000" dirty="0"/>
          </a:p>
        </p:txBody>
      </p:sp>
      <p:sp>
        <p:nvSpPr>
          <p:cNvPr id="18" name="Text 16"/>
          <p:cNvSpPr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系统介绍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6093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· 四大痛点 · 关键数据 · 功能全景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371600" y="22677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677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22494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三层架构 · 数据层 · 检索 · 线程模型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371600" y="290779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077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88950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 · OCR 内置 · .doc 四级降级 · 资料库管理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371600" y="354787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4787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352958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种军队文种骨架 · 文秘工具箱 · 写作参考 · 三级纠错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71600" y="418795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879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41696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 · 国标模板 · Word 引擎 · 两遍渲染 · A3 小册子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71600" y="482803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8280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71600" y="48097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 · 文档对比查重 · 历史快照 · 加密备份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371600" y="54681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54681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54498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 · 打包矩阵 · CI/CD · 1745 项测试与性能验收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464040" y="23774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9464040" y="2330806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6100" dirty="0"/>
          </a:p>
        </p:txBody>
      </p:sp>
      <p:sp>
        <p:nvSpPr>
          <p:cNvPr id="28" name="Text 26"/>
          <p:cNvSpPr/>
          <p:nvPr/>
        </p:nvSpPr>
        <p:spPr>
          <a:xfrm>
            <a:off x="873252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 页 · 7 大章节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503920" y="4553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从产品到架构，从算法到交付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它是什么、为谁解决什么问题、整体能力有多大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定位：单机离线的公文汇编与写作辅助工具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四大痛点：材料散乱 · 格式繁琐 · 错字难查 · 写作无参考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一屏看懂：40220 条纠错对 · 12.3 万词典 · 24 个功能模块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定位：把“材料堆”变成“规范公文”的离线工作站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1168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一台电脑即可完成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材料管理、公文写作、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汇编成册的全部工作。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8463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E3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党政机关办文 · 企事业单位综合部门 · 涉密内网环境 · 麒麟信创终端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691640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801368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材料收集散乱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种文档格式批量导入，分类标签 + 全文检索，随手可查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800600" y="2852928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96265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294436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格式调整繁琐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军队机关公文格式默认模板 + 一键汇编，红头目录页码自动生成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800600" y="4014216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123944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1056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错别字难查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万条纠错库三级流水线，精标对 100% 识别（测试验收）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800600" y="5175504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5285232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2669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写作无参考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 + 三库联合检索，双击即插入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一屏看懂：这个系统“有多大、有多快”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220 + 程序生成 40000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00984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83864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123393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83864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词典词条（条）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CC-CEDICT，随包分发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44768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27648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军队公文文种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对应《军队机关公文处理工作条例》第八条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88552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71432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8+4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71432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可导入格式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 + 图片 4 类（内置 OCR）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自动化测试用例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全量回归 + 性能验收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00984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83864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&lt;10s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483864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后台线程批量解析入库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44768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7648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27648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全文检索响应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jieba，119.8 万字公版语料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88552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71432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171432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全离线设计，打包排除网络组件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数据来源：gwtool/resources/data/seed.db 实测（15.7 MB）与 tests/ 性能验收用例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功能全景：六大能力域，30+ 功能模块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批量导入去重 · OCR 识别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剪贴板入库 · 右键菜单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写作辅助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文种骨架 · 文秘工具箱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 · 朗读校对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质量纠错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· 军队公文格式体检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引文/数字/一致性/文风 · 对比 · 查重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三步汇编向导 · 批量模式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 · A3 骑马订 · 材料来源清单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6676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792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资料与台账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FTS 检索 · 历史快照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 · 收文全流程 · 时限督办 · 归档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6676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6792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安全与运维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· AES 加密备份 · 便携模式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诊断日志 · 数据库维护 · 一键诊断包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2386584"/>
            <a:ext cx="32918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840480" y="3616452"/>
            <a:ext cx="32918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840480" y="3616452"/>
            <a:ext cx="32918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132320" y="2386584"/>
            <a:ext cx="12344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132320" y="3616452"/>
            <a:ext cx="12344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132320" y="3616452"/>
            <a:ext cx="12344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74920" y="2999232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7492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 功能模块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069080" y="50749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全部功能共享同一本地数据库与模板体系，任何一个模块的产出都可直接被其他模块使用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三层解耦的可测试架构：界面、逻辑、数据各司其职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纯逻辑层 core/ 不含任何界面代码，可独立单元测试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SQLite 读写收敛到 db/dao.py 一个入口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耗时操作全部走 QThread 工作线程，界面永不卡死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技术选型：成熟开源库组合，双平台全离线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(Qt 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017520" y="1783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全部界面与内置 PDF 渲染引擎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86600" y="178308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Windows / 麒麟双平台，只用本地 GUI 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68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FTS5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17520" y="23682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单文件数据库 + 全文检索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3682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排序、零部署；WAL 模式读写不互卡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44368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017520" y="29535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解析 · 渲染 · 小册拼版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86600" y="2953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逐页文本提取 + show_pdf_page 等比重排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529584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387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python-docx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017520" y="3538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规范公文 Word 生成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86600" y="35387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 + 手写域代码，WPS 打开不跑版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017520" y="4123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中文分词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86600" y="41239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检索索引 · 纠错词边界保护 · SimHash 特征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700016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709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01752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86600" y="470916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开源离线词典，无在线服务依赖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528523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29437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017520" y="5294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打包为免安装交付目录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529437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onedir 启动快，排除 17 个网络/重型组件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运行依赖共 17 项（requirements.txt），全部有官方离线安装包，支持 ARM64 离线 wheels 预下载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三层架构：约 38400 行 Python，依赖方向清晰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90288" y="1645920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4590288" y="16459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main.py（--portable / --import）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2157984"/>
            <a:ext cx="0" cy="237744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90288" y="2395728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701D19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启动装配 · 种子导入 · 口令锁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2907792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3108960"/>
            <a:ext cx="72694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99048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界面层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784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main_window 三栏主窗口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 · 资料库 · 参考三面板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个功能对话框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workers 后台线程机制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348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60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/ 纯逻辑层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360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parsers 多格式解析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corrector 纠错 · inspector 体检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docxgen · pdfrender · booklet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reference · differ · simhash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 / 数据层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936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dao.py 唯一数据入口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张业务表 + 4 个 FTS5 虚表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+ 线程本地连接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v7 自动迁移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724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依赖方向 ui → core → db，core 不依赖 ui（可独立测试）；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resources/data/seed.db（15.7 MB 词典 + 纠错库）随包分发，首次运行导入用户库。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数据层：16 张业务表，一“室”管全部档案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业务表（schema.py · 版本 v7）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7712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340864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categories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78224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6" name="Text 14"/>
          <p:cNvSpPr/>
          <p:nvPr/>
        </p:nvSpPr>
        <p:spPr>
          <a:xfrm>
            <a:off x="4151376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dictionary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error_pairs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67712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22" name="Text 20"/>
          <p:cNvSpPr/>
          <p:nvPr/>
        </p:nvSpPr>
        <p:spPr>
          <a:xfrm>
            <a:off x="2340864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359152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user_phrases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078224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4151376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69664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排版模板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settings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键值设置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67712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31" name="Text 29"/>
          <p:cNvSpPr/>
          <p:nvPr/>
        </p:nvSpPr>
        <p:spPr>
          <a:xfrm>
            <a:off x="2340864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359152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78224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34" name="Text 32"/>
          <p:cNvSpPr/>
          <p:nvPr/>
        </p:nvSpPr>
        <p:spPr>
          <a:xfrm>
            <a:off x="4151376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169664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ignore_words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忽略名单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37" name="Text 35"/>
          <p:cNvSpPr/>
          <p:nvPr/>
        </p:nvSpPr>
        <p:spPr>
          <a:xfrm>
            <a:off x="530352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attachments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67712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0" name="Text 38"/>
          <p:cNvSpPr/>
          <p:nvPr/>
        </p:nvSpPr>
        <p:spPr>
          <a:xfrm>
            <a:off x="2340864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2359152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dispatch_register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078224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3" name="Text 41"/>
          <p:cNvSpPr/>
          <p:nvPr/>
        </p:nvSpPr>
        <p:spPr>
          <a:xfrm>
            <a:off x="4151376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169664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receive_register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6" name="Text 44"/>
          <p:cNvSpPr/>
          <p:nvPr/>
        </p:nvSpPr>
        <p:spPr>
          <a:xfrm>
            <a:off x="530352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48640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wordlist_sources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词表来源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267712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9" name="Text 47"/>
          <p:cNvSpPr/>
          <p:nvPr/>
        </p:nvSpPr>
        <p:spPr>
          <a:xfrm>
            <a:off x="2340864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359152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fts_index_state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索引状态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078224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52" name="Text 50"/>
          <p:cNvSpPr/>
          <p:nvPr/>
        </p:nvSpPr>
        <p:spPr>
          <a:xfrm>
            <a:off x="4151376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4169664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paragraphs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段落派生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41605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55" name="Text 53"/>
          <p:cNvSpPr/>
          <p:nvPr/>
        </p:nvSpPr>
        <p:spPr>
          <a:xfrm>
            <a:off x="530352" y="4160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548640" y="41833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user_skeletons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派生骨架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" y="461772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全文检索虚表：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documents_fts / phrases_fts / paragraphs_fts（jieba 预分词后入库）；词典 12.3 万条不走 FTS，改 LIKE 三段式避免拖慢首启动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263640" y="1691640"/>
            <a:ext cx="5468112" cy="4526280"/>
          </a:xfrm>
          <a:prstGeom prst="roundRect">
            <a:avLst>
              <a:gd name="adj" fmla="val 1616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9224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机制要点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92240" y="23682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1" name="Text 59"/>
          <p:cNvSpPr/>
          <p:nvPr/>
        </p:nvSpPr>
        <p:spPr>
          <a:xfrm>
            <a:off x="6729984" y="228600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每线程独立连接，WAL + synchronous=NORMAL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6492240" y="30175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3" name="Text 61"/>
          <p:cNvSpPr/>
          <p:nvPr/>
        </p:nvSpPr>
        <p:spPr>
          <a:xfrm>
            <a:off x="6729984" y="293522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指纹，重复内容拒收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6492240" y="3666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5" name="Text 63"/>
          <p:cNvSpPr/>
          <p:nvPr/>
        </p:nvSpPr>
        <p:spPr>
          <a:xfrm>
            <a:off x="6729984" y="35844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相似预存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表同时落 SimHash 64 位指纹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492240" y="431596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7" name="Text 65"/>
          <p:cNvSpPr/>
          <p:nvPr/>
        </p:nvSpPr>
        <p:spPr>
          <a:xfrm>
            <a:off x="6729984" y="423367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平滑升级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PRAGMA user_version 迁移，迁移前自动 zip 备份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6492240" y="49651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9" name="Text 67"/>
          <p:cNvSpPr/>
          <p:nvPr/>
        </p:nvSpPr>
        <p:spPr>
          <a:xfrm>
            <a:off x="6729984" y="48828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快照轮转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每文档保留最近 30 版，DAO 层自动裁剪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649224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71" name="Text 69"/>
          <p:cNvSpPr/>
          <p:nvPr/>
        </p:nvSpPr>
        <p:spPr>
          <a:xfrm>
            <a:off x="6729984" y="5532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 自救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索引失配时 rebuild_fts 一键全量重建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全文检索：中文切词 + FTS5，119.8 万字公版语料秒回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946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3464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4436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搜索引擎切词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lcut_for_search ≤24 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4690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21208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2180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MATCH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“乡村”AND“振兴”AND“政策”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2434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8952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924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bm25() 相关度排序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0178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96696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7668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snippet 摘要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命中词高亮返回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6675120" cy="1234440"/>
          </a:xfrm>
          <a:prstGeom prst="roundRect">
            <a:avLst>
              <a:gd name="adj" fmla="val 5926"/>
            </a:avLst>
          </a:prstGeom>
          <a:solidFill>
            <a:srgbClr val="1F191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404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查询构造示例（db/tokenize.py）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 → "乡村" "振兴" "政策"（逐词加引号，隐式 AND）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52360" y="3703320"/>
            <a:ext cx="4279392" cy="1234440"/>
          </a:xfrm>
          <a:prstGeom prst="roundRect">
            <a:avLst>
              <a:gd name="adj" fmla="val 5926"/>
            </a:avLst>
          </a:prstGeom>
          <a:solidFill>
            <a:srgbClr val="F5EAE7"/>
          </a:solidFill>
          <a:ln/>
        </p:spPr>
      </p:sp>
      <p:sp>
        <p:nvSpPr>
          <p:cNvPr id="25" name="Text 23"/>
          <p:cNvSpPr/>
          <p:nvPr/>
        </p:nvSpPr>
        <p:spPr>
          <a:xfrm>
            <a:off x="7726680" y="382219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篇文档全文检索实测（test_fts_search_speed_and_snippet）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" y="5349240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词典检索特殊优化：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12 万词条不做 FTS，按“精确 0.9 &gt; 前缀 0.8 &gt; 包含 0.7”三段 LIKE 分级，兼顾首启速度与命中质量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5952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5870448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资料库检索：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结果带上下文摘要（snippet）与相关度排序，回车即查，上限 100 条，F3 一键聚焦检索框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线程模型：耗时全后台，界面零卡顿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017520" cy="3566160"/>
          </a:xfrm>
          <a:prstGeom prst="roundRect">
            <a:avLst>
              <a:gd name="adj" fmla="val 2424"/>
            </a:avLst>
          </a:prstGeom>
          <a:solidFill>
            <a:srgbClr val="1F1917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21488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 · UI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只做界面绘制与交互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结果经 Signal 回流更新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600ms 防抖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大纲树 / 公文预览均防抖重建，输入不抖屏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92024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FnWorker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通用函数工作器：纠错 / 体检 / 对比 / 查重 / PDF 页渲染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474720" y="2295144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852928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5292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ImportWorker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批量导入：逐文件进度 + OCR 页级进度，可中途停止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474720" y="3227832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3785616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78561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CompileWorker 等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 / 两遍 PDF 渲染 / 小册子拼版，三大输出各一个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474720" y="4160520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09160" y="4718304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718304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逐句朗读，sentence 信号驱动编辑器同步高亮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474720" y="5093208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QImage 可跨线程传递（QPixmap 不行）；SQLite 每线程独立连接；全文替换保留一次撤销。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八种格式进得来，一座资料库管得住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格式解析全部本地完成，扫描件 OCR 内置开箱即用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二进制格式四级降级解析，尽力提取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+ FTS 检索 + 快照版本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一站式导入：8 种文档格式 + 图片 OCR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6276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7249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74904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382219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0167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1" name="Text 19"/>
          <p:cNvSpPr/>
          <p:nvPr/>
        </p:nvSpPr>
        <p:spPr>
          <a:xfrm>
            <a:off x="71140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5EAE7"/>
          </a:solidFill>
          <a:ln/>
        </p:spPr>
      </p:sp>
      <p:sp>
        <p:nvSpPr>
          <p:cNvPr id="23" name="Text 21"/>
          <p:cNvSpPr/>
          <p:nvPr/>
        </p:nvSpPr>
        <p:spPr>
          <a:xfrm>
            <a:off x="82113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35440" y="17830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9308592" y="178308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png/jpg/bmp/tif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248716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种格式直读（.wps 按内容嗅探路由，装 WPS 机器 COM 保真）　·　图片 4 类走内置 OCR（Tesseract + chi_sim 随安装包分发）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145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" y="3063240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拖拽即进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支持拖入文件或整个文件夹（递归扫描），也可从右键菜单 / 剪贴板一键入库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" y="3767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3685032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后台解析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ImportWorker 逐个解析入库，进度条含“OCR 第 x/y 页”页级反馈，可中途停止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4306824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指纹，重复内容自动跳过；完成统计“成功 N / 重复失败 M”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7200" y="501091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4928616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失败友好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扫描版 PDF 无文字层时自动走内置 OCR；中文包随安装包内置，缺包场景（源码运行）返回可操作指引而非静默空白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57200" y="56327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5550408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标题识别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复用公文编号正则识别“一、（一）1.”标题层级，首行 ≤50 字提为文档标题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最难啃的 .doc：四级降级解析链，尽力而为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4708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本机办公软件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 调用 WPS / WPS 个人版 / Word，另存为 DOCX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196596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1" name="Text 9"/>
          <p:cNvSpPr/>
          <p:nvPr/>
        </p:nvSpPr>
        <p:spPr>
          <a:xfrm>
            <a:off x="9262872" y="196596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效果最佳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68833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9864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LibreOffice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soffice --headless --convert-to docx 无窗口转换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89720" y="301752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6" name="Text 14"/>
          <p:cNvSpPr/>
          <p:nvPr/>
        </p:nvSpPr>
        <p:spPr>
          <a:xfrm>
            <a:off x="9262872" y="301752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373989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9502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纯 Python 硬解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olefile 读 WordDocument 流：FIB → fcClx → 分片表，UTF-16 / cp1252 解码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89720" y="406908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21" name="Text 19"/>
          <p:cNvSpPr/>
          <p:nvPr/>
        </p:nvSpPr>
        <p:spPr>
          <a:xfrm>
            <a:off x="9262872" y="40690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95% 完整率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79145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" y="493776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0017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原始扫描兜底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字节步长扫描 UTF-16 中文片段，连续 ≥8 字符才收录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512064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9E2B25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512064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保底不空手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5870448"/>
            <a:ext cx="11247120" cy="475488"/>
          </a:xfrm>
          <a:prstGeom prst="roundRect">
            <a:avLst>
              <a:gd name="adj" fmla="val 13462"/>
            </a:avLst>
          </a:prstGeom>
          <a:solidFill>
            <a:srgbClr val="1F1917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87044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设计哲学：</a:t>
            </a:r>
            <a:pPr indent="0" marL="0"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不挑环境 —— 装了 WPS 用 WPS，装了 Office 用 Office，什么都没有也能靠纯解析把文字捞出来。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资料库：像管档案一样管材料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97680" cy="4434840"/>
          </a:xfrm>
          <a:prstGeom prst="roundRect">
            <a:avLst>
              <a:gd name="adj" fmla="val 1702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分类树（右键管理）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▾ 全部文档（128）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898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98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办公室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88720" y="3465576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34655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通知 (32)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88720" y="4032504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40325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请示 (11)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59943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599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政策文件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88720" y="51663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5166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上级来文 (46)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73328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733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未分类 (39)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1892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5358384" y="181051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回车即查，FTS5 + bm25 排序 + 摘要高亮，上限 100 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2064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2560320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多级整理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分类树右键增删改；删除分类时文档自动归入未分类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120640" y="3392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5358384" y="3310128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标签与过滤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条目显示“标题 [类型] 字数 #标签”；按类型动态过滤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120640" y="41422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5358384" y="4059936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四种排序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导入时间 / 标题 / 字数 / 最近更新一键切换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120640" y="48920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5358384" y="4809744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批量操作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多选后批量删除；导出为 TXT；移动到指定分类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120640" y="56418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5358384" y="555955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版本守护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打开即看历史快照（30 版），差异预览后一键回滚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从“憋公文”到“填公文”：骨架、工具、参考、纠错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种军队机关公文文种骨架，填要素即成稿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写作参考三库联合检索，双击插入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+ 三道误报防线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新建公文：12 种军队机关公文文种骨架全覆盖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71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7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43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批复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601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9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通告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71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纪要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24528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422452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一文一事 · 主送一个机关 · 不得越级；结束语“妥否，请批示”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7200" y="5020056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020056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不得夹带请示事项（体检自动报 error）；结束语“特此报告”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骨架即规范：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每种骨架自带标题模板、主送机关、分段结构与【】待填要素、（提示）写作提示段 —— 选文种、填要素，初稿即刻成型。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文秘工具箱：编辑器右键，随手可得的“老文秘”手艺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金额大写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194560" y="18928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10050000.30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人民币壹仟零伍拾万元零叁角整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2331720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按人民银行票据规范：零压缩 · 角分规则 · “整”字处理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62072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6207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日期大写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19456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2026年8月30日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二〇二六年八月三十日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12848" y="341071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另支持编号大写码转换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94106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19456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简体选区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一键转繁体 / 转回简体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12848" y="448970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 离线词典（s2t / t2s），缺库优雅降级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020056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02005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全半角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194560" y="51297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 ABC123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ABC123（或反向）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12848" y="556869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0xFF01–0xFF5E 区间平移，选区或全文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同类还有：数字大写码 · 一键排版微调 · 朗读校对（F9）—— 全部离线，选区操作，Ctrl+Z 可撤销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写作参考：三库联合检索，双击即插入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653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bm25 全文检索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所有入库材料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46120" y="2308860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3081528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16382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万条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LIKE 三段式分级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246120" y="360730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4379976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6227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用户沉淀句式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检索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3246120" y="4905756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069080" y="178308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43400" y="1783080"/>
            <a:ext cx="3063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相关度融合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各组分数 min-max 归一到 [0,1]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标题命中 +0.15 · 标签命中 +0.10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同源去重后合并排序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680960" y="367588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03920" y="2395728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2395728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结果即所得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/ 按钮插入光标处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好句一键“存为常用句式”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同拼音近音词联想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写“关于 XX 的通知”没有思路？输入关键词，同类材料、惯用句式、规范用语一次呈现；好句可“存为常用句式”反哺词库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段落参考：从“找一篇”到“找那一段”，再借它的骨架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段落选取 · 引用定位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命中到“某篇第几段”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多选累积成「参考清单」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溯源：文档 + 段序号 +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正文偏移 + 段落指纹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双击跳回原文并高亮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931920" y="3090672"/>
            <a:ext cx="36576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434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内容对齐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参考清单 ↔ 当前草稿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并排比对「结构」与角色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报出：缺失 / 多余 /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章节顺序颠倒 / 序号跳号重复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（只提示，不改你的稿）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18120" y="3090672"/>
            <a:ext cx="36576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2296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07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骨架生成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抽取单位名·事项名·日期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时限·数量·引用公文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你填槽位 → 拼成新稿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只复用结构，不编造内容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未填槽位保留占位符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645152"/>
            <a:ext cx="11247120" cy="786384"/>
          </a:xfrm>
          <a:prstGeom prst="roundRect">
            <a:avLst>
              <a:gd name="adj" fmla="val 9302"/>
            </a:avLst>
          </a:prstGeom>
          <a:solidFill>
            <a:srgbClr val="1F1917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645152"/>
            <a:ext cx="10735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边界（刻意不做）：</a:t>
            </a:r>
            <a:pPr indent="0" marL="0"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不引入大模型、不联网、不自动改写语义、不替你决定写什么。段落索引是「派生数据」——删掉、重建、损坏都不影响任何既有功能。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右侧「写作参考」切到「段落」，搜关键词 → 选段「加入参考清单」→ 点「内容对齐…」看结构差在哪，或点「生成草稿…」借骨架填自己的内容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纠错引擎：四级流水线 + 可选 L4/L5 神经增强包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· 精确匹配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万条错别字/混淆对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首字桶索引 + 最长优先；机构沿革提示级 0.7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127248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28416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11296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· 上下文规则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同一个词，语境不同结论不同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“截止日期”保留；“截止 8 月底”改“截至”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99632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82512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· 语法与表达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L2.5：词表法够不着的错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涉及(到)→涉及 · 加大力度 · 关联词呼应 · 成对标点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869680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070848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53728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第四级 · 标点数字规则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15835 规范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全角标点 · 省略号“……” · 破折号 · 汉字年份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置信度决定呈现：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14600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1" name="Text 19"/>
          <p:cNvSpPr/>
          <p:nvPr/>
        </p:nvSpPr>
        <p:spPr>
          <a:xfrm>
            <a:off x="2587752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0.85–0.98 精标对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514600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确认错误 · 红色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18888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程序生成对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18888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疑似错误 · 橙色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23176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7" name="Text 25"/>
          <p:cNvSpPr/>
          <p:nvPr/>
        </p:nvSpPr>
        <p:spPr>
          <a:xfrm>
            <a:off x="7196328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≥0.99 用户自定义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23176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用户最高优先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27464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0" name="Text 28"/>
          <p:cNvSpPr/>
          <p:nvPr/>
        </p:nvSpPr>
        <p:spPr>
          <a:xfrm>
            <a:off x="9500616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机构沿革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427464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提示级 · 灰色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" y="55321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结果可交互：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逐条替换 / 全部替换（自动排除数字类）/ 忽略本次 / 永久忽略（写入 ignore_words，下次不再提示）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7200" y="6071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9893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即时生效：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词典管理中新增纠错对立即参与匹配，缓存自动失效，无需重启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三道误报防线：宁可少报，不可错报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110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防线一 · 词边界保护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154680" y="18928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分词边界判定：命中片段落在词语内部即抑制；低置信命中（&lt;0.7）双重门控，jieba 高频词（词频≥30）例外放行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58200" y="19659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2" name="Text 10"/>
          <p:cNvSpPr/>
          <p:nvPr/>
        </p:nvSpPr>
        <p:spPr>
          <a:xfrm>
            <a:off x="8613648" y="19659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“安全生产”内部不误报“全生→全省”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826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防线二 · 负向上下文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154680" y="32644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成语与惯用语白名单：命中词位于特定固定搭配中时不提示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58200" y="33375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13648" y="3337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“以德报怨”不纠“报怨”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6542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防线三 · 书名号保护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书名号内是文件标题，按原文引用原则不作纠改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8200" y="47091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4709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《关于布署工作的通知》保持原样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943600"/>
            <a:ext cx="11247120" cy="502920"/>
          </a:xfrm>
          <a:prstGeom prst="roundRect">
            <a:avLst>
              <a:gd name="adj" fmla="val 12727"/>
            </a:avLst>
          </a:prstGeom>
          <a:solidFill>
            <a:srgbClr val="1F191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重叠命中按“置信度降序 → 长度降序”贪心去重，从后往前批量替换，Ctrl+Z 一次还原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纠错知识库：4 万条规则从哪里来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794760" cy="4480560"/>
          </a:xfrm>
          <a:prstGeom prst="roundRect">
            <a:avLst>
              <a:gd name="adj" fmla="val 192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574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纠错对总量（seed.db 实测）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条 人工精标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音近错字 · 易混搭配 · 新华社禁用词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 条 程序化生成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高频双字词 × pypinyin 同音替换，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错写本身不是常用词才入库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4663440" y="1911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82880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新华社禁用词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建国以来 → 新中国成立以来；残废人 → 残疾人（规范用语提示）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6344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260604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机构沿革 52 条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环境保护部 → 生态环境部；银保监会 → 国家金融监督管理总局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3465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4901184" y="338328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易混词分档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权力/权利 按搭配区分；“反应情况→反映情况”类搭配纠错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63440" y="42428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416052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生成质量把控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仅保留“错写不是真实常用词”的对，配合词边界门控防误报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663440" y="50200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4901184" y="493776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用户可扩充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词典管理批量导入 CSV 纠错对，置信度 0.95，立即生效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63440" y="58521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验收：精标词库抽 100 对在样句中 100% 识别（test_corrector）；布署→部署、截止→截至 为 e2e 固定验收对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选材料、选模板，剩下的交给程序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三步向导：选材料排序 → 选模板封面 → 生成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Word（WPS 不跑版）· A4 PDF · A3 骑马订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批量模式：每份材料独立成文，失败不中断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三步向导：从一堆材料到一本汇编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选择材料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全部文档勾选，默认全选；拖拽或上下移调整合并顺序；可选“材料标题作一级标题”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0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53128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模板与封面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下拉选模板（可跳转管理）；填封面标题、汇编单位、落款日期；勾选生成封面页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449056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0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生成输出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同名自动加时间戳防覆盖；完成后一键打开输出文件夹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四种输出（可多选）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 .docx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OOXML，WPS / Word 通用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28416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内置渲染器，真实目录页码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99632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自动补页 · 页序自动排列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70848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4" name="Text 22"/>
          <p:cNvSpPr/>
          <p:nvPr/>
        </p:nvSpPr>
        <p:spPr>
          <a:xfrm>
            <a:off x="9253728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每份材料独立成文，失败不中断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输出位置：我的文档\公文汇编输出\（独立于数据目录，方便直接取用）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默认模板：军队机关公文格式开箱即用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286000" y="17830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 37 · 下 35 · 左 28 · 右 26 毫米（国标版心）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4086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286000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仿宋_GB2312 · 三号（16pt）· 固定行距 28 磅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53512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0837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首行缩进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286000" y="300837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字符（firstLineChars=200，随字号缩放）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210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标题体系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86000" y="36210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 黑体 · 二级 楷体 · 三级 仿宋加粗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78808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2336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286000" y="4233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宋体四号 · 奇数右 / 偶数左（外侧）· “— 1 —”格式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791456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846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286000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机关标志 方正小标宋 36pt 红字 + 发文字号 + 红色分隔线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40410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可选件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286000" y="54589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 · 目录 · 版记 · 水印 / 密级标注（绝密·核心 / 绝密 / 机密 / 秘密）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32520" y="1783080"/>
            <a:ext cx="2999232" cy="4206240"/>
          </a:xfrm>
          <a:prstGeom prst="roundRect">
            <a:avLst>
              <a:gd name="adj" fmla="val 243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098280" y="2057400"/>
            <a:ext cx="226771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E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98280" y="21945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××机关文件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8280" y="25786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×政办发〔2026〕12号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64040" y="2907792"/>
            <a:ext cx="1536192" cy="2560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3" name="Shape 31"/>
          <p:cNvSpPr/>
          <p:nvPr/>
        </p:nvSpPr>
        <p:spPr>
          <a:xfrm>
            <a:off x="9281160" y="3154680"/>
            <a:ext cx="1901952" cy="82296"/>
          </a:xfrm>
          <a:prstGeom prst="rect">
            <a:avLst/>
          </a:prstGeom>
          <a:solidFill>
            <a:srgbClr val="3B342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81160" y="3401568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5" name="Shape 33"/>
          <p:cNvSpPr/>
          <p:nvPr/>
        </p:nvSpPr>
        <p:spPr>
          <a:xfrm>
            <a:off x="9281160" y="3639312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6" name="Shape 34"/>
          <p:cNvSpPr/>
          <p:nvPr/>
        </p:nvSpPr>
        <p:spPr>
          <a:xfrm>
            <a:off x="9281160" y="3877056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4114800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1160" y="4352544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1160" y="4590288"/>
            <a:ext cx="1005840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9880" y="489204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1 —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869680" y="5440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JSON 实时渲染预览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模板管理器三参数页 + 实时首页预览，保存即生效；字体不随包分发（版权），缺失时启动自动提示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生成引擎：六项底层细节，换来“不跑版”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653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78308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目录真域代码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TOC \o "1-3" \h \z \u + settings 写入 w:updateFields，Word/WPS 打开自动刷新页码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496312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中文字体不丢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每个 run 同时设置 ascii / hAnsi / eastAsia 三个字体位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209544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缩进随字号缩放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firstLineChars=200（字符单位）并写 twips 兜底，改字号不乱缩进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3922776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页码在外侧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evenAndOddHeaders 奇偶页脚 + PAGE 域，奇数右偶数左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7183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636008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红头红线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红色分隔线用段落底边框（FF0000 · 15/8pt），标题挂 Heading 1–3 供目录抓取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34924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水印注入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页眉 VML 艺术字水印（Word/WPS 标准做法），透明度可调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0" y="192024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22208" y="219456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 打开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不跑版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纯标准 OOXML：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域代码 · 字符缩进 ·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奇偶页脚全部按规范写入，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永中 / WPS / Word 三端验证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验收：test_compile_pdf 校验 TOC 域 / updateFields / 奇偶页脚 / 28 磅行距 / 重开解析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PDF 渲染器：两遍渲染算准目录页码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目录页码用“00”占位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占位宽度≈真实页码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保证分页与最终一致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07238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8328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定位标题页码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search_for 全文找标题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全匹配失败退 12 字前缀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重名标题按顺序单调消歧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以真实页码重排重绘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前置页数解析式计算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（封面 1 页 + 目录分片数）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2454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页码盖章 + 水印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盖“奇右偶左”页码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内置中文字体 china-s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可选密级/文稿水印平铺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为什么值得做？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Word / WPS / LibreOffice —— 麒麟内网机器什么办公软件都没装，也能出带准确目录页码的正式 PDF。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4526280"/>
            <a:ext cx="5513832" cy="1600200"/>
          </a:xfrm>
          <a:prstGeom prst="roundRect">
            <a:avLst>
              <a:gd name="adj" fmla="val 457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6634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外部办公软件依赖；目录分片（首页 20 行 / 后续每页 22 行）规避 Qt 表格不跨页限制</a:t>
            </a:r>
            <a:endParaRPr lang="en-US" sz="4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骑马订小册子：页序算法，折对即成册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页手册 → 2 张 A3 纸（每张正反面，A4 两页并排）：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正面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718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背面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86968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3550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8696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正面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97180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72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背面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6968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3550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8696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457200" y="5687568"/>
            <a:ext cx="11247120" cy="621792"/>
          </a:xfrm>
          <a:prstGeom prst="roundRect">
            <a:avLst>
              <a:gd name="adj" fmla="val 10294"/>
            </a:avLst>
          </a:prstGeom>
          <a:solidFill>
            <a:srgbClr val="1F1917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68756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k 张纸（k 从 0 计）公式：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 [N−2k, 2k+1] · 背面 [2k+2, N−2k−1]；页数自动补齐 4 的倍数（末尾补空白页）。沿中线装订折叠后恰为 1–8 页顺序（test_booklet_order_math 验收）。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交出去之前，再把它从头到尾查一遍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军队公文格式体检：编号链条到字体行距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+ SimHash 查重：改了哪、重复哪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+ AES 备份：数据安全有多道保险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格式体检：把《条例》和《国标》装进检查器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标题编号链条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一、（一）1.（1）逐行跟踪计数器：跳号、重复、回退、层级断档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发文字号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必须六角括号〔〕；圆括号 / 方括号直接报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成文日期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汉字年份、前导零、2026.8.30 点分格式提示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3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结束语×文种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请示→“妥否，请批示”；报告→“特此报告”；函→“为盼/为荷”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文种混用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报告夹带“请批示/请批复”报 error；请示多事项提示“一文一事”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体例细节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主送机关顶格；密级“秘密★保密期限”；附件说明全角冒号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 版式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 · 仿宋正文 · 三号字 · 28 磅行距 · 页脚 PAGE 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防误报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版式类 &gt;30% 段落异常才整体报警，个别特例不打扰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943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结果三级着色：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87452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6" name="Text 24"/>
          <p:cNvSpPr/>
          <p:nvPr/>
        </p:nvSpPr>
        <p:spPr>
          <a:xfrm>
            <a:off x="194767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 红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 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9963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26948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info 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89711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供参考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文档对比与相似查重：改了哪、重复哪，一眼看清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differ.py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33172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段落级 SequenceMatcher 行对齐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3232" y="3035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2953512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 行内再做词级 diff（jieba 分词，短串退字符级）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" y="365760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57530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双栏红绿 HTML：删红 · 增绿 · 改黄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3232" y="42793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197096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统计增/删/改行数 + 相似度百分比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490118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950976" y="4818888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对比对象：库内两文档，或任选本地文件（6 格式直读）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相似查重 · simhash.py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2331720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建指纹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特征 = jieba 词语 + 相邻二元组；FNV-1a 64 位哈希（纯 Python 零依赖）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37960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75704" y="3081528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SimHash 海明距离（阈值放宽 0.25），速度优先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37960" y="39136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775704" y="3831336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粗筛命中对再算字符三元组 Jaccard，作为最终相似度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537960" y="46634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775704" y="4581144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入库即算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表持久化指纹，查重免全库重算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537960" y="54132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6775704" y="5330952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可调阈值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40–99% 滑块（默认 70%），找出“换说法的重复件”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历史快照与排版微调：让“手滑”可反悔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19456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3 分钟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有改动时自动快照（reason=auto）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9352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285292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写入资料库前先存一版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5935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3511296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30 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每文档独立计数，DAO 自动裁剪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425196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16966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差异预览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与当前内容词级 diff，确认后回滚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910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828032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整块替换保留撤销栈，Ctrl+Z 可再反悔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一键排版微调（五步流水线，输出变更清单）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26480" y="2240280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48272" y="225856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清理多余空格 / 空行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2697480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2953512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48272" y="297180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全角数字转半角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410712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3666744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748272" y="36850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去除段首空白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123944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379976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48272" y="439826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规范标题编号链（一、（一）1.（1））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4837176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5093208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48272" y="5111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正文段补两字符缩进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852160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5EAE7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相似主题：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跨文档批量查找替换（支持正则，先预览每篇命中再执行，执行前提醒备份）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安全与备份：四道保险，数据留在本机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PBKDF2-HMAC-SHA256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万次迭代 + 随机盐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compare_digest 防时序攻击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 5 次强制等待 10 秒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28416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加密备份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9584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pyzipper AES（WZ_AES）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口令可选，明文包也支持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包内含库 + 模板 + 清单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跨机迁移一键完成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自动轮转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退出时自动备份（可关）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定时备份间隔可配置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 20 份轮转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文件名含毫秒防同秒覆盖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70848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72016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恢复护栏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备份前 WAL checkpoint 落盘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恢复前自动再做一次备份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完整性试连校验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临时目录校验后原子替换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7368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透明说明：</a:t>
            </a:r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口令锁定位是“防误用级”防护，非涉密级加密；真正的安全底线是 —— 全程零网络请求，数据不出这台机器。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装得上、跑得动、测得全、发得出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V10 ARM64 双平台交付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个离线安装包自动构建，GitHub Actions 全自动发布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 项测试 + 50 步端到端自检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双平台交付：从 Windows 办公机到麒麟信创终端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 / 11 · x64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安装包（免管理员权限，装完即用）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OCR + 中文包内置，离线开箱即用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 --portable：数据随程序走，U 盘可用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右键菜单“用公文汇编助手导入”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V10 · ARM64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 打包（非交叉编译模拟）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包：desktop 入口 + Qt 运行库依赖声明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与中文包内置（glibc 与麒麟对齐）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启动器预检缺库，给出确切 apt 安装命令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数据放哪，一目了然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常规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%APPDATA%\gwtool\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72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/ Linux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~/.local/share/gwtool/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程序同级 Data\（U 盘随带随走）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172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我的文档\公文汇编输出\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程序与数据分离：升级重装不动数据；“备份/恢复”可整体搬迁到另一台电脑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打包矩阵：一份 spec，两大离线安装包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38728" y="17373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54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94760" y="18745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gwtool.spec · PyInstaller onedir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双平台共用唯一配置：携带 seed.db + OpenCC 数据；排除 17 个网络/重型模块；UPX 压缩；窗口程序无控制台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099048" y="3154680"/>
            <a:ext cx="0" cy="32004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3474720"/>
            <a:ext cx="5715000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安装包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gwtool_setup_win64.exe · Inno Setup LZMA2 固实压缩 · Tesseract OCR 与中文包内置 · 装完即启动，全程零网络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15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ARM64 deb 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gwtool_&lt;版本&gt;_linux_arm64.deb · dpkg-deb 组装 · desktop 入口 + Qt 运行库依赖声明 · OCR 内置，glibc 对齐麒麟 V10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install_context_menu.bat 写当前用户注册表（无需管理员）挂右键菜单；gwtool.desktop 注册 6 类文档“打开方式”；OCR 引擎与中文包已内置，两个安装包均离线安装、开箱即用。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CI/CD：打一个 tag，两大离线安装包自动发布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965960"/>
            <a:ext cx="1920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v* 标签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或手动触发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build.yml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54680" y="1783080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1 · windows-latest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806440" y="1856232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ruff 静态检查（gwtool/scripts/tests）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 2898 用例 + 55 步端到端自检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 按 spec 打包 + Tesseract/中文包内置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ISCC 安装包（版本号取自代码）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749040" y="2898648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3044952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31363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2 · ubuntu-24.04-arm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806440" y="3118104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runner（非交叉编译）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Debian 11 容器（glibc 2.31 对齐麒麟 V10）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spec 打包 + OCR 集成 + 运行库自检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dpkg-deb 组装 .deb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49040" y="4160520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54680" y="4306824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43982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3 · release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806440" y="4379976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依赖前两个 Job 全绿（含打包与冒烟）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 v* 标签触发 / 手动 workflow_dispatch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gh release create 自动建发布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2 个安装包 + 自动 Release Notes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0" y="3566160"/>
            <a:ext cx="38404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质量保障：1745 项测试，性能指标写进断言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测试分布（pytest，按文件 · 前 9）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2263140"/>
            <a:ext cx="3246120" cy="21031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199632" y="22128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2665476"/>
            <a:ext cx="1693628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4" name="Text 12"/>
          <p:cNvSpPr/>
          <p:nvPr/>
        </p:nvSpPr>
        <p:spPr>
          <a:xfrm>
            <a:off x="4647140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test_attachments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80360" y="3067812"/>
            <a:ext cx="1411357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7" name="Text 15"/>
          <p:cNvSpPr/>
          <p:nvPr/>
        </p:nvSpPr>
        <p:spPr>
          <a:xfrm>
            <a:off x="4364869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470148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0" name="Text 18"/>
          <p:cNvSpPr/>
          <p:nvPr/>
        </p:nvSpPr>
        <p:spPr>
          <a:xfrm>
            <a:off x="4294301" y="34198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22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test_correction_highlighter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80360" y="3872484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3" name="Text 21"/>
          <p:cNvSpPr/>
          <p:nvPr/>
        </p:nvSpPr>
        <p:spPr>
          <a:xfrm>
            <a:off x="4294301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test_backup_limits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80360" y="4274820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6" name="Text 24"/>
          <p:cNvSpPr/>
          <p:nvPr/>
        </p:nvSpPr>
        <p:spPr>
          <a:xfrm>
            <a:off x="4294301" y="42245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626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test_stage3_extras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4677156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9" name="Text 27"/>
          <p:cNvSpPr/>
          <p:nvPr/>
        </p:nvSpPr>
        <p:spPr>
          <a:xfrm>
            <a:off x="4294301" y="4626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test_batch_correct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5079492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2" name="Text 30"/>
          <p:cNvSpPr/>
          <p:nvPr/>
        </p:nvSpPr>
        <p:spPr>
          <a:xfrm>
            <a:off x="4153165" y="5029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54315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test_registry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880360" y="5481828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5" name="Text 33"/>
          <p:cNvSpPr/>
          <p:nvPr/>
        </p:nvSpPr>
        <p:spPr>
          <a:xfrm>
            <a:off x="4153165" y="54315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1745 用例 · 78 个测试文件 · ruff 门槛 E9+F+FA100/FA102+B+PLW2901（拦“忘导入即崩溃”“py39 注解崩”“未用符号回归”）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1737360"/>
            <a:ext cx="4782312" cy="4526280"/>
          </a:xfrm>
          <a:prstGeom prst="roundRect">
            <a:avLst>
              <a:gd name="adj" fmla="val 1616"/>
            </a:avLst>
          </a:prstGeom>
          <a:solidFill>
            <a:srgbClr val="1F1917"/>
          </a:solidFill>
          <a:ln/>
        </p:spPr>
      </p:sp>
      <p:sp>
        <p:nvSpPr>
          <p:cNvPr id="38" name="Text 36"/>
          <p:cNvSpPr/>
          <p:nvPr/>
        </p:nvSpPr>
        <p:spPr>
          <a:xfrm>
            <a:off x="7205472" y="1901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性能验收（写进测试的硬指标）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205472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966960" y="23957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秒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205472" y="2852928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05472" y="29626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119.8 万字语料检索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9669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05472" y="3419856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5295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100 对识别率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66960" y="35295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205472" y="3986784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05472" y="4096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首启种子导入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966960" y="4096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15 秒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205472" y="4553712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端到端自检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9966960" y="46634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步全 PASS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205472" y="5120640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05472" y="52303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9966960" y="5230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205472" y="5806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e2e_check.py：模拟真实数据目录走通 50 项全流程，逐项 PASS/FAIL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v1.6.0 新增：把公文管理的另一半补齐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收文登记台账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签收 → 拟办 → 批办 → 承办 → 办结 → 归档 全流程登记：来文机关、来文字号、拟办意见、领导批示、承办部门与办理时限全要素；可按机关/文种/状态/年度组合筛选并统计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办理时限督办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填了“应办结日期”的件自动纳入督办：启动时扫描已逾期与 2 日内到期的，状态栏常显角标、点开即见清单。刻意不做后台常驻轮询 —— 那会伤续航，而公文以“天”为粒度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归档与移交清单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已办结收文批量编档号、标注保管期限（永久/30年/10年），并生成可签字盖章随卷的《归档移交清单》。在办件不允许归档 —— 那会造成“卷内缺件”，比不归档更难收拾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导出（零新依赖）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台账、统计报表、体检整改清单均可导出 xlsx。xlsx 本质是 ZIP + XML，用标准库手写即可完成，不为此引入任何第三方依赖，安装包体积零增长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运维可诊断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运行期诊断日志（有界轮转、队列异步、不记正文）+ 启动库完整性自检（正常时完全静默）+ 一键碎片整理 + 诊断包（只含版本与计数，绝不含公文正文）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体检与移交增强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格式体检新增引文规范、数字用法、文内一致性、公文文风四类；汇编可附材料来源清单；资料可按分类/时段导出为移交包（含每份文档的 sha256 校验清单）</a:t>
            </a:r>
            <a:endParaRPr lang="en-US" sz="14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v1.7.0 新增：语法纠错、写作提示与第五轮深审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01368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语法与表达规则层（L2.5）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补上词表法够不着的错：语义冗余（涉及到→涉及）、动宾搭配（加强力度→加大力度）、关联词呼应（只有……就→才）、成对标点未配对。每条规则都有正例命中 + 27 条负样本守门，正常公文语料零误报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01368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精标库扩容 · 消解修正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人工精标对扩到 370 条、检出率 100%：_dedupe 改为“精标长对优先”单向消解——此前“反应情况”会被短规则截胡的边角问题就此闭环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383280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写作提示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按文种提示缺哪个要素、结构要不要分层、句长与空泛词体检。只给建议、绝不改动正文——模块内没有任何写正文的入口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383280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文种识别与灵感建议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“这篇更像哪个文种”：复用风格量化指纹做距离排序；按写作环节推荐可套用的公文句式，并检索本地资料库里的既有写法（全程离线）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965192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第五轮质量深审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汇编材料标题按输入槽位对齐（坏文件只跳过自己那一坑）；来源清单不虚列出处；机构一致性覆盖“简称与全称”连写场景；无界面环境的字体探测不再崩溃进程——每条都先实测复现、再修复、再补回归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965192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质量基线抬升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 1612 → 1745 项，端到端自检 45 → 50 项；数据层全生命周期探针 29 项全过；全部结论以“实测复现”为准绳记录在审查报告第五轮</a:t>
            </a:r>
            <a:endParaRPr lang="en-US" sz="14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规范依据与资料来源（逐项可溯）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18488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《军队机关公文处理工作条例》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383280" y="1618488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解放军报 2017-07-17 全文发布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2017-10-01 施行，废止 2005 年版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0" y="1618488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文种（12 种）· 格式要素（20 项）· 行文规则 · 起草语言要求（内容简洁、主题突出、观点鲜明、结构严谨、表述准确、文字精练）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11247120" cy="1024128"/>
          </a:xfrm>
          <a:prstGeom prst="roundRect">
            <a:avLst>
              <a:gd name="adj" fmla="val 53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368296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5100A-2017《军队机关公文格式》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2368296"/>
            <a:ext cx="29077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国家军用标准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 年发布，36 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368296"/>
            <a:ext cx="50109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页面与字体字号：A4 · 天头 37mm · 订口 28mm · 版心 156mm×225mm · 每面 22 行×28 字；正文三号仿宋 · 标题二号小标宋 · 密级三号黑体 · 页码四号半角白体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419856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465576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求是网 · 文风建设系列文章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83280" y="3465576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《“改文风”不只是“改文字”》等 3 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0" y="3465576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文风检查依据：反对“长、空、假”，倡导“短、实、新”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169664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215384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中国军网 · 解放军报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0" y="421538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中国人民解放军官方军事新闻门户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4215384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军队机关公文规范的发布渠道与权威来源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919472"/>
            <a:ext cx="11247120" cy="896112"/>
          </a:xfrm>
          <a:prstGeom prst="roundRect">
            <a:avLst>
              <a:gd name="adj" fmla="val 6122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965192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文籍典册 wendian.dicomp.net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83280" y="4965192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外部站点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0" y="4965192"/>
            <a:ext cx="50109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核验为 JavaScript 单页应用，未取到与本文档主张对应的正文 —— 按约定标注“不适用”，不作引用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587044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字体字号说明：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 属内部标准、未公开发行，上表字体字号取自公开整理的对应条款；如与标准正式文本有出入，以正式文本为准。文籍典册经核验无对应正文，故不引用。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代码审查：五轮深审，每条结论都以实测为准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怎么审的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322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240280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alibaba/open-code-review（确定性流水线 + 规则集）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3081528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db / core / ui 全部源码，逐轮覆盖全部新增模块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922776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内置 11 大类：异常处理 / 边界情形 / 资源管理 / 并发 / 安全…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3232" y="48463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764024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机检出候选后逐条写探针脚本**实测复现**，不凭推理下结论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" y="5532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诚实说明：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工具内置 LLM（deepseek）密钥余额为 0，故改用其官方 delegate 模式 —— 由工具出规则集，由本机 AI 完成推理与实测。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600200"/>
            <a:ext cx="5559552" cy="4480560"/>
          </a:xfrm>
          <a:prstGeom prst="roundRect">
            <a:avLst>
              <a:gd name="adj" fmla="val 1633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审出了什么（五轮累计）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28232" y="22677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审查轮次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235440" y="2267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28232" y="2743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 · 已修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3544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28232" y="32186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死代码 / 一致性清理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235440" y="32186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428232" y="36941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 · 实测剔除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235440" y="369417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20+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28232" y="416966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回归测试护栏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235440" y="41696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2898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28232" y="4709160"/>
            <a:ext cx="502920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缺陷的共同特征：失败被吞掉，代码却仍做出“成功”的承诺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28232" y="5340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665976" y="525780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诊断包与日志确保不含公文正文（原 redact 护栏形同虚设）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28232" y="5843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665976" y="57607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可见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恢复失败/降级如实点名，不再一律说“成功”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v1.15 增强：封面、目录、页码、字体、A4+A3 一次到位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56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2585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默认生成，单位/汇编名/副标题/日期；要素全空不出页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6916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1856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目录与页码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3640" y="22585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封面/目录不编号，正文从 —1— 连续；目录页码=正文实际页码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字体分层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8587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标题小标宋 22pt；一、黑体 16；（）楷体 16；1. 仿宋加粗 16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32918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/ A3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63640" y="38587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A4 595×842pt；A3 骑马钉 1190×842pt，补页到 4 的倍数、页序自动排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50749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验收矩阵：5 类输入 × DOCX/A4/A3，PASS 124 / FAIL 0 / SKIP 16（离线 DOCX 目录域、缺字体项均带原因）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v1.16 写作参考库：公版/开放授权语料的检索—对照—仿写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655 篇</a:t>
            </a:r>
            <a:pPr indent="0" marL="0">
              <a:buNone/>
            </a:pPr>
            <a:r>
              <a:rPr lang="en-US" sz="14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119.8 万汉字 / 6.08 万句结构化标注 / 354 条模板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56032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政府公开文件 35 篇 + 公版古籍 620 篇（MIT 数据集，原文公有领域）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333756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按 论点/论据/过渡/结尾/模板 筛；显示来源、规则、置信度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97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411480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仿写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一键插入正文（可撤销）、复制到剪贴板；只读离线，不写资料库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974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89204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规则式标注，模板须人工复核；不联网、不引入模型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v1.17 校对可信度：让“改得准”可度量、可撤销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739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6916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三级门控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错误（自动写回）/ 待确认（同句第 3 处起、低置信）/ 提示（数字、机构、生成层）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6060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受保护片段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引号引文、书名号、URL、代码、数字+单位：只提示不自动改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6027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5204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最小修改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同句自动修改 ≤2 处；提示类绝不自动替换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5171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44348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评测门禁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E7 配对精确率 F0.5=100%，正确形零自动改；E3a 0.00 处/万字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498080" y="1691640"/>
            <a:ext cx="4206240" cy="3840480"/>
          </a:xfrm>
          <a:prstGeom prst="roundRect">
            <a:avLst>
              <a:gd name="adj" fmla="val 1905"/>
            </a:avLst>
          </a:prstGeom>
          <a:solidFill>
            <a:srgbClr val="1F1917"/>
          </a:solidFill>
          <a:ln/>
        </p:spPr>
      </p:sp>
      <p:sp>
        <p:nvSpPr>
          <p:cNvPr id="17" name="Text 15"/>
          <p:cNvSpPr/>
          <p:nvPr/>
        </p:nvSpPr>
        <p:spPr>
          <a:xfrm>
            <a:off x="772668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26680" y="23317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列表按级别着色：错误 / 待确认 / 提示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72668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显示理由、类别、置信度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26680" y="364845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「接受此类」仅批量错误级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26680" y="430682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「撤销上次」单步恢复，换文档清空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 v1.18.0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数据自主 · 开箱即用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84632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不联网、不上传、不留痕 —— 一台电脑，就是一座公文资料馆。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 · 快速开始 · 打包发布 · 验收对照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项目文件结构说明.md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写给新手的逐文件导读与“改 X 去哪”速查表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open-code-review审查报告.md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全项目代码审查：范围、逐条真伪甄别、修复与验证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谢谢审阅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0" y="5074920"/>
            <a:ext cx="1051560" cy="105156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0" y="5043373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公文汇编助手 · 系统介绍</dc:title>
  <dc:subject>单机离线公文汇编与写作辅助工具</dc:subject>
  <dc:creator>公文汇编助手</dc:creator>
  <cp:lastModifiedBy>公文汇编助手</cp:lastModifiedBy>
  <cp:revision>1</cp:revision>
  <dcterms:created xsi:type="dcterms:W3CDTF">2026-10-27T05:52:04Z</dcterms:created>
  <dcterms:modified xsi:type="dcterms:W3CDTF">2026-10-27T05:52:04Z</dcterms:modified>
</cp:coreProperties>
</file>