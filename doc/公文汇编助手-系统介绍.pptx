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31.xml" ContentType="application/vnd.openxmlformats-officedocument.presentationml.slid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ppt/slides/slide41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47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slides/slide46.xml" ContentType="application/vnd.openxmlformats-officedocument.presentationml.slide+xml"/>
  <Override PartName="/ppt/slides/slide15.xml" ContentType="application/vnd.openxmlformats-officedocument.presentationml.slide+xml"/>
  <Override PartName="/ppt/slides/slide40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10.xml" ContentType="application/vnd.openxmlformats-officedocument.presentationml.slide+xml"/>
  <Override PartName="/ppt/slides/slide45.xml" ContentType="application/vnd.openxmlformats-officedocument.presentationml.slide+xml"/>
  <Override PartName="/ppt/slides/slide16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39.xml" ContentType="application/vnd.openxmlformats-officedocument.presentationml.slide+xml"/>
  <Override PartName="/ppt/slides/slide22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slides/slide35.xml" ContentType="application/vnd.openxmlformats-officedocument.presentationml.slide+xml"/>
  <Override PartName="/ppt/slides/slide33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38.xml" ContentType="application/vnd.openxmlformats-officedocument.presentationml.slid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s/slide27.xml" ContentType="application/vnd.openxmlformats-officedocument.presentationml.slide+xml"/>
  <Override PartName="/ppt/slides/slide8.xml" ContentType="application/vnd.openxmlformats-officedocument.presentationml.slide+xml"/>
  <Override PartName="/ppt/slides/slide28.xml" ContentType="application/vnd.openxmlformats-officedocument.presentationml.slide+xml"/>
  <Override PartName="/ppt/slides/slide9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9.xml" ContentType="application/vnd.openxmlformats-officedocument.presentationml.notesSlide+xml"/>
  <Override PartName="/ppt/theme/theme1.xml" ContentType="application/vnd.openxmlformats-officedocument.theme+xml"/>
  <Override PartName="/ppt/notesSlides/notesSlide1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0.xml" ContentType="application/vnd.openxmlformats-officedocument.presentationml.notesSlide+xml"/>
  <Override PartName="/ppt/theme/theme2.xml" ContentType="application/vnd.openxmlformats-officedocument.theme+xml"/>
  <Override PartName="/ppt/notesSlides/notesSlide2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48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2" Type="http://schemas.openxmlformats.org/officeDocument/2006/relationships/slide" Target="slides/slide12.xml" /><Relationship Id="rId44" Type="http://schemas.openxmlformats.org/officeDocument/2006/relationships/slide" Target="slides/slide44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4.xml" /><Relationship Id="rId1" Type="http://schemas.openxmlformats.org/officeDocument/2006/relationships/slide" Target="slides/slide1.xml" /><Relationship Id="rId15" Type="http://schemas.openxmlformats.org/officeDocument/2006/relationships/slide" Target="slides/slide15.xml" /><Relationship Id="rId13" Type="http://schemas.openxmlformats.org/officeDocument/2006/relationships/slide" Target="slides/slide13.xml" /><Relationship Id="rId42" Type="http://schemas.openxmlformats.org/officeDocument/2006/relationships/slide" Target="slides/slide42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6" Type="http://schemas.openxmlformats.org/officeDocument/2006/relationships/slide" Target="slides/slide16.xml" /><Relationship Id="rId17" Type="http://schemas.openxmlformats.org/officeDocument/2006/relationships/slide" Target="slides/slide17.xml" /><Relationship Id="rId6" Type="http://schemas.openxmlformats.org/officeDocument/2006/relationships/slide" Target="slides/slide6.xml" /><Relationship Id="rId4" Type="http://schemas.openxmlformats.org/officeDocument/2006/relationships/slide" Target="slides/slide4.xml" /><Relationship Id="rId18" Type="http://schemas.openxmlformats.org/officeDocument/2006/relationships/slide" Target="slides/slide18.xml" /><Relationship Id="rId19" Type="http://schemas.openxmlformats.org/officeDocument/2006/relationships/slide" Target="slides/slide19.xml" /><Relationship Id="rId39" Type="http://schemas.openxmlformats.org/officeDocument/2006/relationships/slide" Target="slides/slide39.xml" /><Relationship Id="rId2" Type="http://schemas.openxmlformats.org/officeDocument/2006/relationships/slide" Target="slides/slide2.xml" /><Relationship Id="rId41" Type="http://schemas.openxmlformats.org/officeDocument/2006/relationships/slide" Target="slides/slide41.xml" /><Relationship Id="rId20" Type="http://schemas.openxmlformats.org/officeDocument/2006/relationships/slide" Target="slides/slide20.xml" /><Relationship Id="rId21" Type="http://schemas.openxmlformats.org/officeDocument/2006/relationships/slide" Target="slides/slide21.xml" /><Relationship Id="rId22" Type="http://schemas.openxmlformats.org/officeDocument/2006/relationships/slide" Target="slides/slide22.xml" /><Relationship Id="rId23" Type="http://schemas.openxmlformats.org/officeDocument/2006/relationships/slide" Target="slides/slide23.xml" /><Relationship Id="rId47" Type="http://schemas.openxmlformats.org/officeDocument/2006/relationships/slide" Target="slides/slide47.xml" /><Relationship Id="rId46" Type="http://schemas.openxmlformats.org/officeDocument/2006/relationships/slide" Target="slides/slide46.xml" /><Relationship Id="rId35" Type="http://schemas.openxmlformats.org/officeDocument/2006/relationships/slide" Target="slides/slide35.xml" /><Relationship Id="rId33" Type="http://schemas.openxmlformats.org/officeDocument/2006/relationships/slide" Target="slides/slide33.xml" /><Relationship Id="rId24" Type="http://schemas.openxmlformats.org/officeDocument/2006/relationships/slide" Target="slides/slide24.xml" /><Relationship Id="rId25" Type="http://schemas.openxmlformats.org/officeDocument/2006/relationships/slide" Target="slides/slide25.xml" /><Relationship Id="rId26" Type="http://schemas.openxmlformats.org/officeDocument/2006/relationships/slide" Target="slides/slide26.xml" /><Relationship Id="rId38" Type="http://schemas.openxmlformats.org/officeDocument/2006/relationships/slide" Target="slides/slide38.xml" /><Relationship Id="rId27" Type="http://schemas.openxmlformats.org/officeDocument/2006/relationships/slide" Target="slides/slide27.xml" /><Relationship Id="rId28" Type="http://schemas.openxmlformats.org/officeDocument/2006/relationships/slide" Target="slides/slide28.xml" /><Relationship Id="rId29" Type="http://schemas.openxmlformats.org/officeDocument/2006/relationships/slide" Target="slides/slide29.xml" /><Relationship Id="rId3" Type="http://schemas.openxmlformats.org/officeDocument/2006/relationships/slide" Target="slides/slide3.xml" /><Relationship Id="rId30" Type="http://schemas.openxmlformats.org/officeDocument/2006/relationships/slide" Target="slides/slide30.xml" /><Relationship Id="rId36" Type="http://schemas.openxmlformats.org/officeDocument/2006/relationships/slide" Target="slides/slide36.xml" /><Relationship Id="rId31" Type="http://schemas.openxmlformats.org/officeDocument/2006/relationships/slide" Target="slides/slide31.xml" /><Relationship Id="rId32" Type="http://schemas.openxmlformats.org/officeDocument/2006/relationships/slide" Target="slides/slide32.xml" /><Relationship Id="rId34" Type="http://schemas.openxmlformats.org/officeDocument/2006/relationships/slide" Target="slides/slide34.xml" /><Relationship Id="rId7" Type="http://schemas.openxmlformats.org/officeDocument/2006/relationships/slide" Target="slides/slide7.xml" /><Relationship Id="rId37" Type="http://schemas.openxmlformats.org/officeDocument/2006/relationships/slide" Target="slides/slide37.xml" /><Relationship Id="rId40" Type="http://schemas.openxmlformats.org/officeDocument/2006/relationships/slide" Target="slides/slide40.xml" /><Relationship Id="rId43" Type="http://schemas.openxmlformats.org/officeDocument/2006/relationships/slide" Target="slides/slide43.xml" /><Relationship Id="rId48" Type="http://schemas.openxmlformats.org/officeDocument/2006/relationships/notesMaster" Target="notesMasters/notesMaster1.xml" /><Relationship Id="rId45" Type="http://schemas.openxmlformats.org/officeDocument/2006/relationships/slide" Target="slides/slide45.xml" /><Relationship Id="rId9" Type="http://schemas.openxmlformats.org/officeDocument/2006/relationships/slide" Target="slides/slide9.xml" /><Relationship Id="rId49" Type="http://schemas.openxmlformats.org/officeDocument/2006/relationships/presProps" Target="presProps.xml" /><Relationship Id="rId5" Type="http://schemas.openxmlformats.org/officeDocument/2006/relationships/slide" Target="slides/slide5.xml" /><Relationship Id="rId50" Type="http://schemas.openxmlformats.org/officeDocument/2006/relationships/tableStyles" Target="tableStyles.xml" /><Relationship Id="rId51" Type="http://schemas.openxmlformats.org/officeDocument/2006/relationships/viewProps" Target="viewProps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.xml" /></Relationships>
</file>

<file path=ppt/notesSlides/_rels/notesSlide2.xml.rels><?xml version="1.0" encoding="UTF-8" standalone="yes"?><Relationships xmlns="http://schemas.openxmlformats.org/package/2006/relationships"><Relationship Id="rId0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<Relationships xmlns="http://schemas.openxmlformats.org/package/2006/relationships"><Relationship Id="rId0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<Relationships xmlns="http://schemas.openxmlformats.org/package/2006/relationships"><Relationship Id="rId0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<Relationships xmlns="http://schemas.openxmlformats.org/package/2006/relationships"><Relationship Id="rId0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<Relationships xmlns="http://schemas.openxmlformats.org/package/2006/relationships"><Relationship Id="rId0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<Relationships xmlns="http://schemas.openxmlformats.org/package/2006/relationships"><Relationship Id="rId0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<Relationships xmlns="http://schemas.openxmlformats.org/package/2006/relationships"><Relationship Id="rId0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<Relationships xmlns="http://schemas.openxmlformats.org/package/2006/relationships"><Relationship Id="rId0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 standalone="yes"?><Relationships xmlns="http://schemas.openxmlformats.org/package/2006/relationships"><Relationship Id="rId0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9.xml" /></Relationships>
</file>

<file path=ppt/notesSlides/_rels/notesSlide12.xml.rels><?xml version="1.0" encoding="UTF-8" standalone="yes"?><Relationships xmlns="http://schemas.openxmlformats.org/package/2006/relationships"><Relationship Id="rId0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 standalone="yes"?><Relationships xmlns="http://schemas.openxmlformats.org/package/2006/relationships"><Relationship Id="rId0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 standalone="yes"?><Relationships xmlns="http://schemas.openxmlformats.org/package/2006/relationships"><Relationship Id="rId0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 standalone="yes"?><Relationships xmlns="http://schemas.openxmlformats.org/package/2006/relationships"><Relationship Id="rId0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 standalone="yes"?><Relationships xmlns="http://schemas.openxmlformats.org/package/2006/relationships"><Relationship Id="rId0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 standalone="yes"?><Relationships xmlns="http://schemas.openxmlformats.org/package/2006/relationships"><Relationship Id="rId0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 standalone="yes"?><Relationships xmlns="http://schemas.openxmlformats.org/package/2006/relationships"><Relationship Id="rId0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6.xml" /></Relationships>
</file>

<file path=ppt/notesSlides/_rels/notesSlide20.xml.rels><?xml version="1.0" encoding="UTF-8" standalone="yes"?><Relationships xmlns="http://schemas.openxmlformats.org/package/2006/relationships"><Relationship Id="rId0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 standalone="yes"?><Relationships xmlns="http://schemas.openxmlformats.org/package/2006/relationships"><Relationship Id="rId0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 standalone="yes"?><Relationships xmlns="http://schemas.openxmlformats.org/package/2006/relationships"><Relationship Id="rId0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.xml" /></Relationships>
</file>

<file path=ppt/notesSlides/_rels/notesSlide24.xml.rels><?xml version="1.0" encoding="UTF-8" standalone="yes"?><Relationships xmlns="http://schemas.openxmlformats.org/package/2006/relationships"><Relationship Id="rId0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 standalone="yes"?><Relationships xmlns="http://schemas.openxmlformats.org/package/2006/relationships"><Relationship Id="rId0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 standalone="yes"?><Relationships xmlns="http://schemas.openxmlformats.org/package/2006/relationships"><Relationship Id="rId0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 standalone="yes"?><Relationships xmlns="http://schemas.openxmlformats.org/package/2006/relationships"><Relationship Id="rId0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 standalone="yes"?><Relationships xmlns="http://schemas.openxmlformats.org/package/2006/relationships"><Relationship Id="rId0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 standalone="yes"?><Relationships xmlns="http://schemas.openxmlformats.org/package/2006/relationships"><Relationship Id="rId0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3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6.xml" /></Relationships>
</file>

<file path=ppt/notesSlides/_rels/notesSlide31.xml.rels><?xml version="1.0" encoding="UTF-8" standalone="yes"?><Relationships xmlns="http://schemas.openxmlformats.org/package/2006/relationships"><Relationship Id="rId0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32.xml.rels><?xml version="1.0" encoding="UTF-8" standalone="yes"?><Relationships xmlns="http://schemas.openxmlformats.org/package/2006/relationships"><Relationship Id="rId0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33.xml.rels><?xml version="1.0" encoding="UTF-8" standalone="yes"?><Relationships xmlns="http://schemas.openxmlformats.org/package/2006/relationships"><Relationship Id="rId0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34.xml.rels><?xml version="1.0" encoding="UTF-8" standalone="yes"?><Relationships xmlns="http://schemas.openxmlformats.org/package/2006/relationships"><Relationship Id="rId0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5.xml.rels><?xml version="1.0" encoding="UTF-8" standalone="yes"?><Relationships xmlns="http://schemas.openxmlformats.org/package/2006/relationships"><Relationship Id="rId0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36.xml.rels><?xml version="1.0" encoding="UTF-8" standalone="yes"?><Relationships xmlns="http://schemas.openxmlformats.org/package/2006/relationships"><Relationship Id="rId0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37.xml.rels><?xml version="1.0" encoding="UTF-8" standalone="yes"?><Relationships xmlns="http://schemas.openxmlformats.org/package/2006/relationships"><Relationship Id="rId0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38.xml.rels><?xml version="1.0" encoding="UTF-8" standalone="yes"?><Relationships xmlns="http://schemas.openxmlformats.org/package/2006/relationships"><Relationship Id="rId0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3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4.xml" /></Relationships>
</file>

<file path=ppt/notesSlides/_rels/notesSlide40.xml.rels><?xml version="1.0" encoding="UTF-8" standalone="yes"?><Relationships xmlns="http://schemas.openxmlformats.org/package/2006/relationships"><Relationship Id="rId0" Type="http://schemas.openxmlformats.org/officeDocument/2006/relationships/slide" Target="../slides/slide47.xml" /><Relationship Id="rId1" Type="http://schemas.openxmlformats.org/officeDocument/2006/relationships/notesMaster" Target="../notesMasters/notesMaster1.xml" /></Relationships>
</file>

<file path=ppt/notesSlides/_rels/notesSlide41.xml.rels><?xml version="1.0" encoding="UTF-8" standalone="yes"?><Relationships xmlns="http://schemas.openxmlformats.org/package/2006/relationships"><Relationship Id="rId0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2.xml.rels><?xml version="1.0" encoding="UTF-8" standalone="yes"?><Relationships xmlns="http://schemas.openxmlformats.org/package/2006/relationships"><Relationship Id="rId0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3.xml.rels><?xml version="1.0" encoding="UTF-8" standalone="yes"?><Relationships xmlns="http://schemas.openxmlformats.org/package/2006/relationships"><Relationship Id="rId0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44.xml.rels><?xml version="1.0" encoding="UTF-8" standalone="yes"?><Relationships xmlns="http://schemas.openxmlformats.org/package/2006/relationships"><Relationship Id="rId0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5.xml.rels><?xml version="1.0" encoding="UTF-8" standalone="yes"?><Relationships xmlns="http://schemas.openxmlformats.org/package/2006/relationships"><Relationship Id="rId0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>
      <p:nvGrpSpPr>
        <p:cNvPr id="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7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27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>
      <p:nvGrpSpPr>
        <p:cNvPr id="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8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28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>
      <p:nvGrpSpPr>
        <p:cNvPr id="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8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29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>
      <p:nvGrpSpPr>
        <p:cNvPr id="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9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9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a="http://schemas.openxmlformats.org/drawingml/2006/main">
  <p:cSld>
    <p:spTree>
      <p:nvGrpSpPr>
        <p:cNvPr id="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9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9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p="http://schemas.openxmlformats.org/presentationml/2006/main" xmlns:a="http://schemas.openxmlformats.org/drawingml/2006/main">
  <p:cSld>
    <p:spTree>
      <p:nvGrpSpPr>
        <p:cNvPr id="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9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0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31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p="http://schemas.openxmlformats.org/presentationml/2006/main" xmlns:a="http://schemas.openxmlformats.org/drawingml/2006/main">
  <p:cSld>
    <p:spTree>
      <p:nvGrpSpPr>
        <p:cNvPr id="1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0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0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32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p="http://schemas.openxmlformats.org/presentationml/2006/main" xmlns:a="http://schemas.openxmlformats.org/drawingml/2006/main">
  <p:cSld>
    <p:spTree>
      <p:nvGrpSpPr>
        <p:cNvPr id="1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0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0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33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p="http://schemas.openxmlformats.org/presentationml/2006/main" xmlns:a="http://schemas.openxmlformats.org/drawingml/2006/main">
  <p:cSld>
    <p:spTree>
      <p:nvGrpSpPr>
        <p:cNvPr id="10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34</a:t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p="http://schemas.openxmlformats.org/presentationml/2006/main" xmlns:a="http://schemas.openxmlformats.org/drawingml/2006/main">
  <p:cSld>
    <p:spTree>
      <p:nvGrpSpPr>
        <p:cNvPr id="1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35</a:t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p="http://schemas.openxmlformats.org/presentationml/2006/main" xmlns:a="http://schemas.openxmlformats.org/drawingml/2006/main">
  <p:cSld>
    <p:spTree>
      <p:nvGrpSpPr>
        <p:cNvPr id="1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36</a:t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p="http://schemas.openxmlformats.org/presentationml/2006/main" xmlns:a="http://schemas.openxmlformats.org/drawingml/2006/main">
  <p:cSld>
    <p:spTree>
      <p:nvGrpSpPr>
        <p:cNvPr id="1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37</a:t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p="http://schemas.openxmlformats.org/presentationml/2006/main" xmlns:a="http://schemas.openxmlformats.org/drawingml/2006/main">
  <p:cSld>
    <p:spTree>
      <p:nvGrpSpPr>
        <p:cNvPr id="1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38</a:t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p="http://schemas.openxmlformats.org/presentationml/2006/main" xmlns:a="http://schemas.openxmlformats.org/drawingml/2006/main">
  <p:cSld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3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3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39</a:t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p="http://schemas.openxmlformats.org/presentationml/2006/main" xmlns:a="http://schemas.openxmlformats.org/drawingml/2006/main">
  <p:cSld>
    <p:spTree>
      <p:nvGrpSpPr>
        <p:cNvPr id="1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p="http://schemas.openxmlformats.org/presentationml/2006/main" xmlns:a="http://schemas.openxmlformats.org/drawingml/2006/main">
  <p:cSld>
    <p:spTree>
      <p:nvGrpSpPr>
        <p:cNvPr id="1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40</a:t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p="http://schemas.openxmlformats.org/presentationml/2006/main" xmlns:a="http://schemas.openxmlformats.org/drawingml/2006/main">
  <p:cSld>
    <p:spTree>
      <p:nvGrpSpPr>
        <p:cNvPr id="1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41</a:t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p="http://schemas.openxmlformats.org/presentationml/2006/main" xmlns:a="http://schemas.openxmlformats.org/drawingml/2006/main">
  <p:cSld>
    <p:spTree>
      <p:nvGrpSpPr>
        <p:cNvPr id="1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42</a:t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p="http://schemas.openxmlformats.org/presentationml/2006/main" xmlns:a="http://schemas.openxmlformats.org/drawingml/2006/main">
  <p:cSld>
    <p:spTree>
      <p:nvGrpSpPr>
        <p:cNvPr id="1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43</a:t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p="http://schemas.openxmlformats.org/presentationml/2006/main" xmlns:a="http://schemas.openxmlformats.org/drawingml/2006/main">
  <p:cSld>
    <p:spTree>
      <p:nvGrpSpPr>
        <p:cNvPr id="1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44</a:t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p="http://schemas.openxmlformats.org/presentationml/2006/main" xmlns:a="http://schemas.openxmlformats.org/drawingml/2006/main">
  <p:cSld>
    <p:spTree>
      <p:nvGrpSpPr>
        <p:cNvPr id="1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45</a:t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p="http://schemas.openxmlformats.org/presentationml/2006/main" xmlns:a="http://schemas.openxmlformats.org/drawingml/2006/main">
  <p:cSld>
    <p:spTree>
      <p:nvGrpSpPr>
        <p:cNvPr id="1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p="http://schemas.openxmlformats.org/presentationml/2006/main" xmlns:a="http://schemas.openxmlformats.org/drawingml/2006/main">
  <p:cSld>
    <p:spTree>
      <p:nvGrpSpPr>
        <p:cNvPr id="1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6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p="http://schemas.openxmlformats.org/presentationml/2006/main" xmlns:a="http://schemas.openxmlformats.org/drawingml/2006/main">
  <p:cSld>
    <p:spTree>
      <p:nvGrpSpPr>
        <p:cNvPr id="1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7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p="http://schemas.openxmlformats.org/presentationml/2006/main" xmlns:a="http://schemas.openxmlformats.org/drawingml/2006/main">
  <p:cSld>
    <p:spTree>
      <p:nvGrpSpPr>
        <p:cNvPr id="1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7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7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p="http://schemas.openxmlformats.org/presentationml/2006/main" xmlns:a="http://schemas.openxmlformats.org/drawingml/2006/main">
  <p:cSld>
    <p:spTree>
      <p:nvGrpSpPr>
        <p:cNvPr id="1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7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8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2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3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4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4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42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43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44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45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4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5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6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7.xml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8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9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0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3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4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5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6.xml" /></Relationships>
</file>

<file path=ppt/slides/_rels/slide2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7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8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9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0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2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4.xml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5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6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7.xml" /></Relationships>
</file>

<file path=ppt/slides/_rels/slide3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8.xml" 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9.xml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0.xml" /></Relationships>
</file>

<file path=ppt/slides/_rels/slide3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2.xml" /></Relationships>
</file>

<file path=ppt/slides/_rels/slide3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3.xml" /></Relationships>
</file>

<file path=ppt/slides/_rels/slide4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5.xml" /></Relationships>
</file>

<file path=ppt/slides/_rels/slide4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6.xml" 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7.xml" /><Relationship Id="rId0" Type="http://schemas.openxmlformats.org/officeDocument/2006/relationships/slideLayout" Target="../slideLayouts/slideLayout1.xml" /></Relationships>
</file>

<file path=ppt/slides/_rels/slide4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8.xml" /></Relationships>
</file>

<file path=ppt/slides/_rels/slide4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9.xml" /></Relationships>
</file>

<file path=ppt/slides/_rels/slide4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40.xml" /></Relationships>
</file>

<file path=ppt/slides/slide1.xml><?xml version="1.0" encoding="utf-8"?>
<p:sld xmlns:p="http://schemas.openxmlformats.org/presentationml/2006/main" xmlns:a="http://schemas.openxmlformats.org/drawingml/2006/main">
  <p:cSld name="Slide 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1300" b="1" kern="0" spc="30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 · 单机离线版 v1.7.2</a:t>
            </a:r>
            <a:r>
              <a:rPr lang="en-US" sz="1300" b="1" kern="0" spc="30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</a:t>
            </a:r>
            <a:endParaRPr lang="en-US" sz="1300" b="1" kern="0" spc="300">
              <a:solidFill>
                <a:srgbClr val="C9A227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84632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面向党政机关、企事业单位的单机智能公文汇编与写作辅助工具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零网络请求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1772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1772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ARM64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 军队公文格式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1772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1772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125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1765 项自动化测试</a:t>
            </a:r>
            <a:r>
              <a:rPr lang="en-US" sz="125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</a:t>
            </a:r>
            <a:endParaRPr lang="en-US" sz="1250">
              <a:solidFill>
                <a:srgbClr val="EFE7DE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463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+ SQLite（FTS5）+ PyMuPDF　|　数据存本机，程序与数据分离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06840" y="1783080"/>
            <a:ext cx="2514600" cy="2514600"/>
          </a:xfrm>
          <a:prstGeom prst="roundRect">
            <a:avLst>
              <a:gd name="adj" fmla="val 5091"/>
            </a:avLst>
          </a:prstGeom>
          <a:solidFill>
            <a:srgbClr val="9E2B25"/>
          </a:solidFill>
          <a:ln/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006840" y="1673352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2000" dirty="0"/>
          </a:p>
        </p:txBody>
      </p:sp>
      <p:sp>
        <p:nvSpPr>
          <p:cNvPr id="18" name="Text 16"/>
          <p:cNvSpPr/>
          <p:nvPr/>
        </p:nvSpPr>
        <p:spPr>
          <a:xfrm>
            <a:off x="9006840" y="4526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系统介绍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 name="Slide 2">
    <p:bg>
      <p:bgPr>
        <a:solidFill>
          <a:srgbClr val="FFFFFF"/>
        </a:solidFill>
      </p:bgPr>
    </p:bg>
    <p:spTree>
      <p:nvGrpSpPr>
        <p:cNvPr id="3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332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333" name="Text 2"/>
          <p:cNvSpPr/>
          <p:nvPr/>
        </p:nvSpPr>
        <p:spPr>
          <a:xfrm>
            <a:off x="914400" y="38404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34" name="Text 3"/>
          <p:cNvSpPr/>
          <p:nvPr/>
        </p:nvSpPr>
        <p:spPr>
          <a:xfrm>
            <a:off x="457200" y="8412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335" name="Text 4"/>
          <p:cNvSpPr/>
          <p:nvPr/>
        </p:nvSpPr>
        <p:spPr>
          <a:xfrm>
            <a:off x="457200" y="16276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336" name="Text 5"/>
          <p:cNvSpPr/>
          <p:nvPr/>
        </p:nvSpPr>
        <p:spPr>
          <a:xfrm>
            <a:off x="1371600" y="16093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1650" dirty="0"/>
          </a:p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· 四大痛点 · 关键数据 · 功能全景</a:t>
            </a:r>
            <a:endParaRPr lang="en-US" sz="1650" dirty="0"/>
          </a:p>
        </p:txBody>
      </p:sp>
      <p:sp>
        <p:nvSpPr>
          <p:cNvPr id="337" name="Shape 6"/>
          <p:cNvSpPr/>
          <p:nvPr/>
        </p:nvSpPr>
        <p:spPr>
          <a:xfrm>
            <a:off x="1371600" y="22677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38" name="Text 7"/>
          <p:cNvSpPr/>
          <p:nvPr/>
        </p:nvSpPr>
        <p:spPr>
          <a:xfrm>
            <a:off x="457200" y="22677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339" name="Text 8"/>
          <p:cNvSpPr/>
          <p:nvPr/>
        </p:nvSpPr>
        <p:spPr>
          <a:xfrm>
            <a:off x="1371600" y="22494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1650" dirty="0"/>
          </a:p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 · 三层架构 · 数据层 · 检索 · 线程模型</a:t>
            </a:r>
            <a:endParaRPr lang="en-US" sz="1650" dirty="0"/>
          </a:p>
        </p:txBody>
      </p:sp>
      <p:sp>
        <p:nvSpPr>
          <p:cNvPr id="340" name="Shape 9"/>
          <p:cNvSpPr/>
          <p:nvPr/>
        </p:nvSpPr>
        <p:spPr>
          <a:xfrm>
            <a:off x="1371600" y="290779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41" name="Text 10"/>
          <p:cNvSpPr/>
          <p:nvPr/>
        </p:nvSpPr>
        <p:spPr>
          <a:xfrm>
            <a:off x="457200" y="29077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342" name="Text 11"/>
          <p:cNvSpPr/>
          <p:nvPr/>
        </p:nvSpPr>
        <p:spPr>
          <a:xfrm>
            <a:off x="1371600" y="288950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1650" dirty="0"/>
          </a:p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 · OCR 内置 · .doc 四级降级 · 资料库管理</a:t>
            </a:r>
            <a:endParaRPr lang="en-US" sz="1650" dirty="0"/>
          </a:p>
        </p:txBody>
      </p:sp>
      <p:sp>
        <p:nvSpPr>
          <p:cNvPr id="343" name="Shape 12"/>
          <p:cNvSpPr/>
          <p:nvPr/>
        </p:nvSpPr>
        <p:spPr>
          <a:xfrm>
            <a:off x="1371600" y="354787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44" name="Text 13"/>
          <p:cNvSpPr/>
          <p:nvPr/>
        </p:nvSpPr>
        <p:spPr>
          <a:xfrm>
            <a:off x="457200" y="354787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400" dirty="0"/>
          </a:p>
        </p:txBody>
      </p:sp>
      <p:sp>
        <p:nvSpPr>
          <p:cNvPr id="345" name="Text 14"/>
          <p:cNvSpPr/>
          <p:nvPr/>
        </p:nvSpPr>
        <p:spPr>
          <a:xfrm>
            <a:off x="1371600" y="352958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1650" dirty="0"/>
          </a:p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种军队文种骨架 · 文秘工具箱 · 写作参考 · 三级纠错</a:t>
            </a:r>
            <a:endParaRPr lang="en-US" sz="1650" dirty="0"/>
          </a:p>
        </p:txBody>
      </p:sp>
      <p:sp>
        <p:nvSpPr>
          <p:cNvPr id="346" name="Shape 15"/>
          <p:cNvSpPr/>
          <p:nvPr/>
        </p:nvSpPr>
        <p:spPr>
          <a:xfrm>
            <a:off x="1371600" y="418795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47" name="Text 16"/>
          <p:cNvSpPr/>
          <p:nvPr/>
        </p:nvSpPr>
        <p:spPr>
          <a:xfrm>
            <a:off x="457200" y="418795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400" dirty="0"/>
          </a:p>
        </p:txBody>
      </p:sp>
      <p:sp>
        <p:nvSpPr>
          <p:cNvPr id="348" name="Text 17"/>
          <p:cNvSpPr/>
          <p:nvPr/>
        </p:nvSpPr>
        <p:spPr>
          <a:xfrm>
            <a:off x="1371600" y="416966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1650" dirty="0"/>
          </a:p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 · 国标模板 · Word 引擎 · 两遍渲染 · A3 小册子</a:t>
            </a:r>
            <a:endParaRPr lang="en-US" sz="1650" dirty="0"/>
          </a:p>
        </p:txBody>
      </p:sp>
      <p:sp>
        <p:nvSpPr>
          <p:cNvPr id="349" name="Shape 18"/>
          <p:cNvSpPr/>
          <p:nvPr/>
        </p:nvSpPr>
        <p:spPr>
          <a:xfrm>
            <a:off x="1371600" y="482803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50" name="Text 19"/>
          <p:cNvSpPr/>
          <p:nvPr/>
        </p:nvSpPr>
        <p:spPr>
          <a:xfrm>
            <a:off x="457200" y="48280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400" dirty="0"/>
          </a:p>
        </p:txBody>
      </p:sp>
      <p:sp>
        <p:nvSpPr>
          <p:cNvPr id="351" name="Text 20"/>
          <p:cNvSpPr/>
          <p:nvPr/>
        </p:nvSpPr>
        <p:spPr>
          <a:xfrm>
            <a:off x="1371600" y="48097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1650" dirty="0"/>
          </a:p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 · 文档对比查重 · 历史快照 · 加密备份</a:t>
            </a:r>
            <a:endParaRPr lang="en-US" sz="1650" dirty="0"/>
          </a:p>
        </p:txBody>
      </p:sp>
      <p:sp>
        <p:nvSpPr>
          <p:cNvPr id="352" name="Shape 21"/>
          <p:cNvSpPr/>
          <p:nvPr/>
        </p:nvSpPr>
        <p:spPr>
          <a:xfrm>
            <a:off x="1371600" y="54681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53" name="Text 22"/>
          <p:cNvSpPr/>
          <p:nvPr/>
        </p:nvSpPr>
        <p:spPr>
          <a:xfrm>
            <a:off x="457200" y="54681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400" dirty="0"/>
          </a:p>
        </p:txBody>
      </p:sp>
      <p:sp>
        <p:nvSpPr>
          <p:cNvPr id="354" name="Text 23"/>
          <p:cNvSpPr/>
          <p:nvPr/>
        </p:nvSpPr>
        <p:spPr>
          <a:xfrm>
            <a:off x="1371600" y="54498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1650" dirty="0"/>
          </a:p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 · 打包矩阵 · CI/CD · 1745 项测试与性能验收</a:t>
            </a:r>
            <a:endParaRPr lang="en-US" sz="1650" dirty="0"/>
          </a:p>
        </p:txBody>
      </p:sp>
      <p:sp>
        <p:nvSpPr>
          <p:cNvPr id="355" name="Shape 24"/>
          <p:cNvSpPr/>
          <p:nvPr/>
        </p:nvSpPr>
        <p:spPr>
          <a:xfrm>
            <a:off x="9464040" y="23774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356" name="Text 25"/>
          <p:cNvSpPr/>
          <p:nvPr/>
        </p:nvSpPr>
        <p:spPr>
          <a:xfrm>
            <a:off x="9464040" y="2330806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6100" dirty="0"/>
          </a:p>
        </p:txBody>
      </p:sp>
      <p:sp>
        <p:nvSpPr>
          <p:cNvPr id="357" name="Text 26"/>
          <p:cNvSpPr/>
          <p:nvPr/>
        </p:nvSpPr>
        <p:spPr>
          <a:xfrm>
            <a:off x="8732520" y="4160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 页 · 7 大章节</a:t>
            </a:r>
            <a:endParaRPr lang="en-US" sz="1350" dirty="0"/>
          </a:p>
        </p:txBody>
      </p:sp>
      <p:sp>
        <p:nvSpPr>
          <p:cNvPr id="358" name="Text 27"/>
          <p:cNvSpPr/>
          <p:nvPr/>
        </p:nvSpPr>
        <p:spPr>
          <a:xfrm>
            <a:off x="8503920" y="45537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从产品到架构，从算法到交付</a:t>
            </a:r>
            <a:endParaRPr lang="en-US" sz="1200" dirty="0"/>
          </a:p>
        </p:txBody>
      </p:sp>
      <p:sp>
        <p:nvSpPr>
          <p:cNvPr id="359" name="Text 28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360" name="Text 29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 name="Slide 3">
    <p:bg>
      <p:bgPr>
        <a:solidFill>
          <a:srgbClr val="1F1917"/>
        </a:solidFill>
      </p:bgPr>
    </p:bg>
    <p:spTree>
      <p:nvGrpSpPr>
        <p:cNvPr id="6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610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611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612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613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3800" dirty="0"/>
          </a:p>
        </p:txBody>
      </p:sp>
      <p:sp>
        <p:nvSpPr>
          <p:cNvPr id="614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它是什么、为谁解决什么问题、整体能力有多大</a:t>
            </a:r>
            <a:endParaRPr lang="en-US" sz="1500" dirty="0"/>
          </a:p>
        </p:txBody>
      </p:sp>
      <p:sp>
        <p:nvSpPr>
          <p:cNvPr id="615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616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定位：单机离线的公文汇编与写作辅助工具</a:t>
            </a:r>
            <a:endParaRPr lang="en-US" sz="1350" dirty="0"/>
          </a:p>
        </p:txBody>
      </p:sp>
      <p:sp>
        <p:nvSpPr>
          <p:cNvPr id="617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618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四大痛点：材料散乱 · 格式繁琐 · 错字难查 · 写作无参考</a:t>
            </a:r>
            <a:endParaRPr lang="en-US" sz="1350" dirty="0"/>
          </a:p>
        </p:txBody>
      </p:sp>
      <p:sp>
        <p:nvSpPr>
          <p:cNvPr id="619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620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一屏看懂：40220 条纠错对 · 12.3 万词典 · 24 个功能模块</a:t>
            </a:r>
            <a:endParaRPr lang="en-US" sz="1350" dirty="0"/>
          </a:p>
        </p:txBody>
      </p:sp>
      <p:sp>
        <p:nvSpPr>
          <p:cNvPr id="621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622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 name="Slide 4">
    <p:bg>
      <p:bgPr>
        <a:solidFill>
          <a:srgbClr val="FFFFFF"/>
        </a:solidFill>
      </p:bgPr>
    </p:bg>
    <p:spTree>
      <p:nvGrpSpPr>
        <p:cNvPr id="86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868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869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870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定位：把“材料堆”变成“规范公文”的离线工作站</a:t>
            </a:r>
            <a:endParaRPr lang="en-US" sz="2600" dirty="0"/>
          </a:p>
        </p:txBody>
      </p:sp>
      <p:sp>
        <p:nvSpPr>
          <p:cNvPr id="871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872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73" name="Shape 6"/>
          <p:cNvSpPr/>
          <p:nvPr/>
        </p:nvSpPr>
        <p:spPr>
          <a:xfrm>
            <a:off x="457200" y="16916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9E2B25"/>
          </a:solidFill>
          <a:ln/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74" name="Text 7"/>
          <p:cNvSpPr/>
          <p:nvPr/>
        </p:nvSpPr>
        <p:spPr>
          <a:xfrm>
            <a:off x="777240" y="2011680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一句话定位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不联网、不上传，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一台电脑即可完成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材料管理、公文写作、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汇编成册的全部工作。</a:t>
            </a:r>
            <a:endParaRPr lang="en-US" sz="1300" dirty="0"/>
          </a:p>
        </p:txBody>
      </p:sp>
      <p:sp>
        <p:nvSpPr>
          <p:cNvPr id="875" name="Text 8"/>
          <p:cNvSpPr/>
          <p:nvPr/>
        </p:nvSpPr>
        <p:spPr>
          <a:xfrm>
            <a:off x="777240" y="484632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E3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党政机关办文 · 企事业单位综合部门 · 涉密内网环境 · 麒麟信创终端</a:t>
            </a:r>
            <a:endParaRPr lang="en-US" sz="1300" dirty="0"/>
          </a:p>
        </p:txBody>
      </p:sp>
      <p:sp>
        <p:nvSpPr>
          <p:cNvPr id="876" name="Shape 9"/>
          <p:cNvSpPr/>
          <p:nvPr/>
        </p:nvSpPr>
        <p:spPr>
          <a:xfrm>
            <a:off x="4800600" y="1691640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877" name="Text 10"/>
          <p:cNvSpPr/>
          <p:nvPr/>
        </p:nvSpPr>
        <p:spPr>
          <a:xfrm>
            <a:off x="5029200" y="1801368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1</a:t>
            </a:r>
            <a:endParaRPr lang="en-US" sz="1200" dirty="0"/>
          </a:p>
        </p:txBody>
      </p:sp>
      <p:sp>
        <p:nvSpPr>
          <p:cNvPr id="878" name="Text 11"/>
          <p:cNvSpPr/>
          <p:nvPr/>
        </p:nvSpPr>
        <p:spPr>
          <a:xfrm>
            <a:off x="60350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材料收集散乱</a:t>
            </a:r>
            <a:endParaRPr lang="en-US" sz="15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种文档格式批量导入，分类标签 + 全文检索，随手可查</a:t>
            </a:r>
            <a:endParaRPr lang="en-US" sz="1550" dirty="0"/>
          </a:p>
        </p:txBody>
      </p:sp>
      <p:sp>
        <p:nvSpPr>
          <p:cNvPr id="879" name="Shape 12"/>
          <p:cNvSpPr/>
          <p:nvPr/>
        </p:nvSpPr>
        <p:spPr>
          <a:xfrm>
            <a:off x="4800600" y="2852928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880" name="Text 13"/>
          <p:cNvSpPr/>
          <p:nvPr/>
        </p:nvSpPr>
        <p:spPr>
          <a:xfrm>
            <a:off x="5029200" y="2962656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2</a:t>
            </a:r>
            <a:endParaRPr lang="en-US" sz="1200" dirty="0"/>
          </a:p>
        </p:txBody>
      </p:sp>
      <p:sp>
        <p:nvSpPr>
          <p:cNvPr id="881" name="Text 14"/>
          <p:cNvSpPr/>
          <p:nvPr/>
        </p:nvSpPr>
        <p:spPr>
          <a:xfrm>
            <a:off x="6035040" y="294436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格式调整繁琐</a:t>
            </a:r>
            <a:endParaRPr lang="en-US" sz="15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军队机关公文格式默认模板 + 一键汇编，红头目录页码自动生成</a:t>
            </a:r>
            <a:endParaRPr lang="en-US" sz="1550" dirty="0"/>
          </a:p>
        </p:txBody>
      </p:sp>
      <p:sp>
        <p:nvSpPr>
          <p:cNvPr id="882" name="Shape 15"/>
          <p:cNvSpPr/>
          <p:nvPr/>
        </p:nvSpPr>
        <p:spPr>
          <a:xfrm>
            <a:off x="4800600" y="4014216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883" name="Text 16"/>
          <p:cNvSpPr/>
          <p:nvPr/>
        </p:nvSpPr>
        <p:spPr>
          <a:xfrm>
            <a:off x="5029200" y="4123944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3</a:t>
            </a:r>
            <a:endParaRPr lang="en-US" sz="1200" dirty="0"/>
          </a:p>
        </p:txBody>
      </p:sp>
      <p:sp>
        <p:nvSpPr>
          <p:cNvPr id="884" name="Text 17"/>
          <p:cNvSpPr/>
          <p:nvPr/>
        </p:nvSpPr>
        <p:spPr>
          <a:xfrm>
            <a:off x="6035040" y="41056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错别字难查</a:t>
            </a:r>
            <a:endParaRPr lang="en-US" sz="15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万条纠错库三级流水线，精标对 100% 识别（测试验收）</a:t>
            </a:r>
            <a:endParaRPr lang="en-US" sz="1550" dirty="0"/>
          </a:p>
        </p:txBody>
      </p:sp>
      <p:sp>
        <p:nvSpPr>
          <p:cNvPr id="885" name="Shape 18"/>
          <p:cNvSpPr/>
          <p:nvPr/>
        </p:nvSpPr>
        <p:spPr>
          <a:xfrm>
            <a:off x="4800600" y="5175504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886" name="Text 19"/>
          <p:cNvSpPr/>
          <p:nvPr/>
        </p:nvSpPr>
        <p:spPr>
          <a:xfrm>
            <a:off x="5029200" y="5285232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4</a:t>
            </a:r>
            <a:endParaRPr lang="en-US" sz="1200" dirty="0"/>
          </a:p>
        </p:txBody>
      </p:sp>
      <p:sp>
        <p:nvSpPr>
          <p:cNvPr id="887" name="Text 20"/>
          <p:cNvSpPr/>
          <p:nvPr/>
        </p:nvSpPr>
        <p:spPr>
          <a:xfrm>
            <a:off x="6035040" y="526694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写作无参考</a:t>
            </a:r>
            <a:endParaRPr lang="en-US" sz="15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种军队机关公文文种骨架 + 三库联合检索，双击即插入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 name="Slide 5">
    <p:bg>
      <p:bgPr>
        <a:solidFill>
          <a:srgbClr val="FFFFFF"/>
        </a:solidFill>
      </p:bgPr>
    </p:bg>
    <p:spTree>
      <p:nvGrpSpPr>
        <p:cNvPr id="110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109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1110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1111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一屏看懂：这个系统“有多大、有多快”</a:t>
            </a:r>
            <a:endParaRPr lang="en-US" sz="2600" dirty="0"/>
          </a:p>
        </p:txBody>
      </p:sp>
      <p:sp>
        <p:nvSpPr>
          <p:cNvPr id="1112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1113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1114" name="Shape 6"/>
          <p:cNvSpPr/>
          <p:nvPr/>
        </p:nvSpPr>
        <p:spPr>
          <a:xfrm>
            <a:off x="457200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15" name="Text 7"/>
          <p:cNvSpPr/>
          <p:nvPr/>
        </p:nvSpPr>
        <p:spPr>
          <a:xfrm>
            <a:off x="640080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4400" dirty="0"/>
          </a:p>
        </p:txBody>
      </p:sp>
      <p:sp>
        <p:nvSpPr>
          <p:cNvPr id="1116" name="Text 8"/>
          <p:cNvSpPr/>
          <p:nvPr/>
        </p:nvSpPr>
        <p:spPr>
          <a:xfrm>
            <a:off x="640080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纠错对（条）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220 + 程序生成 40000</a:t>
            </a:r>
            <a:endParaRPr lang="en-US" sz="1400" dirty="0"/>
          </a:p>
        </p:txBody>
      </p:sp>
      <p:sp>
        <p:nvSpPr>
          <p:cNvPr id="1117" name="Shape 9"/>
          <p:cNvSpPr/>
          <p:nvPr/>
        </p:nvSpPr>
        <p:spPr>
          <a:xfrm>
            <a:off x="3300984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18" name="Text 10"/>
          <p:cNvSpPr/>
          <p:nvPr/>
        </p:nvSpPr>
        <p:spPr>
          <a:xfrm>
            <a:off x="3483864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123393</a:t>
            </a:r>
            <a:endParaRPr lang="en-US" sz="4400" dirty="0"/>
          </a:p>
        </p:txBody>
      </p:sp>
      <p:sp>
        <p:nvSpPr>
          <p:cNvPr id="1119" name="Text 11"/>
          <p:cNvSpPr/>
          <p:nvPr/>
        </p:nvSpPr>
        <p:spPr>
          <a:xfrm>
            <a:off x="3483864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词典词条（条）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CC-CEDICT，随包分发</a:t>
            </a:r>
            <a:endParaRPr lang="en-US" sz="1400" dirty="0"/>
          </a:p>
        </p:txBody>
      </p:sp>
      <p:sp>
        <p:nvSpPr>
          <p:cNvPr id="1120" name="Shape 12"/>
          <p:cNvSpPr/>
          <p:nvPr/>
        </p:nvSpPr>
        <p:spPr>
          <a:xfrm>
            <a:off x="6144768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21" name="Text 13"/>
          <p:cNvSpPr/>
          <p:nvPr/>
        </p:nvSpPr>
        <p:spPr>
          <a:xfrm>
            <a:off x="6327648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4400" dirty="0"/>
          </a:p>
        </p:txBody>
      </p:sp>
      <p:sp>
        <p:nvSpPr>
          <p:cNvPr id="1122" name="Text 14"/>
          <p:cNvSpPr/>
          <p:nvPr/>
        </p:nvSpPr>
        <p:spPr>
          <a:xfrm>
            <a:off x="6327648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军队公文文种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对应《军队机关公文处理工作条例》第八条</a:t>
            </a:r>
            <a:endParaRPr lang="en-US" sz="1400" dirty="0"/>
          </a:p>
        </p:txBody>
      </p:sp>
      <p:sp>
        <p:nvSpPr>
          <p:cNvPr id="1123" name="Shape 15"/>
          <p:cNvSpPr/>
          <p:nvPr/>
        </p:nvSpPr>
        <p:spPr>
          <a:xfrm>
            <a:off x="8988552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24" name="Text 16"/>
          <p:cNvSpPr/>
          <p:nvPr/>
        </p:nvSpPr>
        <p:spPr>
          <a:xfrm>
            <a:off x="9171432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8+4</a:t>
            </a:r>
            <a:endParaRPr lang="en-US" sz="4400" dirty="0"/>
          </a:p>
        </p:txBody>
      </p:sp>
      <p:sp>
        <p:nvSpPr>
          <p:cNvPr id="1125" name="Text 17"/>
          <p:cNvSpPr/>
          <p:nvPr/>
        </p:nvSpPr>
        <p:spPr>
          <a:xfrm>
            <a:off x="9171432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可导入格式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 + 图片 4 类（内置 OCR）</a:t>
            </a:r>
            <a:endParaRPr lang="en-US" sz="1400" dirty="0"/>
          </a:p>
        </p:txBody>
      </p:sp>
      <p:sp>
        <p:nvSpPr>
          <p:cNvPr id="1126" name="Shape 18"/>
          <p:cNvSpPr/>
          <p:nvPr/>
        </p:nvSpPr>
        <p:spPr>
          <a:xfrm>
            <a:off x="457200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27" name="Text 19"/>
          <p:cNvSpPr/>
          <p:nvPr/>
        </p:nvSpPr>
        <p:spPr>
          <a:xfrm>
            <a:off x="640080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1745</a:t>
            </a:r>
            <a:endParaRPr lang="en-US" sz="4400" dirty="0"/>
          </a:p>
        </p:txBody>
      </p:sp>
      <p:sp>
        <p:nvSpPr>
          <p:cNvPr id="1128" name="Text 20"/>
          <p:cNvSpPr/>
          <p:nvPr/>
        </p:nvSpPr>
        <p:spPr>
          <a:xfrm>
            <a:off x="640080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自动化测试用例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全量回归 + 性能验收</a:t>
            </a:r>
            <a:endParaRPr lang="en-US" sz="1400" dirty="0"/>
          </a:p>
        </p:txBody>
      </p:sp>
      <p:sp>
        <p:nvSpPr>
          <p:cNvPr id="1129" name="Shape 21"/>
          <p:cNvSpPr/>
          <p:nvPr/>
        </p:nvSpPr>
        <p:spPr>
          <a:xfrm>
            <a:off x="3300984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30" name="Text 22"/>
          <p:cNvSpPr/>
          <p:nvPr/>
        </p:nvSpPr>
        <p:spPr>
          <a:xfrm>
            <a:off x="3483864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&lt;10s</a:t>
            </a:r>
            <a:endParaRPr lang="en-US" sz="4400" dirty="0"/>
          </a:p>
        </p:txBody>
      </p:sp>
      <p:sp>
        <p:nvSpPr>
          <p:cNvPr id="1131" name="Text 23"/>
          <p:cNvSpPr/>
          <p:nvPr/>
        </p:nvSpPr>
        <p:spPr>
          <a:xfrm>
            <a:off x="3483864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后台线程批量解析入库</a:t>
            </a:r>
            <a:endParaRPr lang="en-US" sz="1400" dirty="0"/>
          </a:p>
        </p:txBody>
      </p:sp>
      <p:sp>
        <p:nvSpPr>
          <p:cNvPr id="1132" name="Shape 24"/>
          <p:cNvSpPr/>
          <p:nvPr/>
        </p:nvSpPr>
        <p:spPr>
          <a:xfrm>
            <a:off x="6144768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33" name="Text 25"/>
          <p:cNvSpPr/>
          <p:nvPr/>
        </p:nvSpPr>
        <p:spPr>
          <a:xfrm>
            <a:off x="6327648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&lt;1s</a:t>
            </a:r>
            <a:endParaRPr lang="en-US" sz="4400" dirty="0"/>
          </a:p>
        </p:txBody>
      </p:sp>
      <p:sp>
        <p:nvSpPr>
          <p:cNvPr id="1134" name="Text 26"/>
          <p:cNvSpPr/>
          <p:nvPr/>
        </p:nvSpPr>
        <p:spPr>
          <a:xfrm>
            <a:off x="6327648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全文检索响应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jieba，20 万字语料</a:t>
            </a:r>
            <a:endParaRPr lang="en-US" sz="1400" dirty="0"/>
          </a:p>
        </p:txBody>
      </p:sp>
      <p:sp>
        <p:nvSpPr>
          <p:cNvPr id="1135" name="Shape 27"/>
          <p:cNvSpPr/>
          <p:nvPr/>
        </p:nvSpPr>
        <p:spPr>
          <a:xfrm>
            <a:off x="8988552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9E2B25"/>
          </a:solidFill>
          <a:ln/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36" name="Text 28"/>
          <p:cNvSpPr/>
          <p:nvPr/>
        </p:nvSpPr>
        <p:spPr>
          <a:xfrm>
            <a:off x="9171432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</p:txBody>
      </p:sp>
      <p:sp>
        <p:nvSpPr>
          <p:cNvPr id="1137" name="Text 29"/>
          <p:cNvSpPr/>
          <p:nvPr/>
        </p:nvSpPr>
        <p:spPr>
          <a:xfrm>
            <a:off x="9171432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0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全离线设计，打包排除网络组件</a:t>
            </a:r>
            <a:endParaRPr lang="en-US" sz="1400" dirty="0"/>
          </a:p>
        </p:txBody>
      </p:sp>
      <p:sp>
        <p:nvSpPr>
          <p:cNvPr id="1138" name="Text 30"/>
          <p:cNvSpPr/>
          <p:nvPr/>
        </p:nvSpPr>
        <p:spPr>
          <a:xfrm>
            <a:off x="457200" y="6172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数据来源：gwtool/resources/data/seed.db 实测（15.7 MB）与 tests/ 性能验收用例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 name="Slide 6">
    <p:bg>
      <p:bgPr>
        <a:solidFill>
          <a:srgbClr val="FFFFFF"/>
        </a:solidFill>
      </p:bgPr>
    </p:bg>
    <p:spTree>
      <p:nvGrpSpPr>
        <p:cNvPr id="11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141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1142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1143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功能全景：六大能力域，32 个功能模块</a:t>
            </a:r>
            <a:endParaRPr lang="en-US" sz="2600" dirty="0"/>
          </a:p>
        </p:txBody>
      </p:sp>
      <p:sp>
        <p:nvSpPr>
          <p:cNvPr id="1144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sp>
        <p:nvSpPr>
          <p:cNvPr id="1145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1146" name="Shape 6"/>
          <p:cNvSpPr/>
          <p:nvPr/>
        </p:nvSpPr>
        <p:spPr>
          <a:xfrm>
            <a:off x="68580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147" name="Text 7"/>
          <p:cNvSpPr/>
          <p:nvPr/>
        </p:nvSpPr>
        <p:spPr>
          <a:xfrm>
            <a:off x="88696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批量导入去重 · OCR 识别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剪贴板入库 · 右键菜单</a:t>
            </a:r>
            <a:endParaRPr lang="en-US" sz="1500" dirty="0"/>
          </a:p>
        </p:txBody>
      </p:sp>
      <p:sp>
        <p:nvSpPr>
          <p:cNvPr id="1148" name="Shape 8"/>
          <p:cNvSpPr/>
          <p:nvPr/>
        </p:nvSpPr>
        <p:spPr>
          <a:xfrm>
            <a:off x="68580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149" name="Text 9"/>
          <p:cNvSpPr/>
          <p:nvPr/>
        </p:nvSpPr>
        <p:spPr>
          <a:xfrm>
            <a:off x="88696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写作辅助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文种骨架 · 文秘工具箱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 · 朗读校对</a:t>
            </a:r>
            <a:endParaRPr lang="en-US" sz="1500" dirty="0"/>
          </a:p>
        </p:txBody>
      </p:sp>
      <p:sp>
        <p:nvSpPr>
          <p:cNvPr id="1150" name="Shape 10"/>
          <p:cNvSpPr/>
          <p:nvPr/>
        </p:nvSpPr>
        <p:spPr>
          <a:xfrm>
            <a:off x="68580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151" name="Text 11"/>
          <p:cNvSpPr/>
          <p:nvPr/>
        </p:nvSpPr>
        <p:spPr>
          <a:xfrm>
            <a:off x="88696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质量纠错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· 军队公文格式体检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引文/数字/一致性/文风 · 对比 · 查重</a:t>
            </a:r>
            <a:endParaRPr lang="en-US" sz="1500" dirty="0"/>
          </a:p>
        </p:txBody>
      </p:sp>
      <p:sp>
        <p:nvSpPr>
          <p:cNvPr id="1152" name="Shape 12"/>
          <p:cNvSpPr/>
          <p:nvPr/>
        </p:nvSpPr>
        <p:spPr>
          <a:xfrm>
            <a:off x="836676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153" name="Text 13"/>
          <p:cNvSpPr/>
          <p:nvPr/>
        </p:nvSpPr>
        <p:spPr>
          <a:xfrm>
            <a:off x="856792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三步汇编向导 · 批量模式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 · A3 骑马订 · 材料来源清单</a:t>
            </a:r>
            <a:endParaRPr lang="en-US" sz="1500" dirty="0"/>
          </a:p>
        </p:txBody>
      </p:sp>
      <p:sp>
        <p:nvSpPr>
          <p:cNvPr id="1154" name="Shape 14"/>
          <p:cNvSpPr/>
          <p:nvPr/>
        </p:nvSpPr>
        <p:spPr>
          <a:xfrm>
            <a:off x="836676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155" name="Text 15"/>
          <p:cNvSpPr/>
          <p:nvPr/>
        </p:nvSpPr>
        <p:spPr>
          <a:xfrm>
            <a:off x="856792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资料与台账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FTS 检索 · 历史快照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发文登记 · 收文全流程 · 时限督办 · 归档</a:t>
            </a:r>
            <a:endParaRPr lang="en-US" sz="1500" dirty="0"/>
          </a:p>
        </p:txBody>
      </p:sp>
      <p:sp>
        <p:nvSpPr>
          <p:cNvPr id="1156" name="Shape 16"/>
          <p:cNvSpPr/>
          <p:nvPr/>
        </p:nvSpPr>
        <p:spPr>
          <a:xfrm>
            <a:off x="836676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157" name="Text 17"/>
          <p:cNvSpPr/>
          <p:nvPr/>
        </p:nvSpPr>
        <p:spPr>
          <a:xfrm>
            <a:off x="856792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安全与运维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· AES 加密备份 · 便携模式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诊断日志 · 数据库维护 · 一键诊断包</a:t>
            </a:r>
            <a:endParaRPr lang="en-US" sz="1500" dirty="0"/>
          </a:p>
        </p:txBody>
      </p:sp>
      <p:sp>
        <p:nvSpPr>
          <p:cNvPr id="1158" name="Shape 18"/>
          <p:cNvSpPr/>
          <p:nvPr/>
        </p:nvSpPr>
        <p:spPr>
          <a:xfrm>
            <a:off x="3840480" y="2386584"/>
            <a:ext cx="32918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  <p:txBody>
          <a:bodyPr/>
          <a:p/>
        </p:txBody>
      </p:sp>
      <p:sp>
        <p:nvSpPr>
          <p:cNvPr id="1159" name="Shape 19"/>
          <p:cNvSpPr/>
          <p:nvPr/>
        </p:nvSpPr>
        <p:spPr>
          <a:xfrm>
            <a:off x="3840480" y="3616452"/>
            <a:ext cx="32918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  <p:txBody>
          <a:bodyPr/>
          <a:p/>
        </p:txBody>
      </p:sp>
      <p:sp>
        <p:nvSpPr>
          <p:cNvPr id="1160" name="Shape 20"/>
          <p:cNvSpPr/>
          <p:nvPr/>
        </p:nvSpPr>
        <p:spPr>
          <a:xfrm>
            <a:off x="3840480" y="3616452"/>
            <a:ext cx="32918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  <p:txBody>
          <a:bodyPr/>
          <a:p/>
        </p:txBody>
      </p:sp>
      <p:sp>
        <p:nvSpPr>
          <p:cNvPr id="1161" name="Shape 21"/>
          <p:cNvSpPr/>
          <p:nvPr/>
        </p:nvSpPr>
        <p:spPr>
          <a:xfrm>
            <a:off x="7132320" y="2386584"/>
            <a:ext cx="12344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  <p:txBody>
          <a:bodyPr/>
          <a:p/>
        </p:txBody>
      </p:sp>
      <p:sp>
        <p:nvSpPr>
          <p:cNvPr id="1162" name="Shape 22"/>
          <p:cNvSpPr/>
          <p:nvPr/>
        </p:nvSpPr>
        <p:spPr>
          <a:xfrm>
            <a:off x="7132320" y="3616452"/>
            <a:ext cx="12344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  <p:txBody>
          <a:bodyPr/>
          <a:p/>
        </p:txBody>
      </p:sp>
      <p:sp>
        <p:nvSpPr>
          <p:cNvPr id="1163" name="Shape 23"/>
          <p:cNvSpPr/>
          <p:nvPr/>
        </p:nvSpPr>
        <p:spPr>
          <a:xfrm>
            <a:off x="7132320" y="3616452"/>
            <a:ext cx="12344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  <p:txBody>
          <a:bodyPr/>
          <a:p/>
        </p:txBody>
      </p:sp>
      <p:sp>
        <p:nvSpPr>
          <p:cNvPr id="1164" name="Shape 24"/>
          <p:cNvSpPr/>
          <p:nvPr/>
        </p:nvSpPr>
        <p:spPr>
          <a:xfrm>
            <a:off x="5074920" y="2999232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9E2B25"/>
          </a:solidFill>
          <a:ln/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65" name="Text 25"/>
          <p:cNvSpPr/>
          <p:nvPr/>
        </p:nvSpPr>
        <p:spPr>
          <a:xfrm>
            <a:off x="5074920" y="310896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17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个功能模块</a:t>
            </a:r>
            <a:endParaRPr lang="en-US" sz="1700" dirty="0"/>
          </a:p>
        </p:txBody>
      </p:sp>
      <p:sp>
        <p:nvSpPr>
          <p:cNvPr id="1166" name="Text 26"/>
          <p:cNvSpPr/>
          <p:nvPr/>
        </p:nvSpPr>
        <p:spPr>
          <a:xfrm>
            <a:off x="4069080" y="507492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全部功能共享同一本地数据库与模板体系，任何一个模块的产出都可直接被其他模块使用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 name="Slide 7">
    <p:bg>
      <p:bgPr>
        <a:solidFill>
          <a:srgbClr val="1F1917"/>
        </a:solidFill>
      </p:bgPr>
    </p:bg>
    <p:spTree>
      <p:nvGrpSpPr>
        <p:cNvPr id="116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169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1170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1171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1172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3800" dirty="0"/>
          </a:p>
        </p:txBody>
      </p:sp>
      <p:sp>
        <p:nvSpPr>
          <p:cNvPr id="1173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三层解耦的可测试架构：界面、逻辑、数据各司其职</a:t>
            </a:r>
            <a:endParaRPr lang="en-US" sz="1500" dirty="0"/>
          </a:p>
        </p:txBody>
      </p:sp>
      <p:sp>
        <p:nvSpPr>
          <p:cNvPr id="1174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175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纯逻辑层 core/ 不含任何界面代码，可独立单元测试</a:t>
            </a:r>
            <a:endParaRPr lang="en-US" sz="1350" dirty="0"/>
          </a:p>
        </p:txBody>
      </p:sp>
      <p:sp>
        <p:nvSpPr>
          <p:cNvPr id="1176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177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SQLite 读写收敛到 db/dao.py 一个入口</a:t>
            </a:r>
            <a:endParaRPr lang="en-US" sz="1350" dirty="0"/>
          </a:p>
        </p:txBody>
      </p:sp>
      <p:sp>
        <p:nvSpPr>
          <p:cNvPr id="1178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179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耗时操作全部走 QThread 工作线程，界面永不卡死</a:t>
            </a:r>
            <a:endParaRPr lang="en-US" sz="1350" dirty="0"/>
          </a:p>
        </p:txBody>
      </p:sp>
      <p:sp>
        <p:nvSpPr>
          <p:cNvPr id="1180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sp>
        <p:nvSpPr>
          <p:cNvPr id="1181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 name="Slide 8">
    <p:bg>
      <p:bgPr>
        <a:solidFill>
          <a:srgbClr val="FFFFFF"/>
        </a:solidFill>
      </p:bgPr>
    </p:bg>
    <p:spTree>
      <p:nvGrpSpPr>
        <p:cNvPr id="11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184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1185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1186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技术选型：成熟开源库组合，双平台全离线</a:t>
            </a:r>
            <a:endParaRPr lang="en-US" sz="2600" dirty="0"/>
          </a:p>
        </p:txBody>
      </p:sp>
      <p:sp>
        <p:nvSpPr>
          <p:cNvPr id="1187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sp>
        <p:nvSpPr>
          <p:cNvPr id="1188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1189" name="Text 6"/>
          <p:cNvSpPr/>
          <p:nvPr/>
        </p:nvSpPr>
        <p:spPr>
          <a:xfrm>
            <a:off x="457200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(Qt 6)</a:t>
            </a:r>
            <a:endParaRPr lang="en-US" sz="1450" dirty="0"/>
          </a:p>
        </p:txBody>
      </p:sp>
      <p:sp>
        <p:nvSpPr>
          <p:cNvPr id="1190" name="Text 7"/>
          <p:cNvSpPr/>
          <p:nvPr/>
        </p:nvSpPr>
        <p:spPr>
          <a:xfrm>
            <a:off x="3017520" y="17830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全部界面与内置 PDF 渲染引擎</a:t>
            </a:r>
            <a:endParaRPr lang="en-US" sz="1300" dirty="0"/>
          </a:p>
        </p:txBody>
      </p:sp>
      <p:sp>
        <p:nvSpPr>
          <p:cNvPr id="1191" name="Text 8"/>
          <p:cNvSpPr/>
          <p:nvPr/>
        </p:nvSpPr>
        <p:spPr>
          <a:xfrm>
            <a:off x="7086600" y="178308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Windows / 麒麟双平台，只用本地 GUI 栈</a:t>
            </a:r>
            <a:endParaRPr lang="en-US" sz="1250" dirty="0"/>
          </a:p>
        </p:txBody>
      </p:sp>
      <p:sp>
        <p:nvSpPr>
          <p:cNvPr id="1192" name="Shape 9"/>
          <p:cNvSpPr/>
          <p:nvPr/>
        </p:nvSpPr>
        <p:spPr>
          <a:xfrm>
            <a:off x="457200" y="235915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193" name="Text 10"/>
          <p:cNvSpPr/>
          <p:nvPr/>
        </p:nvSpPr>
        <p:spPr>
          <a:xfrm>
            <a:off x="457200" y="2368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+ FTS5</a:t>
            </a:r>
            <a:endParaRPr lang="en-US" sz="1450" dirty="0"/>
          </a:p>
        </p:txBody>
      </p:sp>
      <p:sp>
        <p:nvSpPr>
          <p:cNvPr id="1194" name="Text 11"/>
          <p:cNvSpPr/>
          <p:nvPr/>
        </p:nvSpPr>
        <p:spPr>
          <a:xfrm>
            <a:off x="3017520" y="23682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单文件数据库 + 全文检索</a:t>
            </a:r>
            <a:endParaRPr lang="en-US" sz="1300" dirty="0"/>
          </a:p>
        </p:txBody>
      </p:sp>
      <p:sp>
        <p:nvSpPr>
          <p:cNvPr id="1195" name="Text 12"/>
          <p:cNvSpPr/>
          <p:nvPr/>
        </p:nvSpPr>
        <p:spPr>
          <a:xfrm>
            <a:off x="7086600" y="23682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排序、零部署；WAL 模式读写不互卡</a:t>
            </a:r>
            <a:endParaRPr lang="en-US" sz="1250" dirty="0"/>
          </a:p>
        </p:txBody>
      </p:sp>
      <p:sp>
        <p:nvSpPr>
          <p:cNvPr id="1196" name="Shape 13"/>
          <p:cNvSpPr/>
          <p:nvPr/>
        </p:nvSpPr>
        <p:spPr>
          <a:xfrm>
            <a:off x="457200" y="2944368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197" name="Text 14"/>
          <p:cNvSpPr/>
          <p:nvPr/>
        </p:nvSpPr>
        <p:spPr>
          <a:xfrm>
            <a:off x="457200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</a:t>
            </a:r>
            <a:endParaRPr lang="en-US" sz="1450" dirty="0"/>
          </a:p>
        </p:txBody>
      </p:sp>
      <p:sp>
        <p:nvSpPr>
          <p:cNvPr id="1198" name="Text 15"/>
          <p:cNvSpPr/>
          <p:nvPr/>
        </p:nvSpPr>
        <p:spPr>
          <a:xfrm>
            <a:off x="3017520" y="29535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解析 · 渲染 · 小册拼版</a:t>
            </a:r>
            <a:endParaRPr lang="en-US" sz="1300" dirty="0"/>
          </a:p>
        </p:txBody>
      </p:sp>
      <p:sp>
        <p:nvSpPr>
          <p:cNvPr id="1199" name="Text 16"/>
          <p:cNvSpPr/>
          <p:nvPr/>
        </p:nvSpPr>
        <p:spPr>
          <a:xfrm>
            <a:off x="7086600" y="2953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逐页文本提取 + show_pdf_page 等比重排</a:t>
            </a:r>
            <a:endParaRPr lang="en-US" sz="1250" dirty="0"/>
          </a:p>
        </p:txBody>
      </p:sp>
      <p:sp>
        <p:nvSpPr>
          <p:cNvPr id="1200" name="Shape 17"/>
          <p:cNvSpPr/>
          <p:nvPr/>
        </p:nvSpPr>
        <p:spPr>
          <a:xfrm>
            <a:off x="457200" y="3529584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201" name="Text 18"/>
          <p:cNvSpPr/>
          <p:nvPr/>
        </p:nvSpPr>
        <p:spPr>
          <a:xfrm>
            <a:off x="457200" y="35387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python-docx</a:t>
            </a:r>
            <a:endParaRPr lang="en-US" sz="1450" dirty="0"/>
          </a:p>
        </p:txBody>
      </p:sp>
      <p:sp>
        <p:nvSpPr>
          <p:cNvPr id="1202" name="Text 19"/>
          <p:cNvSpPr/>
          <p:nvPr/>
        </p:nvSpPr>
        <p:spPr>
          <a:xfrm>
            <a:off x="3017520" y="35387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规范公文 Word 生成</a:t>
            </a:r>
            <a:endParaRPr lang="en-US" sz="1300" dirty="0"/>
          </a:p>
        </p:txBody>
      </p:sp>
      <p:sp>
        <p:nvSpPr>
          <p:cNvPr id="1203" name="Text 20"/>
          <p:cNvSpPr/>
          <p:nvPr/>
        </p:nvSpPr>
        <p:spPr>
          <a:xfrm>
            <a:off x="7086600" y="353872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 + 手写域代码，WPS 打开不跑版</a:t>
            </a:r>
            <a:endParaRPr lang="en-US" sz="1250" dirty="0"/>
          </a:p>
        </p:txBody>
      </p:sp>
      <p:sp>
        <p:nvSpPr>
          <p:cNvPr id="1204" name="Shape 21"/>
          <p:cNvSpPr/>
          <p:nvPr/>
        </p:nvSpPr>
        <p:spPr>
          <a:xfrm>
            <a:off x="457200" y="4114800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205" name="Text 22"/>
          <p:cNvSpPr/>
          <p:nvPr/>
        </p:nvSpPr>
        <p:spPr>
          <a:xfrm>
            <a:off x="457200" y="412394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</a:t>
            </a:r>
            <a:endParaRPr lang="en-US" sz="1450" dirty="0"/>
          </a:p>
        </p:txBody>
      </p:sp>
      <p:sp>
        <p:nvSpPr>
          <p:cNvPr id="1206" name="Text 23"/>
          <p:cNvSpPr/>
          <p:nvPr/>
        </p:nvSpPr>
        <p:spPr>
          <a:xfrm>
            <a:off x="3017520" y="41239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中文分词</a:t>
            </a:r>
            <a:endParaRPr lang="en-US" sz="1300" dirty="0"/>
          </a:p>
        </p:txBody>
      </p:sp>
      <p:sp>
        <p:nvSpPr>
          <p:cNvPr id="1207" name="Text 24"/>
          <p:cNvSpPr/>
          <p:nvPr/>
        </p:nvSpPr>
        <p:spPr>
          <a:xfrm>
            <a:off x="7086600" y="412394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检索索引 · 纠错词边界保护 · SimHash 特征</a:t>
            </a:r>
            <a:endParaRPr lang="en-US" sz="1250" dirty="0"/>
          </a:p>
        </p:txBody>
      </p:sp>
      <p:sp>
        <p:nvSpPr>
          <p:cNvPr id="1208" name="Shape 25"/>
          <p:cNvSpPr/>
          <p:nvPr/>
        </p:nvSpPr>
        <p:spPr>
          <a:xfrm>
            <a:off x="457200" y="4700016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209" name="Text 26"/>
          <p:cNvSpPr/>
          <p:nvPr/>
        </p:nvSpPr>
        <p:spPr>
          <a:xfrm>
            <a:off x="457200" y="47091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</a:t>
            </a:r>
            <a:endParaRPr lang="en-US" sz="1450" dirty="0"/>
          </a:p>
        </p:txBody>
      </p:sp>
      <p:sp>
        <p:nvSpPr>
          <p:cNvPr id="1210" name="Text 27"/>
          <p:cNvSpPr/>
          <p:nvPr/>
        </p:nvSpPr>
        <p:spPr>
          <a:xfrm>
            <a:off x="3017520" y="47091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300" dirty="0"/>
          </a:p>
        </p:txBody>
      </p:sp>
      <p:sp>
        <p:nvSpPr>
          <p:cNvPr id="1211" name="Text 28"/>
          <p:cNvSpPr/>
          <p:nvPr/>
        </p:nvSpPr>
        <p:spPr>
          <a:xfrm>
            <a:off x="7086600" y="470916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MIT 开源离线词典，无在线服务依赖</a:t>
            </a:r>
            <a:endParaRPr lang="en-US" sz="1250" dirty="0"/>
          </a:p>
        </p:txBody>
      </p:sp>
      <p:sp>
        <p:nvSpPr>
          <p:cNvPr id="1212" name="Shape 29"/>
          <p:cNvSpPr/>
          <p:nvPr/>
        </p:nvSpPr>
        <p:spPr>
          <a:xfrm>
            <a:off x="457200" y="528523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213" name="Text 30"/>
          <p:cNvSpPr/>
          <p:nvPr/>
        </p:nvSpPr>
        <p:spPr>
          <a:xfrm>
            <a:off x="457200" y="529437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</a:t>
            </a:r>
            <a:endParaRPr lang="en-US" sz="1450" dirty="0"/>
          </a:p>
        </p:txBody>
      </p:sp>
      <p:sp>
        <p:nvSpPr>
          <p:cNvPr id="1214" name="Text 31"/>
          <p:cNvSpPr/>
          <p:nvPr/>
        </p:nvSpPr>
        <p:spPr>
          <a:xfrm>
            <a:off x="3017520" y="52943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打包为免安装交付目录</a:t>
            </a:r>
            <a:endParaRPr lang="en-US" sz="1300" dirty="0"/>
          </a:p>
        </p:txBody>
      </p:sp>
      <p:sp>
        <p:nvSpPr>
          <p:cNvPr id="1215" name="Text 32"/>
          <p:cNvSpPr/>
          <p:nvPr/>
        </p:nvSpPr>
        <p:spPr>
          <a:xfrm>
            <a:off x="7086600" y="529437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onedir 启动快，排除 17 个网络/重型组件</a:t>
            </a:r>
            <a:endParaRPr lang="en-US" sz="1250" dirty="0"/>
          </a:p>
        </p:txBody>
      </p:sp>
      <p:sp>
        <p:nvSpPr>
          <p:cNvPr id="1216" name="Text 33"/>
          <p:cNvSpPr/>
          <p:nvPr/>
        </p:nvSpPr>
        <p:spPr>
          <a:xfrm>
            <a:off x="457200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运行依赖共 17 项（requirements.txt），全部有官方离线安装包，支持 ARM64 离线 wheels 预下载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 name="Slide 9">
    <p:bg>
      <p:bgPr>
        <a:solidFill>
          <a:srgbClr val="FFFFFF"/>
        </a:solidFill>
      </p:bgPr>
    </p:bg>
    <p:spTree>
      <p:nvGrpSpPr>
        <p:cNvPr id="12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219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1220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1221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三层架构：约 29500 行 Python，依赖方向清晰</a:t>
            </a:r>
            <a:endParaRPr lang="en-US" sz="2600" dirty="0"/>
          </a:p>
        </p:txBody>
      </p:sp>
      <p:sp>
        <p:nvSpPr>
          <p:cNvPr id="1222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sp>
        <p:nvSpPr>
          <p:cNvPr id="1223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1224" name="Shape 6"/>
          <p:cNvSpPr/>
          <p:nvPr/>
        </p:nvSpPr>
        <p:spPr>
          <a:xfrm>
            <a:off x="4590288" y="1645920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1F1917"/>
          </a:solidFill>
          <a:ln/>
        </p:spPr>
        <p:txBody>
          <a:bodyPr/>
          <a:p/>
        </p:txBody>
      </p:sp>
      <p:sp>
        <p:nvSpPr>
          <p:cNvPr id="1225" name="Text 7"/>
          <p:cNvSpPr/>
          <p:nvPr/>
        </p:nvSpPr>
        <p:spPr>
          <a:xfrm>
            <a:off x="4590288" y="16459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main.py（--portable / --import）</a:t>
            </a:r>
            <a:endParaRPr lang="en-US" sz="1200" dirty="0"/>
          </a:p>
        </p:txBody>
      </p:sp>
      <p:sp>
        <p:nvSpPr>
          <p:cNvPr id="1226" name="Shape 8"/>
          <p:cNvSpPr/>
          <p:nvPr/>
        </p:nvSpPr>
        <p:spPr>
          <a:xfrm>
            <a:off x="6099048" y="2157984"/>
            <a:ext cx="0" cy="237744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27" name="Shape 9"/>
          <p:cNvSpPr/>
          <p:nvPr/>
        </p:nvSpPr>
        <p:spPr>
          <a:xfrm>
            <a:off x="4590288" y="2395728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701D19"/>
          </a:solidFill>
          <a:ln/>
        </p:spPr>
        <p:txBody>
          <a:bodyPr/>
          <a:p/>
        </p:txBody>
      </p:sp>
      <p:sp>
        <p:nvSpPr>
          <p:cNvPr id="1228" name="Text 10"/>
          <p:cNvSpPr/>
          <p:nvPr/>
        </p:nvSpPr>
        <p:spPr>
          <a:xfrm>
            <a:off x="4590288" y="2395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app.py 启动装配 · 种子导入 · 口令锁</a:t>
            </a:r>
            <a:endParaRPr lang="en-US" sz="1200" dirty="0"/>
          </a:p>
        </p:txBody>
      </p:sp>
      <p:sp>
        <p:nvSpPr>
          <p:cNvPr id="1229" name="Shape 11"/>
          <p:cNvSpPr/>
          <p:nvPr/>
        </p:nvSpPr>
        <p:spPr>
          <a:xfrm>
            <a:off x="6099048" y="2907792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  <p:txBody>
          <a:bodyPr/>
          <a:p/>
        </p:txBody>
      </p:sp>
      <p:sp>
        <p:nvSpPr>
          <p:cNvPr id="1230" name="Shape 12"/>
          <p:cNvSpPr/>
          <p:nvPr/>
        </p:nvSpPr>
        <p:spPr>
          <a:xfrm>
            <a:off x="2468880" y="3108960"/>
            <a:ext cx="72694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  <p:txBody>
          <a:bodyPr/>
          <a:p/>
        </p:txBody>
      </p:sp>
      <p:sp>
        <p:nvSpPr>
          <p:cNvPr id="1231" name="Shape 13"/>
          <p:cNvSpPr/>
          <p:nvPr/>
        </p:nvSpPr>
        <p:spPr>
          <a:xfrm>
            <a:off x="246888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32" name="Shape 14"/>
          <p:cNvSpPr/>
          <p:nvPr/>
        </p:nvSpPr>
        <p:spPr>
          <a:xfrm>
            <a:off x="6099048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33" name="Shape 15"/>
          <p:cNvSpPr/>
          <p:nvPr/>
        </p:nvSpPr>
        <p:spPr>
          <a:xfrm>
            <a:off x="973836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34" name="Shape 16"/>
          <p:cNvSpPr/>
          <p:nvPr/>
        </p:nvSpPr>
        <p:spPr>
          <a:xfrm>
            <a:off x="7772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235" name="Text 17"/>
          <p:cNvSpPr/>
          <p:nvPr/>
        </p:nvSpPr>
        <p:spPr>
          <a:xfrm>
            <a:off x="9784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 / 界面层</a:t>
            </a:r>
            <a:endParaRPr lang="en-US" sz="1550" dirty="0"/>
          </a:p>
        </p:txBody>
      </p:sp>
      <p:sp>
        <p:nvSpPr>
          <p:cNvPr id="1236" name="Text 18"/>
          <p:cNvSpPr/>
          <p:nvPr/>
        </p:nvSpPr>
        <p:spPr>
          <a:xfrm>
            <a:off x="9784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main_window 三栏主窗口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 · 资料库 · 参考三面板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个功能对话框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workers 后台线程机制</a:t>
            </a:r>
            <a:endParaRPr lang="en-US" sz="1200" dirty="0"/>
          </a:p>
        </p:txBody>
      </p:sp>
      <p:sp>
        <p:nvSpPr>
          <p:cNvPr id="1237" name="Shape 19"/>
          <p:cNvSpPr/>
          <p:nvPr/>
        </p:nvSpPr>
        <p:spPr>
          <a:xfrm>
            <a:off x="44348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  <p:txBody>
          <a:bodyPr/>
          <a:p/>
        </p:txBody>
      </p:sp>
      <p:sp>
        <p:nvSpPr>
          <p:cNvPr id="1238" name="Text 20"/>
          <p:cNvSpPr/>
          <p:nvPr/>
        </p:nvSpPr>
        <p:spPr>
          <a:xfrm>
            <a:off x="46360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/ 纯逻辑层</a:t>
            </a:r>
            <a:endParaRPr lang="en-US" sz="1550" dirty="0"/>
          </a:p>
        </p:txBody>
      </p:sp>
      <p:sp>
        <p:nvSpPr>
          <p:cNvPr id="1239" name="Text 21"/>
          <p:cNvSpPr/>
          <p:nvPr/>
        </p:nvSpPr>
        <p:spPr>
          <a:xfrm>
            <a:off x="46360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parsers 多格式解析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corrector 纠错 · inspector 体检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docxgen · pdfrender · booklet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reference · differ · simhash</a:t>
            </a:r>
            <a:endParaRPr lang="en-US" sz="1200" dirty="0"/>
          </a:p>
        </p:txBody>
      </p:sp>
      <p:sp>
        <p:nvSpPr>
          <p:cNvPr id="1240" name="Shape 22"/>
          <p:cNvSpPr/>
          <p:nvPr/>
        </p:nvSpPr>
        <p:spPr>
          <a:xfrm>
            <a:off x="80924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241" name="Text 23"/>
          <p:cNvSpPr/>
          <p:nvPr/>
        </p:nvSpPr>
        <p:spPr>
          <a:xfrm>
            <a:off x="82936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 / 数据层</a:t>
            </a:r>
            <a:endParaRPr lang="en-US" sz="1550" dirty="0"/>
          </a:p>
        </p:txBody>
      </p:sp>
      <p:sp>
        <p:nvSpPr>
          <p:cNvPr id="1242" name="Text 24"/>
          <p:cNvSpPr/>
          <p:nvPr/>
        </p:nvSpPr>
        <p:spPr>
          <a:xfrm>
            <a:off x="82936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dao.py 唯一数据入口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张业务表 + 4 个 FTS5 虚表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 + 线程本地连接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v7 自动迁移</a:t>
            </a:r>
            <a:endParaRPr lang="en-US" sz="1200" dirty="0"/>
          </a:p>
        </p:txBody>
      </p:sp>
      <p:sp>
        <p:nvSpPr>
          <p:cNvPr id="1243" name="Shape 25"/>
          <p:cNvSpPr/>
          <p:nvPr/>
        </p:nvSpPr>
        <p:spPr>
          <a:xfrm>
            <a:off x="41148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44" name="Shape 26"/>
          <p:cNvSpPr/>
          <p:nvPr/>
        </p:nvSpPr>
        <p:spPr>
          <a:xfrm>
            <a:off x="77724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45" name="Text 27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依赖方向 ui → core → db，core 不依赖 ui（可独立测试）；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resources/data/seed.db（15.7 MB 词典 + 纠错库）随包分发，首次运行导入用户库。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 name="Slide 10">
    <p:bg>
      <p:bgPr>
        <a:solidFill>
          <a:srgbClr val="FFFFFF"/>
        </a:solidFill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21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22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23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数据层：16 张业务表，一“室”管全部档案</a:t>
            </a:r>
            <a:endParaRPr lang="en-US" sz="2600" dirty="0"/>
          </a:p>
        </p:txBody>
      </p:sp>
      <p:sp>
        <p:nvSpPr>
          <p:cNvPr id="24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25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26" name="Text 6"/>
          <p:cNvSpPr/>
          <p:nvPr/>
        </p:nvSpPr>
        <p:spPr>
          <a:xfrm>
            <a:off x="4572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业务表（schema.py · 版本 v7）</a:t>
            </a:r>
            <a:endParaRPr lang="en-US" sz="1400" dirty="0"/>
          </a:p>
        </p:txBody>
      </p:sp>
      <p:sp>
        <p:nvSpPr>
          <p:cNvPr id="27" name="Shape 7"/>
          <p:cNvSpPr/>
          <p:nvPr/>
        </p:nvSpPr>
        <p:spPr>
          <a:xfrm>
            <a:off x="457200" y="21031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28" name="Text 8"/>
          <p:cNvSpPr/>
          <p:nvPr/>
        </p:nvSpPr>
        <p:spPr>
          <a:xfrm>
            <a:off x="530352" y="21031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29" name="Text 9"/>
          <p:cNvSpPr/>
          <p:nvPr/>
        </p:nvSpPr>
        <p:spPr>
          <a:xfrm>
            <a:off x="548640" y="21259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000" dirty="0"/>
          </a:p>
        </p:txBody>
      </p:sp>
      <p:sp>
        <p:nvSpPr>
          <p:cNvPr id="30" name="Shape 10"/>
          <p:cNvSpPr/>
          <p:nvPr/>
        </p:nvSpPr>
        <p:spPr>
          <a:xfrm>
            <a:off x="2267712" y="21031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31" name="Text 11"/>
          <p:cNvSpPr/>
          <p:nvPr/>
        </p:nvSpPr>
        <p:spPr>
          <a:xfrm>
            <a:off x="2340864" y="21031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32" name="Text 12"/>
          <p:cNvSpPr/>
          <p:nvPr/>
        </p:nvSpPr>
        <p:spPr>
          <a:xfrm>
            <a:off x="2359152" y="21259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categories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</a:t>
            </a:r>
            <a:endParaRPr lang="en-US" sz="1000" dirty="0"/>
          </a:p>
        </p:txBody>
      </p:sp>
      <p:sp>
        <p:nvSpPr>
          <p:cNvPr id="33" name="Shape 13"/>
          <p:cNvSpPr/>
          <p:nvPr/>
        </p:nvSpPr>
        <p:spPr>
          <a:xfrm>
            <a:off x="4078224" y="21031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34" name="Text 14"/>
          <p:cNvSpPr/>
          <p:nvPr/>
        </p:nvSpPr>
        <p:spPr>
          <a:xfrm>
            <a:off x="4151376" y="21031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35" name="Text 15"/>
          <p:cNvSpPr/>
          <p:nvPr/>
        </p:nvSpPr>
        <p:spPr>
          <a:xfrm>
            <a:off x="4169664" y="21259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dictionary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</a:t>
            </a:r>
            <a:endParaRPr lang="en-US" sz="1000" dirty="0"/>
          </a:p>
        </p:txBody>
      </p:sp>
      <p:sp>
        <p:nvSpPr>
          <p:cNvPr id="36" name="Shape 16"/>
          <p:cNvSpPr/>
          <p:nvPr/>
        </p:nvSpPr>
        <p:spPr>
          <a:xfrm>
            <a:off x="457200" y="251460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37" name="Text 17"/>
          <p:cNvSpPr/>
          <p:nvPr/>
        </p:nvSpPr>
        <p:spPr>
          <a:xfrm>
            <a:off x="530352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38" name="Text 18"/>
          <p:cNvSpPr/>
          <p:nvPr/>
        </p:nvSpPr>
        <p:spPr>
          <a:xfrm>
            <a:off x="548640" y="25374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error_pairs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</a:t>
            </a:r>
            <a:endParaRPr lang="en-US" sz="1000" dirty="0"/>
          </a:p>
        </p:txBody>
      </p:sp>
      <p:sp>
        <p:nvSpPr>
          <p:cNvPr id="39" name="Shape 19"/>
          <p:cNvSpPr/>
          <p:nvPr/>
        </p:nvSpPr>
        <p:spPr>
          <a:xfrm>
            <a:off x="2267712" y="251460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40" name="Text 20"/>
          <p:cNvSpPr/>
          <p:nvPr/>
        </p:nvSpPr>
        <p:spPr>
          <a:xfrm>
            <a:off x="2340864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41" name="Text 21"/>
          <p:cNvSpPr/>
          <p:nvPr/>
        </p:nvSpPr>
        <p:spPr>
          <a:xfrm>
            <a:off x="2359152" y="25374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user_phrases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</a:t>
            </a:r>
            <a:endParaRPr lang="en-US" sz="1000" dirty="0"/>
          </a:p>
        </p:txBody>
      </p:sp>
      <p:sp>
        <p:nvSpPr>
          <p:cNvPr id="42" name="Shape 22"/>
          <p:cNvSpPr/>
          <p:nvPr/>
        </p:nvSpPr>
        <p:spPr>
          <a:xfrm>
            <a:off x="4078224" y="251460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43" name="Text 23"/>
          <p:cNvSpPr/>
          <p:nvPr/>
        </p:nvSpPr>
        <p:spPr>
          <a:xfrm>
            <a:off x="4151376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44" name="Text 24"/>
          <p:cNvSpPr/>
          <p:nvPr/>
        </p:nvSpPr>
        <p:spPr>
          <a:xfrm>
            <a:off x="4169664" y="25374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templates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排版模板</a:t>
            </a:r>
            <a:endParaRPr lang="en-US" sz="1000" dirty="0"/>
          </a:p>
        </p:txBody>
      </p:sp>
      <p:sp>
        <p:nvSpPr>
          <p:cNvPr id="45" name="Shape 25"/>
          <p:cNvSpPr/>
          <p:nvPr/>
        </p:nvSpPr>
        <p:spPr>
          <a:xfrm>
            <a:off x="457200" y="292608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46" name="Text 26"/>
          <p:cNvSpPr/>
          <p:nvPr/>
        </p:nvSpPr>
        <p:spPr>
          <a:xfrm>
            <a:off x="530352" y="292608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47" name="Text 27"/>
          <p:cNvSpPr/>
          <p:nvPr/>
        </p:nvSpPr>
        <p:spPr>
          <a:xfrm>
            <a:off x="548640" y="29489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settings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键值设置</a:t>
            </a:r>
            <a:endParaRPr lang="en-US" sz="1000" dirty="0"/>
          </a:p>
        </p:txBody>
      </p:sp>
      <p:sp>
        <p:nvSpPr>
          <p:cNvPr id="48" name="Shape 28"/>
          <p:cNvSpPr/>
          <p:nvPr/>
        </p:nvSpPr>
        <p:spPr>
          <a:xfrm>
            <a:off x="2267712" y="292608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49" name="Text 29"/>
          <p:cNvSpPr/>
          <p:nvPr/>
        </p:nvSpPr>
        <p:spPr>
          <a:xfrm>
            <a:off x="2340864" y="292608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50" name="Text 30"/>
          <p:cNvSpPr/>
          <p:nvPr/>
        </p:nvSpPr>
        <p:spPr>
          <a:xfrm>
            <a:off x="2359152" y="29489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snapshots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000" dirty="0"/>
          </a:p>
        </p:txBody>
      </p:sp>
      <p:sp>
        <p:nvSpPr>
          <p:cNvPr id="51" name="Shape 31"/>
          <p:cNvSpPr/>
          <p:nvPr/>
        </p:nvSpPr>
        <p:spPr>
          <a:xfrm>
            <a:off x="4078224" y="292608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52" name="Text 32"/>
          <p:cNvSpPr/>
          <p:nvPr/>
        </p:nvSpPr>
        <p:spPr>
          <a:xfrm>
            <a:off x="4151376" y="292608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53" name="Text 33"/>
          <p:cNvSpPr/>
          <p:nvPr/>
        </p:nvSpPr>
        <p:spPr>
          <a:xfrm>
            <a:off x="4169664" y="29489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ignore_words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忽略名单</a:t>
            </a:r>
            <a:endParaRPr lang="en-US" sz="1000" dirty="0"/>
          </a:p>
        </p:txBody>
      </p:sp>
      <p:sp>
        <p:nvSpPr>
          <p:cNvPr id="54" name="Shape 34"/>
          <p:cNvSpPr/>
          <p:nvPr/>
        </p:nvSpPr>
        <p:spPr>
          <a:xfrm>
            <a:off x="457200" y="333756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55" name="Text 35"/>
          <p:cNvSpPr/>
          <p:nvPr/>
        </p:nvSpPr>
        <p:spPr>
          <a:xfrm>
            <a:off x="530352" y="333756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56" name="Text 36"/>
          <p:cNvSpPr/>
          <p:nvPr/>
        </p:nvSpPr>
        <p:spPr>
          <a:xfrm>
            <a:off x="548640" y="33604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attachments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00" dirty="0"/>
          </a:p>
        </p:txBody>
      </p:sp>
      <p:sp>
        <p:nvSpPr>
          <p:cNvPr id="57" name="Shape 37"/>
          <p:cNvSpPr/>
          <p:nvPr/>
        </p:nvSpPr>
        <p:spPr>
          <a:xfrm>
            <a:off x="2267712" y="333756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58" name="Text 38"/>
          <p:cNvSpPr/>
          <p:nvPr/>
        </p:nvSpPr>
        <p:spPr>
          <a:xfrm>
            <a:off x="2340864" y="333756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59" name="Text 39"/>
          <p:cNvSpPr/>
          <p:nvPr/>
        </p:nvSpPr>
        <p:spPr>
          <a:xfrm>
            <a:off x="2359152" y="33604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dispatch_register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发文登记</a:t>
            </a:r>
            <a:endParaRPr lang="en-US" sz="1000" dirty="0"/>
          </a:p>
        </p:txBody>
      </p:sp>
      <p:sp>
        <p:nvSpPr>
          <p:cNvPr id="60" name="Shape 40"/>
          <p:cNvSpPr/>
          <p:nvPr/>
        </p:nvSpPr>
        <p:spPr>
          <a:xfrm>
            <a:off x="4078224" y="333756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61" name="Text 41"/>
          <p:cNvSpPr/>
          <p:nvPr/>
        </p:nvSpPr>
        <p:spPr>
          <a:xfrm>
            <a:off x="4151376" y="333756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62" name="Text 42"/>
          <p:cNvSpPr/>
          <p:nvPr/>
        </p:nvSpPr>
        <p:spPr>
          <a:xfrm>
            <a:off x="4169664" y="33604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receive_register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收文登记</a:t>
            </a:r>
            <a:endParaRPr lang="en-US" sz="1000" dirty="0"/>
          </a:p>
        </p:txBody>
      </p:sp>
      <p:sp>
        <p:nvSpPr>
          <p:cNvPr id="63" name="Shape 43"/>
          <p:cNvSpPr/>
          <p:nvPr/>
        </p:nvSpPr>
        <p:spPr>
          <a:xfrm>
            <a:off x="457200" y="374904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64" name="Text 44"/>
          <p:cNvSpPr/>
          <p:nvPr/>
        </p:nvSpPr>
        <p:spPr>
          <a:xfrm>
            <a:off x="530352" y="37490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65" name="Text 45"/>
          <p:cNvSpPr/>
          <p:nvPr/>
        </p:nvSpPr>
        <p:spPr>
          <a:xfrm>
            <a:off x="548640" y="377190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wordlist_sources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词表来源</a:t>
            </a:r>
            <a:endParaRPr lang="en-US" sz="1000" dirty="0"/>
          </a:p>
        </p:txBody>
      </p:sp>
      <p:sp>
        <p:nvSpPr>
          <p:cNvPr id="66" name="Shape 46"/>
          <p:cNvSpPr/>
          <p:nvPr/>
        </p:nvSpPr>
        <p:spPr>
          <a:xfrm>
            <a:off x="2267712" y="374904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67" name="Text 47"/>
          <p:cNvSpPr/>
          <p:nvPr/>
        </p:nvSpPr>
        <p:spPr>
          <a:xfrm>
            <a:off x="2340864" y="37490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68" name="Text 48"/>
          <p:cNvSpPr/>
          <p:nvPr/>
        </p:nvSpPr>
        <p:spPr>
          <a:xfrm>
            <a:off x="2359152" y="377190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fts_index_state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索引状态</a:t>
            </a:r>
            <a:endParaRPr lang="en-US" sz="1000" dirty="0"/>
          </a:p>
        </p:txBody>
      </p:sp>
      <p:sp>
        <p:nvSpPr>
          <p:cNvPr id="69" name="Shape 49"/>
          <p:cNvSpPr/>
          <p:nvPr/>
        </p:nvSpPr>
        <p:spPr>
          <a:xfrm>
            <a:off x="4078224" y="374904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70" name="Text 50"/>
          <p:cNvSpPr/>
          <p:nvPr/>
        </p:nvSpPr>
        <p:spPr>
          <a:xfrm>
            <a:off x="4151376" y="37490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71" name="Text 51"/>
          <p:cNvSpPr/>
          <p:nvPr/>
        </p:nvSpPr>
        <p:spPr>
          <a:xfrm>
            <a:off x="4169664" y="377190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paragraphs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段落派生</a:t>
            </a:r>
            <a:endParaRPr lang="en-US" sz="1000" dirty="0"/>
          </a:p>
        </p:txBody>
      </p:sp>
      <p:sp>
        <p:nvSpPr>
          <p:cNvPr id="72" name="Shape 52"/>
          <p:cNvSpPr/>
          <p:nvPr/>
        </p:nvSpPr>
        <p:spPr>
          <a:xfrm>
            <a:off x="457200" y="41605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73" name="Text 53"/>
          <p:cNvSpPr/>
          <p:nvPr/>
        </p:nvSpPr>
        <p:spPr>
          <a:xfrm>
            <a:off x="530352" y="4160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74" name="Text 54"/>
          <p:cNvSpPr/>
          <p:nvPr/>
        </p:nvSpPr>
        <p:spPr>
          <a:xfrm>
            <a:off x="548640" y="41833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user_skeletons</a:t>
            </a:r>
            <a:endParaRPr lang="en-US" sz="10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派生骨架</a:t>
            </a:r>
            <a:endParaRPr lang="en-US" sz="1000" dirty="0"/>
          </a:p>
        </p:txBody>
      </p:sp>
      <p:sp>
        <p:nvSpPr>
          <p:cNvPr id="75" name="Text 55"/>
          <p:cNvSpPr/>
          <p:nvPr/>
        </p:nvSpPr>
        <p:spPr>
          <a:xfrm>
            <a:off x="457200" y="461772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全文检索虚表：</a:t>
            </a: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documents_fts / phrases_fts / paragraphs_fts（jieba 预分词后入库）；词典 12.3 万条不走 FTS，改 LIKE 三段式避免拖慢首启动</a:t>
            </a:r>
            <a:endParaRPr lang="en-US" sz="1250" dirty="0"/>
          </a:p>
        </p:txBody>
      </p:sp>
      <p:sp>
        <p:nvSpPr>
          <p:cNvPr id="76" name="Shape 56"/>
          <p:cNvSpPr/>
          <p:nvPr/>
        </p:nvSpPr>
        <p:spPr>
          <a:xfrm>
            <a:off x="6263640" y="1691640"/>
            <a:ext cx="5468112" cy="4526280"/>
          </a:xfrm>
          <a:prstGeom prst="roundRect">
            <a:avLst>
              <a:gd name="adj" fmla="val 1616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77" name="Text 57"/>
          <p:cNvSpPr/>
          <p:nvPr/>
        </p:nvSpPr>
        <p:spPr>
          <a:xfrm>
            <a:off x="6492240" y="1847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机制要点</a:t>
            </a:r>
            <a:endParaRPr lang="en-US" sz="1400" dirty="0"/>
          </a:p>
        </p:txBody>
      </p:sp>
      <p:sp>
        <p:nvSpPr>
          <p:cNvPr id="78" name="Shape 58"/>
          <p:cNvSpPr/>
          <p:nvPr/>
        </p:nvSpPr>
        <p:spPr>
          <a:xfrm>
            <a:off x="6492240" y="23682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9" name="Text 59"/>
          <p:cNvSpPr/>
          <p:nvPr/>
        </p:nvSpPr>
        <p:spPr>
          <a:xfrm>
            <a:off x="6729984" y="228600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每线程独立连接，WAL + synchronous=NORMAL</a:t>
            </a:r>
            <a:endParaRPr lang="en-US" sz="1350" dirty="0"/>
          </a:p>
        </p:txBody>
      </p:sp>
      <p:sp>
        <p:nvSpPr>
          <p:cNvPr id="80" name="Shape 60"/>
          <p:cNvSpPr/>
          <p:nvPr/>
        </p:nvSpPr>
        <p:spPr>
          <a:xfrm>
            <a:off x="6492240" y="30175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81" name="Text 61"/>
          <p:cNvSpPr/>
          <p:nvPr/>
        </p:nvSpPr>
        <p:spPr>
          <a:xfrm>
            <a:off x="6729984" y="293522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指纹，重复内容拒收</a:t>
            </a:r>
            <a:endParaRPr lang="en-US" sz="1350" dirty="0"/>
          </a:p>
        </p:txBody>
      </p:sp>
      <p:sp>
        <p:nvSpPr>
          <p:cNvPr id="82" name="Shape 62"/>
          <p:cNvSpPr/>
          <p:nvPr/>
        </p:nvSpPr>
        <p:spPr>
          <a:xfrm>
            <a:off x="6492240" y="3666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83" name="Text 63"/>
          <p:cNvSpPr/>
          <p:nvPr/>
        </p:nvSpPr>
        <p:spPr>
          <a:xfrm>
            <a:off x="6729984" y="35844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相似预存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表同时落 SimHash 64 位指纹</a:t>
            </a:r>
            <a:endParaRPr lang="en-US" sz="1350" dirty="0"/>
          </a:p>
        </p:txBody>
      </p:sp>
      <p:sp>
        <p:nvSpPr>
          <p:cNvPr id="84" name="Shape 64"/>
          <p:cNvSpPr/>
          <p:nvPr/>
        </p:nvSpPr>
        <p:spPr>
          <a:xfrm>
            <a:off x="6492240" y="431596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85" name="Text 65"/>
          <p:cNvSpPr/>
          <p:nvPr/>
        </p:nvSpPr>
        <p:spPr>
          <a:xfrm>
            <a:off x="6729984" y="423367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平滑升级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PRAGMA user_version 迁移，迁移前自动 zip 备份</a:t>
            </a:r>
            <a:endParaRPr lang="en-US" sz="1350" dirty="0"/>
          </a:p>
        </p:txBody>
      </p:sp>
      <p:sp>
        <p:nvSpPr>
          <p:cNvPr id="86" name="Shape 66"/>
          <p:cNvSpPr/>
          <p:nvPr/>
        </p:nvSpPr>
        <p:spPr>
          <a:xfrm>
            <a:off x="6492240" y="49651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87" name="Text 67"/>
          <p:cNvSpPr/>
          <p:nvPr/>
        </p:nvSpPr>
        <p:spPr>
          <a:xfrm>
            <a:off x="6729984" y="488289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快照轮转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每文档保留最近 30 版，DAO 层自动裁剪</a:t>
            </a:r>
            <a:endParaRPr lang="en-US" sz="1350" dirty="0"/>
          </a:p>
        </p:txBody>
      </p:sp>
      <p:sp>
        <p:nvSpPr>
          <p:cNvPr id="88" name="Shape 68"/>
          <p:cNvSpPr/>
          <p:nvPr/>
        </p:nvSpPr>
        <p:spPr>
          <a:xfrm>
            <a:off x="649224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89" name="Text 69"/>
          <p:cNvSpPr/>
          <p:nvPr/>
        </p:nvSpPr>
        <p:spPr>
          <a:xfrm>
            <a:off x="6729984" y="55321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 自救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索引失配时 rebuild_fts 一键全量重建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 name="Slide 11">
    <p:bg>
      <p:bgPr>
        <a:solidFill>
          <a:srgbClr val="FFFFFF"/>
        </a:solidFill>
      </p:bgPr>
    </p:bg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2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93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94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全文检索：中文切词 + FTS5，20 万字语料秒回</a:t>
            </a:r>
            <a:endParaRPr lang="en-US" sz="2600" dirty="0"/>
          </a:p>
        </p:txBody>
      </p:sp>
      <p:sp>
        <p:nvSpPr>
          <p:cNvPr id="95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96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97" name="Shape 6"/>
          <p:cNvSpPr/>
          <p:nvPr/>
        </p:nvSpPr>
        <p:spPr>
          <a:xfrm>
            <a:off x="45720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8" name="Text 7"/>
          <p:cNvSpPr/>
          <p:nvPr/>
        </p:nvSpPr>
        <p:spPr>
          <a:xfrm>
            <a:off x="56692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</a:t>
            </a:r>
            <a:endParaRPr lang="en-US" sz="12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</a:t>
            </a:r>
            <a:endParaRPr lang="en-US" sz="1250" dirty="0"/>
          </a:p>
        </p:txBody>
      </p:sp>
      <p:sp>
        <p:nvSpPr>
          <p:cNvPr id="99" name="Shape 8"/>
          <p:cNvSpPr/>
          <p:nvPr/>
        </p:nvSpPr>
        <p:spPr>
          <a:xfrm>
            <a:off x="256946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0" name="Shape 9"/>
          <p:cNvSpPr/>
          <p:nvPr/>
        </p:nvSpPr>
        <p:spPr>
          <a:xfrm>
            <a:off x="283464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1" name="Text 10"/>
          <p:cNvSpPr/>
          <p:nvPr/>
        </p:nvSpPr>
        <p:spPr>
          <a:xfrm>
            <a:off x="294436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搜索引擎切词</a:t>
            </a:r>
            <a:endParaRPr lang="en-US" sz="12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lcut_for_search ≤24 词</a:t>
            </a:r>
            <a:endParaRPr lang="en-US" sz="1250" dirty="0"/>
          </a:p>
        </p:txBody>
      </p:sp>
      <p:sp>
        <p:nvSpPr>
          <p:cNvPr id="102" name="Shape 11"/>
          <p:cNvSpPr/>
          <p:nvPr/>
        </p:nvSpPr>
        <p:spPr>
          <a:xfrm>
            <a:off x="494690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3" name="Shape 12"/>
          <p:cNvSpPr/>
          <p:nvPr/>
        </p:nvSpPr>
        <p:spPr>
          <a:xfrm>
            <a:off x="521208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4" name="Text 13"/>
          <p:cNvSpPr/>
          <p:nvPr/>
        </p:nvSpPr>
        <p:spPr>
          <a:xfrm>
            <a:off x="532180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MATCH</a:t>
            </a:r>
            <a:endParaRPr lang="en-US" sz="12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“乡村”AND“振兴”AND“政策”</a:t>
            </a:r>
            <a:endParaRPr lang="en-US" sz="1250" dirty="0"/>
          </a:p>
        </p:txBody>
      </p:sp>
      <p:sp>
        <p:nvSpPr>
          <p:cNvPr id="105" name="Shape 14"/>
          <p:cNvSpPr/>
          <p:nvPr/>
        </p:nvSpPr>
        <p:spPr>
          <a:xfrm>
            <a:off x="732434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6" name="Shape 15"/>
          <p:cNvSpPr/>
          <p:nvPr/>
        </p:nvSpPr>
        <p:spPr>
          <a:xfrm>
            <a:off x="758952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7" name="Text 16"/>
          <p:cNvSpPr/>
          <p:nvPr/>
        </p:nvSpPr>
        <p:spPr>
          <a:xfrm>
            <a:off x="769924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bm25() 相关度排序</a:t>
            </a:r>
            <a:endParaRPr lang="en-US" sz="1250" dirty="0"/>
          </a:p>
          <a:p>
            <a:pPr marL="0" indent="0" algn="ctr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108" name="Shape 17"/>
          <p:cNvSpPr/>
          <p:nvPr/>
        </p:nvSpPr>
        <p:spPr>
          <a:xfrm>
            <a:off x="970178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9" name="Shape 18"/>
          <p:cNvSpPr/>
          <p:nvPr/>
        </p:nvSpPr>
        <p:spPr>
          <a:xfrm>
            <a:off x="996696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9E2B25"/>
          </a:solidFill>
          <a:ln/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0" name="Text 19"/>
          <p:cNvSpPr/>
          <p:nvPr/>
        </p:nvSpPr>
        <p:spPr>
          <a:xfrm>
            <a:off x="1007668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snippet 摘要</a:t>
            </a:r>
            <a:endParaRPr lang="en-US" sz="12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命中词高亮返回</a:t>
            </a:r>
            <a:endParaRPr lang="en-US" sz="1250" dirty="0"/>
          </a:p>
        </p:txBody>
      </p:sp>
      <p:sp>
        <p:nvSpPr>
          <p:cNvPr id="111" name="Shape 20"/>
          <p:cNvSpPr/>
          <p:nvPr/>
        </p:nvSpPr>
        <p:spPr>
          <a:xfrm>
            <a:off x="457200" y="3703320"/>
            <a:ext cx="6675120" cy="1234440"/>
          </a:xfrm>
          <a:prstGeom prst="roundRect">
            <a:avLst>
              <a:gd name="adj" fmla="val 5926"/>
            </a:avLst>
          </a:prstGeom>
          <a:solidFill>
            <a:srgbClr val="1F1917"/>
          </a:solidFill>
          <a:ln/>
        </p:spPr>
        <p:txBody>
          <a:bodyPr/>
          <a:p/>
        </p:txBody>
      </p:sp>
      <p:sp>
        <p:nvSpPr>
          <p:cNvPr id="112" name="Text 21"/>
          <p:cNvSpPr/>
          <p:nvPr/>
        </p:nvSpPr>
        <p:spPr>
          <a:xfrm>
            <a:off x="731520" y="38404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查询构造示例（db/tokenize.py）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 → "乡村" "振兴" "政策"（逐词加引号，隐式 AND）</a:t>
            </a:r>
            <a:endParaRPr lang="en-US" sz="1200" dirty="0"/>
          </a:p>
        </p:txBody>
      </p:sp>
      <p:sp>
        <p:nvSpPr>
          <p:cNvPr id="113" name="Shape 22"/>
          <p:cNvSpPr/>
          <p:nvPr/>
        </p:nvSpPr>
        <p:spPr>
          <a:xfrm>
            <a:off x="7452360" y="3703320"/>
            <a:ext cx="4279392" cy="1234440"/>
          </a:xfrm>
          <a:prstGeom prst="roundRect">
            <a:avLst>
              <a:gd name="adj" fmla="val 5926"/>
            </a:avLst>
          </a:prstGeom>
          <a:solidFill>
            <a:srgbClr val="F5EAE7"/>
          </a:solidFill>
          <a:ln/>
        </p:spPr>
        <p:txBody>
          <a:bodyPr/>
          <a:p/>
        </p:txBody>
      </p:sp>
      <p:sp>
        <p:nvSpPr>
          <p:cNvPr id="114" name="Text 23"/>
          <p:cNvSpPr/>
          <p:nvPr/>
        </p:nvSpPr>
        <p:spPr>
          <a:xfrm>
            <a:off x="7726680" y="382219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篇文档全文检索实测（test_fts_search_speed_and_snippet）</a:t>
            </a:r>
            <a:endParaRPr lang="en-US" sz="3000" dirty="0"/>
          </a:p>
        </p:txBody>
      </p:sp>
      <p:sp>
        <p:nvSpPr>
          <p:cNvPr id="115" name="Shape 24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16" name="Text 25"/>
          <p:cNvSpPr/>
          <p:nvPr/>
        </p:nvSpPr>
        <p:spPr>
          <a:xfrm>
            <a:off x="694944" y="5349240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词典检索特殊优化：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12 万词条不做 FTS，按“精确 0.9 &gt; 前缀 0.8 &gt; 包含 0.7”三段 LIKE 分级，兼顾首启速度与命中质量</a:t>
            </a:r>
            <a:endParaRPr lang="en-US" sz="1350" dirty="0"/>
          </a:p>
        </p:txBody>
      </p:sp>
      <p:sp>
        <p:nvSpPr>
          <p:cNvPr id="117" name="Shape 26"/>
          <p:cNvSpPr/>
          <p:nvPr/>
        </p:nvSpPr>
        <p:spPr>
          <a:xfrm>
            <a:off x="457200" y="5952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18" name="Text 27"/>
          <p:cNvSpPr/>
          <p:nvPr/>
        </p:nvSpPr>
        <p:spPr>
          <a:xfrm>
            <a:off x="694944" y="5870448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资料库检索：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结果带上下文摘要（snippet）与相关度排序，回车即查，上限 100 条，F3 一键聚焦检索框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 name="Slide 12">
    <p:bg>
      <p:bgPr>
        <a:solidFill>
          <a:srgbClr val="FFFFFF"/>
        </a:solidFill>
      </p:bgPr>
    </p:bg>
    <p:spTree>
      <p:nvGrpSpPr>
        <p:cNvPr id="1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21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122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123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线程模型：耗时全后台，界面零卡顿</a:t>
            </a:r>
            <a:endParaRPr lang="en-US" sz="2600" dirty="0"/>
          </a:p>
        </p:txBody>
      </p:sp>
      <p:sp>
        <p:nvSpPr>
          <p:cNvPr id="124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125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126" name="Shape 6"/>
          <p:cNvSpPr/>
          <p:nvPr/>
        </p:nvSpPr>
        <p:spPr>
          <a:xfrm>
            <a:off x="457200" y="1920240"/>
            <a:ext cx="3017520" cy="3566160"/>
          </a:xfrm>
          <a:prstGeom prst="roundRect">
            <a:avLst>
              <a:gd name="adj" fmla="val 2424"/>
            </a:avLst>
          </a:prstGeom>
          <a:solidFill>
            <a:srgbClr val="1F1917"/>
          </a:solidFill>
          <a:ln/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7" name="Text 7"/>
          <p:cNvSpPr/>
          <p:nvPr/>
        </p:nvSpPr>
        <p:spPr>
          <a:xfrm>
            <a:off x="713232" y="2148840"/>
            <a:ext cx="2514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主线程 · UI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只做界面绘制与交互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结果经 Signal 回流更新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600ms 防抖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大纲树 / 公文预览均防抖重建，输入不抖屏</a:t>
            </a:r>
            <a:endParaRPr lang="en-US" sz="1800" dirty="0"/>
          </a:p>
        </p:txBody>
      </p:sp>
      <p:sp>
        <p:nvSpPr>
          <p:cNvPr id="128" name="Shape 8"/>
          <p:cNvSpPr/>
          <p:nvPr/>
        </p:nvSpPr>
        <p:spPr>
          <a:xfrm>
            <a:off x="4709160" y="1920240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29" name="Text 9"/>
          <p:cNvSpPr/>
          <p:nvPr/>
        </p:nvSpPr>
        <p:spPr>
          <a:xfrm>
            <a:off x="4937760" y="1920240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FnWorker　</a:t>
            </a: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通用函数工作器：纠错 / 体检 / 对比 / 查重 / PDF 页渲染</a:t>
            </a:r>
            <a:endParaRPr lang="en-US" sz="1350" dirty="0"/>
          </a:p>
        </p:txBody>
      </p:sp>
      <p:sp>
        <p:nvSpPr>
          <p:cNvPr id="130" name="Shape 10"/>
          <p:cNvSpPr/>
          <p:nvPr/>
        </p:nvSpPr>
        <p:spPr>
          <a:xfrm>
            <a:off x="3474720" y="2295144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1" name="Shape 11"/>
          <p:cNvSpPr/>
          <p:nvPr/>
        </p:nvSpPr>
        <p:spPr>
          <a:xfrm>
            <a:off x="4709160" y="2852928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32" name="Text 12"/>
          <p:cNvSpPr/>
          <p:nvPr/>
        </p:nvSpPr>
        <p:spPr>
          <a:xfrm>
            <a:off x="4937760" y="2852928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ImportWorker　</a:t>
            </a: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批量导入：逐文件进度 + OCR 页级进度，可中途停止</a:t>
            </a:r>
            <a:endParaRPr lang="en-US" sz="1350" dirty="0"/>
          </a:p>
        </p:txBody>
      </p:sp>
      <p:sp>
        <p:nvSpPr>
          <p:cNvPr id="133" name="Shape 13"/>
          <p:cNvSpPr/>
          <p:nvPr/>
        </p:nvSpPr>
        <p:spPr>
          <a:xfrm>
            <a:off x="3474720" y="3227832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4" name="Shape 14"/>
          <p:cNvSpPr/>
          <p:nvPr/>
        </p:nvSpPr>
        <p:spPr>
          <a:xfrm>
            <a:off x="4709160" y="3785616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35" name="Text 15"/>
          <p:cNvSpPr/>
          <p:nvPr/>
        </p:nvSpPr>
        <p:spPr>
          <a:xfrm>
            <a:off x="4937760" y="3785616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CompileWorker 等　</a:t>
            </a: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 / 两遍 PDF 渲染 / 小册子拼版，三大输出各一个</a:t>
            </a:r>
            <a:endParaRPr lang="en-US" sz="1350" dirty="0"/>
          </a:p>
        </p:txBody>
      </p:sp>
      <p:sp>
        <p:nvSpPr>
          <p:cNvPr id="136" name="Shape 16"/>
          <p:cNvSpPr/>
          <p:nvPr/>
        </p:nvSpPr>
        <p:spPr>
          <a:xfrm>
            <a:off x="3474720" y="4160520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7" name="Shape 17"/>
          <p:cNvSpPr/>
          <p:nvPr/>
        </p:nvSpPr>
        <p:spPr>
          <a:xfrm>
            <a:off x="4709160" y="4718304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38" name="Text 18"/>
          <p:cNvSpPr/>
          <p:nvPr/>
        </p:nvSpPr>
        <p:spPr>
          <a:xfrm>
            <a:off x="4937760" y="4718304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TTSWorker　</a:t>
            </a: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逐句朗读，sentence 信号驱动编辑器同步高亮</a:t>
            </a:r>
            <a:endParaRPr lang="en-US" sz="1350" dirty="0"/>
          </a:p>
        </p:txBody>
      </p:sp>
      <p:sp>
        <p:nvSpPr>
          <p:cNvPr id="139" name="Shape 19"/>
          <p:cNvSpPr/>
          <p:nvPr/>
        </p:nvSpPr>
        <p:spPr>
          <a:xfrm>
            <a:off x="3474720" y="5093208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0" name="Text 20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细节：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QImage 可跨线程传递（QPixmap 不行）；SQLite 每线程独立连接；全文替换保留一次撤销。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 name="Slide 13">
    <p:bg>
      <p:bgPr>
        <a:solidFill>
          <a:srgbClr val="1F1917"/>
        </a:solidFill>
      </p:bgPr>
    </p:bg>
    <p:spTree>
      <p:nvGrpSpPr>
        <p:cNvPr id="1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4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14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14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14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3800" dirty="0"/>
          </a:p>
        </p:txBody>
      </p:sp>
      <p:sp>
        <p:nvSpPr>
          <p:cNvPr id="14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八种格式进得来，一座资料库管得住</a:t>
            </a:r>
            <a:endParaRPr lang="en-US" sz="1500" dirty="0"/>
          </a:p>
        </p:txBody>
      </p:sp>
      <p:sp>
        <p:nvSpPr>
          <p:cNvPr id="14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格式解析全部本地完成，扫描件 OCR 内置开箱即用</a:t>
            </a:r>
            <a:endParaRPr lang="en-US" sz="1350" dirty="0"/>
          </a:p>
        </p:txBody>
      </p:sp>
      <p:sp>
        <p:nvSpPr>
          <p:cNvPr id="15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二进制格式四级降级解析，尽力提取</a:t>
            </a:r>
            <a:endParaRPr lang="en-US" sz="1350" dirty="0"/>
          </a:p>
        </p:txBody>
      </p:sp>
      <p:sp>
        <p:nvSpPr>
          <p:cNvPr id="15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标签 + FTS 检索 + 快照版本</a:t>
            </a:r>
            <a:endParaRPr lang="en-US" sz="1350" dirty="0"/>
          </a:p>
        </p:txBody>
      </p:sp>
      <p:sp>
        <p:nvSpPr>
          <p:cNvPr id="15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200" dirty="0"/>
          </a:p>
        </p:txBody>
      </p:sp>
      <p:sp>
        <p:nvSpPr>
          <p:cNvPr id="15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 name="Slide 14">
    <p:bg>
      <p:bgPr>
        <a:solidFill>
          <a:srgbClr val="FFFFFF"/>
        </a:solidFill>
      </p:bgPr>
    </p:bg>
    <p:spTree>
      <p:nvGrpSpPr>
        <p:cNvPr id="1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58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159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160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一站式导入：8 种文档格式 + 图片 OCR</a:t>
            </a:r>
            <a:endParaRPr lang="en-US" sz="2600" dirty="0"/>
          </a:p>
        </p:txBody>
      </p:sp>
      <p:sp>
        <p:nvSpPr>
          <p:cNvPr id="161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200" dirty="0"/>
          </a:p>
        </p:txBody>
      </p:sp>
      <p:sp>
        <p:nvSpPr>
          <p:cNvPr id="162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163" name="Shape 6"/>
          <p:cNvSpPr/>
          <p:nvPr/>
        </p:nvSpPr>
        <p:spPr>
          <a:xfrm>
            <a:off x="4572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164" name="Text 7"/>
          <p:cNvSpPr/>
          <p:nvPr/>
        </p:nvSpPr>
        <p:spPr>
          <a:xfrm>
            <a:off x="5303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</a:t>
            </a:r>
            <a:endParaRPr lang="en-US" sz="1300" dirty="0"/>
          </a:p>
        </p:txBody>
      </p:sp>
      <p:sp>
        <p:nvSpPr>
          <p:cNvPr id="165" name="Shape 8"/>
          <p:cNvSpPr/>
          <p:nvPr/>
        </p:nvSpPr>
        <p:spPr>
          <a:xfrm>
            <a:off x="15544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166" name="Text 9"/>
          <p:cNvSpPr/>
          <p:nvPr/>
        </p:nvSpPr>
        <p:spPr>
          <a:xfrm>
            <a:off x="16276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</a:t>
            </a:r>
            <a:endParaRPr lang="en-US" sz="1300" dirty="0"/>
          </a:p>
        </p:txBody>
      </p:sp>
      <p:sp>
        <p:nvSpPr>
          <p:cNvPr id="167" name="Shape 10"/>
          <p:cNvSpPr/>
          <p:nvPr/>
        </p:nvSpPr>
        <p:spPr>
          <a:xfrm>
            <a:off x="26517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168" name="Text 11"/>
          <p:cNvSpPr/>
          <p:nvPr/>
        </p:nvSpPr>
        <p:spPr>
          <a:xfrm>
            <a:off x="27249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</a:t>
            </a:r>
            <a:endParaRPr lang="en-US" sz="1300" dirty="0"/>
          </a:p>
        </p:txBody>
      </p:sp>
      <p:sp>
        <p:nvSpPr>
          <p:cNvPr id="169" name="Shape 12"/>
          <p:cNvSpPr/>
          <p:nvPr/>
        </p:nvSpPr>
        <p:spPr>
          <a:xfrm>
            <a:off x="374904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170" name="Text 13"/>
          <p:cNvSpPr/>
          <p:nvPr/>
        </p:nvSpPr>
        <p:spPr>
          <a:xfrm>
            <a:off x="382219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txt</a:t>
            </a:r>
            <a:endParaRPr lang="en-US" sz="1300" dirty="0"/>
          </a:p>
        </p:txBody>
      </p:sp>
      <p:sp>
        <p:nvSpPr>
          <p:cNvPr id="171" name="Shape 14"/>
          <p:cNvSpPr/>
          <p:nvPr/>
        </p:nvSpPr>
        <p:spPr>
          <a:xfrm>
            <a:off x="484632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172" name="Text 15"/>
          <p:cNvSpPr/>
          <p:nvPr/>
        </p:nvSpPr>
        <p:spPr>
          <a:xfrm>
            <a:off x="491947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rtf</a:t>
            </a:r>
            <a:endParaRPr lang="en-US" sz="1300" dirty="0"/>
          </a:p>
        </p:txBody>
      </p:sp>
      <p:sp>
        <p:nvSpPr>
          <p:cNvPr id="173" name="Shape 16"/>
          <p:cNvSpPr/>
          <p:nvPr/>
        </p:nvSpPr>
        <p:spPr>
          <a:xfrm>
            <a:off x="59436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174" name="Text 17"/>
          <p:cNvSpPr/>
          <p:nvPr/>
        </p:nvSpPr>
        <p:spPr>
          <a:xfrm>
            <a:off x="60167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  <a:endParaRPr lang="en-US" sz="1300" dirty="0"/>
          </a:p>
        </p:txBody>
      </p:sp>
      <p:sp>
        <p:nvSpPr>
          <p:cNvPr id="175" name="Shape 18"/>
          <p:cNvSpPr/>
          <p:nvPr/>
        </p:nvSpPr>
        <p:spPr>
          <a:xfrm>
            <a:off x="70408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176" name="Text 19"/>
          <p:cNvSpPr/>
          <p:nvPr/>
        </p:nvSpPr>
        <p:spPr>
          <a:xfrm>
            <a:off x="71140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</a:t>
            </a:r>
            <a:endParaRPr lang="en-US" sz="1300" dirty="0"/>
          </a:p>
        </p:txBody>
      </p:sp>
      <p:sp>
        <p:nvSpPr>
          <p:cNvPr id="177" name="Shape 20"/>
          <p:cNvSpPr/>
          <p:nvPr/>
        </p:nvSpPr>
        <p:spPr>
          <a:xfrm>
            <a:off x="81381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5EAE7"/>
          </a:solidFill>
          <a:ln/>
        </p:spPr>
        <p:txBody>
          <a:bodyPr/>
          <a:p/>
        </p:txBody>
      </p:sp>
      <p:sp>
        <p:nvSpPr>
          <p:cNvPr id="178" name="Text 21"/>
          <p:cNvSpPr/>
          <p:nvPr/>
        </p:nvSpPr>
        <p:spPr>
          <a:xfrm>
            <a:off x="82113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</a:t>
            </a:r>
            <a:endParaRPr lang="en-US" sz="1300" dirty="0"/>
          </a:p>
        </p:txBody>
      </p:sp>
      <p:sp>
        <p:nvSpPr>
          <p:cNvPr id="179" name="Shape 22"/>
          <p:cNvSpPr/>
          <p:nvPr/>
        </p:nvSpPr>
        <p:spPr>
          <a:xfrm>
            <a:off x="9235440" y="178308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  <p:txBody>
          <a:bodyPr/>
          <a:p/>
        </p:txBody>
      </p:sp>
      <p:sp>
        <p:nvSpPr>
          <p:cNvPr id="180" name="Text 23"/>
          <p:cNvSpPr/>
          <p:nvPr/>
        </p:nvSpPr>
        <p:spPr>
          <a:xfrm>
            <a:off x="9308592" y="178308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png/jpg/bmp/tif</a:t>
            </a:r>
            <a:endParaRPr lang="en-US" sz="1300" dirty="0"/>
          </a:p>
        </p:txBody>
      </p:sp>
      <p:sp>
        <p:nvSpPr>
          <p:cNvPr id="181" name="Text 24"/>
          <p:cNvSpPr/>
          <p:nvPr/>
        </p:nvSpPr>
        <p:spPr>
          <a:xfrm>
            <a:off x="457200" y="248716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种格式直读（.wps 按内容嗅探路由，装 WPS 机器 COM 保真）　·　图片 4 类走内置 OCR（Tesseract + chi_sim 随安装包分发）</a:t>
            </a:r>
            <a:endParaRPr lang="en-US" sz="1250" dirty="0"/>
          </a:p>
        </p:txBody>
      </p:sp>
      <p:sp>
        <p:nvSpPr>
          <p:cNvPr id="182" name="Shape 25"/>
          <p:cNvSpPr/>
          <p:nvPr/>
        </p:nvSpPr>
        <p:spPr>
          <a:xfrm>
            <a:off x="457200" y="3145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83" name="Text 26"/>
          <p:cNvSpPr/>
          <p:nvPr/>
        </p:nvSpPr>
        <p:spPr>
          <a:xfrm>
            <a:off x="694944" y="3063240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拖拽即进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支持拖入文件或整个文件夹（递归扫描），也可从右键菜单 / 剪贴板一键入库</a:t>
            </a:r>
            <a:endParaRPr lang="en-US" sz="1350" dirty="0"/>
          </a:p>
        </p:txBody>
      </p:sp>
      <p:sp>
        <p:nvSpPr>
          <p:cNvPr id="184" name="Shape 27"/>
          <p:cNvSpPr/>
          <p:nvPr/>
        </p:nvSpPr>
        <p:spPr>
          <a:xfrm>
            <a:off x="457200" y="3767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85" name="Text 28"/>
          <p:cNvSpPr/>
          <p:nvPr/>
        </p:nvSpPr>
        <p:spPr>
          <a:xfrm>
            <a:off x="694944" y="3685032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后台解析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ImportWorker 逐个解析入库，进度条含“OCR 第 x/y 页”页级反馈，可中途停止</a:t>
            </a:r>
            <a:endParaRPr lang="en-US" sz="1350" dirty="0"/>
          </a:p>
        </p:txBody>
      </p:sp>
      <p:sp>
        <p:nvSpPr>
          <p:cNvPr id="186" name="Shape 29"/>
          <p:cNvSpPr/>
          <p:nvPr/>
        </p:nvSpPr>
        <p:spPr>
          <a:xfrm>
            <a:off x="457200" y="43891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87" name="Text 30"/>
          <p:cNvSpPr/>
          <p:nvPr/>
        </p:nvSpPr>
        <p:spPr>
          <a:xfrm>
            <a:off x="694944" y="4306824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指纹，重复内容自动跳过；完成统计“成功 N / 重复失败 M”</a:t>
            </a:r>
            <a:endParaRPr lang="en-US" sz="1350" dirty="0"/>
          </a:p>
        </p:txBody>
      </p:sp>
      <p:sp>
        <p:nvSpPr>
          <p:cNvPr id="188" name="Shape 31"/>
          <p:cNvSpPr/>
          <p:nvPr/>
        </p:nvSpPr>
        <p:spPr>
          <a:xfrm>
            <a:off x="457200" y="501091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89" name="Text 32"/>
          <p:cNvSpPr/>
          <p:nvPr/>
        </p:nvSpPr>
        <p:spPr>
          <a:xfrm>
            <a:off x="694944" y="4928616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失败友好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扫描版 PDF 无文字层时自动走内置 OCR；中文包随安装包内置，缺包场景（源码运行）返回可操作指引而非静默空白</a:t>
            </a:r>
            <a:endParaRPr lang="en-US" sz="1350" dirty="0"/>
          </a:p>
        </p:txBody>
      </p:sp>
      <p:sp>
        <p:nvSpPr>
          <p:cNvPr id="190" name="Shape 33"/>
          <p:cNvSpPr/>
          <p:nvPr/>
        </p:nvSpPr>
        <p:spPr>
          <a:xfrm>
            <a:off x="457200" y="56327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91" name="Text 34"/>
          <p:cNvSpPr/>
          <p:nvPr/>
        </p:nvSpPr>
        <p:spPr>
          <a:xfrm>
            <a:off x="694944" y="5550408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标题识别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复用公文编号正则识别“一、（一）1.”标题层级，首行 ≤50 字提为文档标题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 name="Slide 15">
    <p:bg>
      <p:bgPr>
        <a:solidFill>
          <a:srgbClr val="FFFFFF"/>
        </a:solidFill>
      </p:bgPr>
    </p:bg>
    <p:spTree>
      <p:nvGrpSpPr>
        <p:cNvPr id="1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94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195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196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最难啃的 .doc：四级降级解析链，尽力而为</a:t>
            </a:r>
            <a:endParaRPr lang="en-US" sz="2600" dirty="0"/>
          </a:p>
        </p:txBody>
      </p:sp>
      <p:sp>
        <p:nvSpPr>
          <p:cNvPr id="197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198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199" name="Shape 6"/>
          <p:cNvSpPr/>
          <p:nvPr/>
        </p:nvSpPr>
        <p:spPr>
          <a:xfrm>
            <a:off x="457200" y="178308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00" name="Text 7"/>
          <p:cNvSpPr/>
          <p:nvPr/>
        </p:nvSpPr>
        <p:spPr>
          <a:xfrm>
            <a:off x="685800" y="184708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本机办公软件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 调用 WPS / WPS 个人版 / Word，另存为 DOCX</a:t>
            </a:r>
            <a:endParaRPr lang="en-US" sz="1400" dirty="0"/>
          </a:p>
        </p:txBody>
      </p:sp>
      <p:sp>
        <p:nvSpPr>
          <p:cNvPr id="201" name="Shape 8"/>
          <p:cNvSpPr/>
          <p:nvPr/>
        </p:nvSpPr>
        <p:spPr>
          <a:xfrm>
            <a:off x="9189720" y="196596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  <p:txBody>
          <a:bodyPr/>
          <a:p/>
        </p:txBody>
      </p:sp>
      <p:sp>
        <p:nvSpPr>
          <p:cNvPr id="202" name="Text 9"/>
          <p:cNvSpPr/>
          <p:nvPr/>
        </p:nvSpPr>
        <p:spPr>
          <a:xfrm>
            <a:off x="9262872" y="196596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效果最佳</a:t>
            </a:r>
            <a:endParaRPr lang="en-US" sz="1150" dirty="0"/>
          </a:p>
        </p:txBody>
      </p:sp>
      <p:sp>
        <p:nvSpPr>
          <p:cNvPr id="203" name="Shape 10"/>
          <p:cNvSpPr/>
          <p:nvPr/>
        </p:nvSpPr>
        <p:spPr>
          <a:xfrm>
            <a:off x="868680" y="268833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4" name="Shape 11"/>
          <p:cNvSpPr/>
          <p:nvPr/>
        </p:nvSpPr>
        <p:spPr>
          <a:xfrm>
            <a:off x="457200" y="283464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05" name="Text 12"/>
          <p:cNvSpPr/>
          <p:nvPr/>
        </p:nvSpPr>
        <p:spPr>
          <a:xfrm>
            <a:off x="685800" y="289864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LibreOffice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soffice --headless --convert-to docx 无窗口转换</a:t>
            </a:r>
            <a:endParaRPr lang="en-US" sz="1400" dirty="0"/>
          </a:p>
        </p:txBody>
      </p:sp>
      <p:sp>
        <p:nvSpPr>
          <p:cNvPr id="206" name="Shape 13"/>
          <p:cNvSpPr/>
          <p:nvPr/>
        </p:nvSpPr>
        <p:spPr>
          <a:xfrm>
            <a:off x="9189720" y="301752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  <p:txBody>
          <a:bodyPr/>
          <a:p/>
        </p:txBody>
      </p:sp>
      <p:sp>
        <p:nvSpPr>
          <p:cNvPr id="207" name="Text 14"/>
          <p:cNvSpPr/>
          <p:nvPr/>
        </p:nvSpPr>
        <p:spPr>
          <a:xfrm>
            <a:off x="9262872" y="301752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次优</a:t>
            </a:r>
            <a:endParaRPr lang="en-US" sz="1150" dirty="0"/>
          </a:p>
        </p:txBody>
      </p:sp>
      <p:sp>
        <p:nvSpPr>
          <p:cNvPr id="208" name="Shape 15"/>
          <p:cNvSpPr/>
          <p:nvPr/>
        </p:nvSpPr>
        <p:spPr>
          <a:xfrm>
            <a:off x="868680" y="373989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9" name="Shape 16"/>
          <p:cNvSpPr/>
          <p:nvPr/>
        </p:nvSpPr>
        <p:spPr>
          <a:xfrm>
            <a:off x="457200" y="388620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10" name="Text 17"/>
          <p:cNvSpPr/>
          <p:nvPr/>
        </p:nvSpPr>
        <p:spPr>
          <a:xfrm>
            <a:off x="685800" y="395020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纯 Python 硬解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olefile 读 WordDocument 流：FIB → fcClx → 分片表，UTF-16 / cp1252 解码</a:t>
            </a:r>
            <a:endParaRPr lang="en-US" sz="1400" dirty="0"/>
          </a:p>
        </p:txBody>
      </p:sp>
      <p:sp>
        <p:nvSpPr>
          <p:cNvPr id="211" name="Shape 18"/>
          <p:cNvSpPr/>
          <p:nvPr/>
        </p:nvSpPr>
        <p:spPr>
          <a:xfrm>
            <a:off x="9189720" y="406908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  <p:txBody>
          <a:bodyPr/>
          <a:p/>
        </p:txBody>
      </p:sp>
      <p:sp>
        <p:nvSpPr>
          <p:cNvPr id="212" name="Text 19"/>
          <p:cNvSpPr/>
          <p:nvPr/>
        </p:nvSpPr>
        <p:spPr>
          <a:xfrm>
            <a:off x="9262872" y="406908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95% 完整率</a:t>
            </a:r>
            <a:endParaRPr lang="en-US" sz="1150" dirty="0"/>
          </a:p>
        </p:txBody>
      </p:sp>
      <p:sp>
        <p:nvSpPr>
          <p:cNvPr id="213" name="Shape 20"/>
          <p:cNvSpPr/>
          <p:nvPr/>
        </p:nvSpPr>
        <p:spPr>
          <a:xfrm>
            <a:off x="868680" y="479145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4" name="Shape 21"/>
          <p:cNvSpPr/>
          <p:nvPr/>
        </p:nvSpPr>
        <p:spPr>
          <a:xfrm>
            <a:off x="457200" y="493776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  <p:txBody>
          <a:bodyPr/>
          <a:p/>
        </p:txBody>
      </p:sp>
      <p:sp>
        <p:nvSpPr>
          <p:cNvPr id="215" name="Text 22"/>
          <p:cNvSpPr/>
          <p:nvPr/>
        </p:nvSpPr>
        <p:spPr>
          <a:xfrm>
            <a:off x="685800" y="500176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原始扫描兜底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字节步长扫描 UTF-16 中文片段，连续 ≥8 字符才收录</a:t>
            </a:r>
            <a:endParaRPr lang="en-US" sz="1400" dirty="0"/>
          </a:p>
        </p:txBody>
      </p:sp>
      <p:sp>
        <p:nvSpPr>
          <p:cNvPr id="216" name="Shape 23"/>
          <p:cNvSpPr/>
          <p:nvPr/>
        </p:nvSpPr>
        <p:spPr>
          <a:xfrm>
            <a:off x="9189720" y="512064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217" name="Text 24"/>
          <p:cNvSpPr/>
          <p:nvPr/>
        </p:nvSpPr>
        <p:spPr>
          <a:xfrm>
            <a:off x="9262872" y="512064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保底不空手</a:t>
            </a:r>
            <a:endParaRPr lang="en-US" sz="1150" dirty="0"/>
          </a:p>
        </p:txBody>
      </p:sp>
      <p:sp>
        <p:nvSpPr>
          <p:cNvPr id="218" name="Shape 25"/>
          <p:cNvSpPr/>
          <p:nvPr/>
        </p:nvSpPr>
        <p:spPr>
          <a:xfrm>
            <a:off x="457200" y="5870448"/>
            <a:ext cx="11247120" cy="475488"/>
          </a:xfrm>
          <a:prstGeom prst="roundRect">
            <a:avLst>
              <a:gd name="adj" fmla="val 13462"/>
            </a:avLst>
          </a:prstGeom>
          <a:solidFill>
            <a:srgbClr val="1F1917"/>
          </a:solidFill>
          <a:ln/>
        </p:spPr>
        <p:txBody>
          <a:bodyPr/>
          <a:p/>
        </p:txBody>
      </p:sp>
      <p:sp>
        <p:nvSpPr>
          <p:cNvPr id="219" name="Text 26"/>
          <p:cNvSpPr/>
          <p:nvPr/>
        </p:nvSpPr>
        <p:spPr>
          <a:xfrm>
            <a:off x="731520" y="587044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设计哲学：</a:t>
            </a: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不挑环境 —— 装了 WPS 用 WPS，装了 Office 用 Office，什么都没有也能靠纯解析把文字捞出来。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 name="Slide 16">
    <p:bg>
      <p:bgPr>
        <a:solidFill>
          <a:srgbClr val="FFFFFF"/>
        </a:solidFill>
      </p:bgPr>
    </p:bg>
    <p:spTree>
      <p:nvGrpSpPr>
        <p:cNvPr id="2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222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223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224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资料库：像管档案一样管材料</a:t>
            </a:r>
            <a:endParaRPr lang="en-US" sz="2600" dirty="0"/>
          </a:p>
        </p:txBody>
      </p:sp>
      <p:sp>
        <p:nvSpPr>
          <p:cNvPr id="225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200" dirty="0"/>
          </a:p>
        </p:txBody>
      </p:sp>
      <p:sp>
        <p:nvSpPr>
          <p:cNvPr id="226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227" name="Shape 6"/>
          <p:cNvSpPr/>
          <p:nvPr/>
        </p:nvSpPr>
        <p:spPr>
          <a:xfrm>
            <a:off x="457200" y="1737360"/>
            <a:ext cx="4297680" cy="4434840"/>
          </a:xfrm>
          <a:prstGeom prst="roundRect">
            <a:avLst>
              <a:gd name="adj" fmla="val 1702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28" name="Text 7"/>
          <p:cNvSpPr/>
          <p:nvPr/>
        </p:nvSpPr>
        <p:spPr>
          <a:xfrm>
            <a:off x="68580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分类树（右键管理）</a:t>
            </a:r>
            <a:endParaRPr lang="en-US" sz="1300" dirty="0"/>
          </a:p>
        </p:txBody>
      </p:sp>
      <p:sp>
        <p:nvSpPr>
          <p:cNvPr id="229" name="Shape 8"/>
          <p:cNvSpPr/>
          <p:nvPr/>
        </p:nvSpPr>
        <p:spPr>
          <a:xfrm>
            <a:off x="685800" y="233172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230" name="Text 9"/>
          <p:cNvSpPr/>
          <p:nvPr/>
        </p:nvSpPr>
        <p:spPr>
          <a:xfrm>
            <a:off x="82296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▾ 全部文档（128）</a:t>
            </a:r>
            <a:endParaRPr lang="en-US" sz="1200" dirty="0"/>
          </a:p>
        </p:txBody>
      </p:sp>
      <p:sp>
        <p:nvSpPr>
          <p:cNvPr id="231" name="Shape 10"/>
          <p:cNvSpPr/>
          <p:nvPr/>
        </p:nvSpPr>
        <p:spPr>
          <a:xfrm>
            <a:off x="685800" y="28986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  <p:txBody>
          <a:bodyPr/>
          <a:p/>
        </p:txBody>
      </p:sp>
      <p:sp>
        <p:nvSpPr>
          <p:cNvPr id="232" name="Text 11"/>
          <p:cNvSpPr/>
          <p:nvPr/>
        </p:nvSpPr>
        <p:spPr>
          <a:xfrm>
            <a:off x="822960" y="28986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办公室</a:t>
            </a:r>
            <a:endParaRPr lang="en-US" sz="1200" dirty="0"/>
          </a:p>
        </p:txBody>
      </p:sp>
      <p:sp>
        <p:nvSpPr>
          <p:cNvPr id="233" name="Shape 12"/>
          <p:cNvSpPr/>
          <p:nvPr/>
        </p:nvSpPr>
        <p:spPr>
          <a:xfrm>
            <a:off x="1188720" y="3465576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  <p:txBody>
          <a:bodyPr/>
          <a:p/>
        </p:txBody>
      </p:sp>
      <p:sp>
        <p:nvSpPr>
          <p:cNvPr id="234" name="Text 13"/>
          <p:cNvSpPr/>
          <p:nvPr/>
        </p:nvSpPr>
        <p:spPr>
          <a:xfrm>
            <a:off x="1325880" y="346557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通知 (32)</a:t>
            </a:r>
            <a:endParaRPr lang="en-US" sz="1200" dirty="0"/>
          </a:p>
        </p:txBody>
      </p:sp>
      <p:sp>
        <p:nvSpPr>
          <p:cNvPr id="235" name="Shape 14"/>
          <p:cNvSpPr/>
          <p:nvPr/>
        </p:nvSpPr>
        <p:spPr>
          <a:xfrm>
            <a:off x="1188720" y="4032504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  <p:txBody>
          <a:bodyPr/>
          <a:p/>
        </p:txBody>
      </p:sp>
      <p:sp>
        <p:nvSpPr>
          <p:cNvPr id="236" name="Text 15"/>
          <p:cNvSpPr/>
          <p:nvPr/>
        </p:nvSpPr>
        <p:spPr>
          <a:xfrm>
            <a:off x="1325880" y="40325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请示 (11)</a:t>
            </a:r>
            <a:endParaRPr lang="en-US" sz="1200" dirty="0"/>
          </a:p>
        </p:txBody>
      </p:sp>
      <p:sp>
        <p:nvSpPr>
          <p:cNvPr id="237" name="Shape 16"/>
          <p:cNvSpPr/>
          <p:nvPr/>
        </p:nvSpPr>
        <p:spPr>
          <a:xfrm>
            <a:off x="685800" y="4599432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  <p:txBody>
          <a:bodyPr/>
          <a:p/>
        </p:txBody>
      </p:sp>
      <p:sp>
        <p:nvSpPr>
          <p:cNvPr id="238" name="Text 17"/>
          <p:cNvSpPr/>
          <p:nvPr/>
        </p:nvSpPr>
        <p:spPr>
          <a:xfrm>
            <a:off x="822960" y="4599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政策文件</a:t>
            </a:r>
            <a:endParaRPr lang="en-US" sz="1200" dirty="0"/>
          </a:p>
        </p:txBody>
      </p:sp>
      <p:sp>
        <p:nvSpPr>
          <p:cNvPr id="239" name="Shape 18"/>
          <p:cNvSpPr/>
          <p:nvPr/>
        </p:nvSpPr>
        <p:spPr>
          <a:xfrm>
            <a:off x="1188720" y="5166360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  <p:txBody>
          <a:bodyPr/>
          <a:p/>
        </p:txBody>
      </p:sp>
      <p:sp>
        <p:nvSpPr>
          <p:cNvPr id="240" name="Text 19"/>
          <p:cNvSpPr/>
          <p:nvPr/>
        </p:nvSpPr>
        <p:spPr>
          <a:xfrm>
            <a:off x="1325880" y="5166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上级来文 (46)</a:t>
            </a:r>
            <a:endParaRPr lang="en-US" sz="1200" dirty="0"/>
          </a:p>
        </p:txBody>
      </p:sp>
      <p:sp>
        <p:nvSpPr>
          <p:cNvPr id="241" name="Shape 20"/>
          <p:cNvSpPr/>
          <p:nvPr/>
        </p:nvSpPr>
        <p:spPr>
          <a:xfrm>
            <a:off x="685800" y="573328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  <p:txBody>
          <a:bodyPr/>
          <a:p/>
        </p:txBody>
      </p:sp>
      <p:sp>
        <p:nvSpPr>
          <p:cNvPr id="242" name="Text 21"/>
          <p:cNvSpPr/>
          <p:nvPr/>
        </p:nvSpPr>
        <p:spPr>
          <a:xfrm>
            <a:off x="822960" y="57332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未分类 (39)</a:t>
            </a:r>
            <a:endParaRPr lang="en-US" sz="1200" dirty="0"/>
          </a:p>
        </p:txBody>
      </p:sp>
      <p:sp>
        <p:nvSpPr>
          <p:cNvPr id="243" name="Shape 22"/>
          <p:cNvSpPr/>
          <p:nvPr/>
        </p:nvSpPr>
        <p:spPr>
          <a:xfrm>
            <a:off x="5120640" y="1892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244" name="Text 23"/>
          <p:cNvSpPr/>
          <p:nvPr/>
        </p:nvSpPr>
        <p:spPr>
          <a:xfrm>
            <a:off x="5358384" y="181051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回车即查，FTS5 + bm25 排序 + 摘要高亮，上限 100 条</a:t>
            </a:r>
            <a:endParaRPr lang="en-US" sz="1350" dirty="0"/>
          </a:p>
        </p:txBody>
      </p:sp>
      <p:sp>
        <p:nvSpPr>
          <p:cNvPr id="245" name="Shape 24"/>
          <p:cNvSpPr/>
          <p:nvPr/>
        </p:nvSpPr>
        <p:spPr>
          <a:xfrm>
            <a:off x="5120640" y="2642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246" name="Text 25"/>
          <p:cNvSpPr/>
          <p:nvPr/>
        </p:nvSpPr>
        <p:spPr>
          <a:xfrm>
            <a:off x="5358384" y="2560320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多级整理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分类树右键增删改；删除分类时文档自动归入未分类</a:t>
            </a:r>
            <a:endParaRPr lang="en-US" sz="1350" dirty="0"/>
          </a:p>
        </p:txBody>
      </p:sp>
      <p:sp>
        <p:nvSpPr>
          <p:cNvPr id="247" name="Shape 26"/>
          <p:cNvSpPr/>
          <p:nvPr/>
        </p:nvSpPr>
        <p:spPr>
          <a:xfrm>
            <a:off x="5120640" y="3392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248" name="Text 27"/>
          <p:cNvSpPr/>
          <p:nvPr/>
        </p:nvSpPr>
        <p:spPr>
          <a:xfrm>
            <a:off x="5358384" y="3310128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标签与过滤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条目显示“标题 [类型] 字数 #标签”；按类型动态过滤</a:t>
            </a:r>
            <a:endParaRPr lang="en-US" sz="1350" dirty="0"/>
          </a:p>
        </p:txBody>
      </p:sp>
      <p:sp>
        <p:nvSpPr>
          <p:cNvPr id="249" name="Shape 28"/>
          <p:cNvSpPr/>
          <p:nvPr/>
        </p:nvSpPr>
        <p:spPr>
          <a:xfrm>
            <a:off x="5120640" y="41422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250" name="Text 29"/>
          <p:cNvSpPr/>
          <p:nvPr/>
        </p:nvSpPr>
        <p:spPr>
          <a:xfrm>
            <a:off x="5358384" y="4059936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四种排序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导入时间 / 标题 / 字数 / 最近更新一键切换</a:t>
            </a:r>
            <a:endParaRPr lang="en-US" sz="1350" dirty="0"/>
          </a:p>
        </p:txBody>
      </p:sp>
      <p:sp>
        <p:nvSpPr>
          <p:cNvPr id="251" name="Shape 30"/>
          <p:cNvSpPr/>
          <p:nvPr/>
        </p:nvSpPr>
        <p:spPr>
          <a:xfrm>
            <a:off x="5120640" y="48920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252" name="Text 31"/>
          <p:cNvSpPr/>
          <p:nvPr/>
        </p:nvSpPr>
        <p:spPr>
          <a:xfrm>
            <a:off x="5358384" y="4809744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批量操作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多选后批量删除；导出为 TXT；移动到指定分类</a:t>
            </a:r>
            <a:endParaRPr lang="en-US" sz="1350" dirty="0"/>
          </a:p>
        </p:txBody>
      </p:sp>
      <p:sp>
        <p:nvSpPr>
          <p:cNvPr id="253" name="Shape 32"/>
          <p:cNvSpPr/>
          <p:nvPr/>
        </p:nvSpPr>
        <p:spPr>
          <a:xfrm>
            <a:off x="5120640" y="56418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254" name="Text 33"/>
          <p:cNvSpPr/>
          <p:nvPr/>
        </p:nvSpPr>
        <p:spPr>
          <a:xfrm>
            <a:off x="5358384" y="555955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版本守护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打开即看历史快照（30 版），差异预览后一键回滚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 name="Slide 17">
    <p:bg>
      <p:bgPr>
        <a:solidFill>
          <a:srgbClr val="1F1917"/>
        </a:solidFill>
      </p:bgPr>
    </p:bg>
    <p:spTree>
      <p:nvGrpSpPr>
        <p:cNvPr id="25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257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258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259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260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3800" dirty="0"/>
          </a:p>
        </p:txBody>
      </p:sp>
      <p:sp>
        <p:nvSpPr>
          <p:cNvPr id="261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从“憋公文”到“填公文”：骨架、工具、参考、纠错</a:t>
            </a:r>
            <a:endParaRPr lang="en-US" sz="1500" dirty="0"/>
          </a:p>
        </p:txBody>
      </p:sp>
      <p:sp>
        <p:nvSpPr>
          <p:cNvPr id="262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63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种军队机关公文文种骨架，填要素即成稿</a:t>
            </a:r>
            <a:endParaRPr lang="en-US" sz="1350" dirty="0"/>
          </a:p>
        </p:txBody>
      </p:sp>
      <p:sp>
        <p:nvSpPr>
          <p:cNvPr id="264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65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写作参考三库联合检索，双击插入</a:t>
            </a:r>
            <a:endParaRPr lang="en-US" sz="1350" dirty="0"/>
          </a:p>
        </p:txBody>
      </p:sp>
      <p:sp>
        <p:nvSpPr>
          <p:cNvPr id="266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67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+ 三道误报防线</a:t>
            </a:r>
            <a:endParaRPr lang="en-US" sz="1350" dirty="0"/>
          </a:p>
        </p:txBody>
      </p:sp>
      <p:sp>
        <p:nvSpPr>
          <p:cNvPr id="268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200" dirty="0"/>
          </a:p>
        </p:txBody>
      </p:sp>
      <p:sp>
        <p:nvSpPr>
          <p:cNvPr id="269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 name="Slide 18">
    <p:bg>
      <p:bgPr>
        <a:solidFill>
          <a:srgbClr val="FFFFFF"/>
        </a:solidFill>
      </p:bgPr>
    </p:bg>
    <p:spTree>
      <p:nvGrpSpPr>
        <p:cNvPr id="2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272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273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274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新建公文：12 种军队机关公文文种骨架全覆盖</a:t>
            </a:r>
            <a:endParaRPr lang="en-US" sz="2600" dirty="0"/>
          </a:p>
        </p:txBody>
      </p:sp>
      <p:sp>
        <p:nvSpPr>
          <p:cNvPr id="275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200" dirty="0"/>
          </a:p>
        </p:txBody>
      </p:sp>
      <p:sp>
        <p:nvSpPr>
          <p:cNvPr id="276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277" name="Shape 6"/>
          <p:cNvSpPr/>
          <p:nvPr/>
        </p:nvSpPr>
        <p:spPr>
          <a:xfrm>
            <a:off x="457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78" name="Text 7"/>
          <p:cNvSpPr/>
          <p:nvPr/>
        </p:nvSpPr>
        <p:spPr>
          <a:xfrm>
            <a:off x="585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01  </a:t>
            </a: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</a:t>
            </a:r>
            <a:endParaRPr lang="en-US" sz="1100" dirty="0"/>
          </a:p>
        </p:txBody>
      </p:sp>
      <p:sp>
        <p:nvSpPr>
          <p:cNvPr id="279" name="Shape 8"/>
          <p:cNvSpPr/>
          <p:nvPr/>
        </p:nvSpPr>
        <p:spPr>
          <a:xfrm>
            <a:off x="2743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80" name="Text 9"/>
          <p:cNvSpPr/>
          <p:nvPr/>
        </p:nvSpPr>
        <p:spPr>
          <a:xfrm>
            <a:off x="2871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02  </a:t>
            </a: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通令</a:t>
            </a:r>
            <a:endParaRPr lang="en-US" sz="1100" dirty="0"/>
          </a:p>
        </p:txBody>
      </p:sp>
      <p:sp>
        <p:nvSpPr>
          <p:cNvPr id="281" name="Shape 10"/>
          <p:cNvSpPr/>
          <p:nvPr/>
        </p:nvSpPr>
        <p:spPr>
          <a:xfrm>
            <a:off x="5029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82" name="Text 11"/>
          <p:cNvSpPr/>
          <p:nvPr/>
        </p:nvSpPr>
        <p:spPr>
          <a:xfrm>
            <a:off x="5157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03  </a:t>
            </a: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</a:t>
            </a:r>
            <a:endParaRPr lang="en-US" sz="1100" dirty="0"/>
          </a:p>
        </p:txBody>
      </p:sp>
      <p:sp>
        <p:nvSpPr>
          <p:cNvPr id="283" name="Shape 12"/>
          <p:cNvSpPr/>
          <p:nvPr/>
        </p:nvSpPr>
        <p:spPr>
          <a:xfrm>
            <a:off x="7315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84" name="Text 13"/>
          <p:cNvSpPr/>
          <p:nvPr/>
        </p:nvSpPr>
        <p:spPr>
          <a:xfrm>
            <a:off x="7443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04  </a:t>
            </a: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指示</a:t>
            </a:r>
            <a:endParaRPr lang="en-US" sz="1100" dirty="0"/>
          </a:p>
        </p:txBody>
      </p:sp>
      <p:sp>
        <p:nvSpPr>
          <p:cNvPr id="285" name="Shape 14"/>
          <p:cNvSpPr/>
          <p:nvPr/>
        </p:nvSpPr>
        <p:spPr>
          <a:xfrm>
            <a:off x="9601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86" name="Text 15"/>
          <p:cNvSpPr/>
          <p:nvPr/>
        </p:nvSpPr>
        <p:spPr>
          <a:xfrm>
            <a:off x="9729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05  </a:t>
            </a: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endParaRPr lang="en-US" sz="1100" dirty="0"/>
          </a:p>
        </p:txBody>
      </p:sp>
      <p:sp>
        <p:nvSpPr>
          <p:cNvPr id="287" name="Shape 16"/>
          <p:cNvSpPr/>
          <p:nvPr/>
        </p:nvSpPr>
        <p:spPr>
          <a:xfrm>
            <a:off x="457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88" name="Text 17"/>
          <p:cNvSpPr/>
          <p:nvPr/>
        </p:nvSpPr>
        <p:spPr>
          <a:xfrm>
            <a:off x="585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06  </a:t>
            </a: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通报</a:t>
            </a:r>
            <a:endParaRPr lang="en-US" sz="1100" dirty="0"/>
          </a:p>
        </p:txBody>
      </p:sp>
      <p:sp>
        <p:nvSpPr>
          <p:cNvPr id="289" name="Shape 18"/>
          <p:cNvSpPr/>
          <p:nvPr/>
        </p:nvSpPr>
        <p:spPr>
          <a:xfrm>
            <a:off x="2743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90" name="Text 19"/>
          <p:cNvSpPr/>
          <p:nvPr/>
        </p:nvSpPr>
        <p:spPr>
          <a:xfrm>
            <a:off x="2871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07  </a:t>
            </a: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</a:t>
            </a:r>
            <a:endParaRPr lang="en-US" sz="1100" dirty="0"/>
          </a:p>
        </p:txBody>
      </p:sp>
      <p:sp>
        <p:nvSpPr>
          <p:cNvPr id="291" name="Shape 20"/>
          <p:cNvSpPr/>
          <p:nvPr/>
        </p:nvSpPr>
        <p:spPr>
          <a:xfrm>
            <a:off x="5029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92" name="Text 21"/>
          <p:cNvSpPr/>
          <p:nvPr/>
        </p:nvSpPr>
        <p:spPr>
          <a:xfrm>
            <a:off x="5157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08  </a:t>
            </a: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</a:t>
            </a:r>
            <a:endParaRPr lang="en-US" sz="1100" dirty="0"/>
          </a:p>
        </p:txBody>
      </p:sp>
      <p:sp>
        <p:nvSpPr>
          <p:cNvPr id="293" name="Shape 22"/>
          <p:cNvSpPr/>
          <p:nvPr/>
        </p:nvSpPr>
        <p:spPr>
          <a:xfrm>
            <a:off x="7315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94" name="Text 23"/>
          <p:cNvSpPr/>
          <p:nvPr/>
        </p:nvSpPr>
        <p:spPr>
          <a:xfrm>
            <a:off x="7443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09  </a:t>
            </a: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批复</a:t>
            </a:r>
            <a:endParaRPr lang="en-US" sz="1100" dirty="0"/>
          </a:p>
        </p:txBody>
      </p:sp>
      <p:sp>
        <p:nvSpPr>
          <p:cNvPr id="295" name="Shape 24"/>
          <p:cNvSpPr/>
          <p:nvPr/>
        </p:nvSpPr>
        <p:spPr>
          <a:xfrm>
            <a:off x="9601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96" name="Text 25"/>
          <p:cNvSpPr/>
          <p:nvPr/>
        </p:nvSpPr>
        <p:spPr>
          <a:xfrm>
            <a:off x="9729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10  </a:t>
            </a: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</a:t>
            </a:r>
            <a:endParaRPr lang="en-US" sz="1100" dirty="0"/>
          </a:p>
        </p:txBody>
      </p:sp>
      <p:sp>
        <p:nvSpPr>
          <p:cNvPr id="297" name="Shape 26"/>
          <p:cNvSpPr/>
          <p:nvPr/>
        </p:nvSpPr>
        <p:spPr>
          <a:xfrm>
            <a:off x="457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298" name="Text 27"/>
          <p:cNvSpPr/>
          <p:nvPr/>
        </p:nvSpPr>
        <p:spPr>
          <a:xfrm>
            <a:off x="585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11  </a:t>
            </a: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通告</a:t>
            </a:r>
            <a:endParaRPr lang="en-US" sz="1100" dirty="0"/>
          </a:p>
        </p:txBody>
      </p:sp>
      <p:sp>
        <p:nvSpPr>
          <p:cNvPr id="299" name="Shape 28"/>
          <p:cNvSpPr/>
          <p:nvPr/>
        </p:nvSpPr>
        <p:spPr>
          <a:xfrm>
            <a:off x="2743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00" name="Text 29"/>
          <p:cNvSpPr/>
          <p:nvPr/>
        </p:nvSpPr>
        <p:spPr>
          <a:xfrm>
            <a:off x="2871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12  </a:t>
            </a: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纪要</a:t>
            </a:r>
            <a:endParaRPr lang="en-US" sz="1100" dirty="0"/>
          </a:p>
        </p:txBody>
      </p:sp>
      <p:sp>
        <p:nvSpPr>
          <p:cNvPr id="301" name="Shape 30"/>
          <p:cNvSpPr/>
          <p:nvPr/>
        </p:nvSpPr>
        <p:spPr>
          <a:xfrm>
            <a:off x="457200" y="4224528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  <p:txBody>
          <a:bodyPr/>
          <a:p/>
        </p:txBody>
      </p:sp>
      <p:sp>
        <p:nvSpPr>
          <p:cNvPr id="302" name="Text 31"/>
          <p:cNvSpPr/>
          <p:nvPr/>
        </p:nvSpPr>
        <p:spPr>
          <a:xfrm>
            <a:off x="731520" y="422452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　</a:t>
            </a: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一文一事 · 主送一个机关 · 不得越级；结束语“妥否，请批示”</a:t>
            </a:r>
            <a:endParaRPr lang="en-US" sz="1350" dirty="0"/>
          </a:p>
        </p:txBody>
      </p:sp>
      <p:sp>
        <p:nvSpPr>
          <p:cNvPr id="303" name="Shape 32"/>
          <p:cNvSpPr/>
          <p:nvPr/>
        </p:nvSpPr>
        <p:spPr>
          <a:xfrm>
            <a:off x="457200" y="5020056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  <p:txBody>
          <a:bodyPr/>
          <a:p/>
        </p:txBody>
      </p:sp>
      <p:sp>
        <p:nvSpPr>
          <p:cNvPr id="304" name="Text 33"/>
          <p:cNvSpPr/>
          <p:nvPr/>
        </p:nvSpPr>
        <p:spPr>
          <a:xfrm>
            <a:off x="731520" y="5020056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　</a:t>
            </a: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不得夹带请示事项（体检自动报 error）；结束语“特此报告”</a:t>
            </a:r>
            <a:endParaRPr lang="en-US" sz="1350" dirty="0"/>
          </a:p>
        </p:txBody>
      </p:sp>
      <p:sp>
        <p:nvSpPr>
          <p:cNvPr id="305" name="Text 34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骨架即规范：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每种骨架自带标题模板、主送机关、分段结构与【】待填要素、（提示）写作提示段 —— 选文种、填要素，初稿即刻成型。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 name="Slide 19">
    <p:bg>
      <p:bgPr>
        <a:solidFill>
          <a:srgbClr val="FFFFFF"/>
        </a:solidFill>
      </p:bgPr>
    </p:bg>
    <p:spTree>
      <p:nvGrpSpPr>
        <p:cNvPr id="30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308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309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310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文秘工具箱：编辑器右键，随手可得的“老文秘”手艺</a:t>
            </a:r>
            <a:endParaRPr lang="en-US" sz="2600" dirty="0"/>
          </a:p>
        </p:txBody>
      </p:sp>
      <p:sp>
        <p:nvSpPr>
          <p:cNvPr id="311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200" dirty="0"/>
          </a:p>
        </p:txBody>
      </p:sp>
      <p:sp>
        <p:nvSpPr>
          <p:cNvPr id="312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313" name="Shape 6"/>
          <p:cNvSpPr/>
          <p:nvPr/>
        </p:nvSpPr>
        <p:spPr>
          <a:xfrm>
            <a:off x="457200" y="1783080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14" name="Text 7"/>
          <p:cNvSpPr/>
          <p:nvPr/>
        </p:nvSpPr>
        <p:spPr>
          <a:xfrm>
            <a:off x="685800" y="178308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金额大写</a:t>
            </a:r>
            <a:endParaRPr lang="en-US" sz="1450" dirty="0"/>
          </a:p>
        </p:txBody>
      </p:sp>
      <p:sp>
        <p:nvSpPr>
          <p:cNvPr id="315" name="Text 8"/>
          <p:cNvSpPr/>
          <p:nvPr/>
        </p:nvSpPr>
        <p:spPr>
          <a:xfrm>
            <a:off x="2194560" y="18928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10050000.30  →  </a:t>
            </a: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人民币壹仟零伍拾万元零叁角整</a:t>
            </a:r>
            <a:endParaRPr lang="en-US" sz="1300" dirty="0"/>
          </a:p>
        </p:txBody>
      </p:sp>
      <p:sp>
        <p:nvSpPr>
          <p:cNvPr id="316" name="Text 9"/>
          <p:cNvSpPr/>
          <p:nvPr/>
        </p:nvSpPr>
        <p:spPr>
          <a:xfrm>
            <a:off x="2212848" y="2331720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按人民银行票据规范：零压缩 · 角分规则 · “整”字处理</a:t>
            </a:r>
            <a:endParaRPr lang="en-US" sz="1150" dirty="0"/>
          </a:p>
        </p:txBody>
      </p:sp>
      <p:sp>
        <p:nvSpPr>
          <p:cNvPr id="317" name="Shape 10"/>
          <p:cNvSpPr/>
          <p:nvPr/>
        </p:nvSpPr>
        <p:spPr>
          <a:xfrm>
            <a:off x="457200" y="2862072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18" name="Text 11"/>
          <p:cNvSpPr/>
          <p:nvPr/>
        </p:nvSpPr>
        <p:spPr>
          <a:xfrm>
            <a:off x="685800" y="286207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日期大写</a:t>
            </a:r>
            <a:endParaRPr lang="en-US" sz="1450" dirty="0"/>
          </a:p>
        </p:txBody>
      </p:sp>
      <p:sp>
        <p:nvSpPr>
          <p:cNvPr id="319" name="Text 12"/>
          <p:cNvSpPr/>
          <p:nvPr/>
        </p:nvSpPr>
        <p:spPr>
          <a:xfrm>
            <a:off x="2194560" y="2971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2026年8月30日  →  </a:t>
            </a: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二〇二六年八月三十日</a:t>
            </a:r>
            <a:endParaRPr lang="en-US" sz="1300" dirty="0"/>
          </a:p>
        </p:txBody>
      </p:sp>
      <p:sp>
        <p:nvSpPr>
          <p:cNvPr id="320" name="Text 13"/>
          <p:cNvSpPr/>
          <p:nvPr/>
        </p:nvSpPr>
        <p:spPr>
          <a:xfrm>
            <a:off x="2212848" y="341071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另支持编号大写码转换</a:t>
            </a:r>
            <a:endParaRPr lang="en-US" sz="1150" dirty="0"/>
          </a:p>
        </p:txBody>
      </p:sp>
      <p:sp>
        <p:nvSpPr>
          <p:cNvPr id="321" name="Shape 14"/>
          <p:cNvSpPr/>
          <p:nvPr/>
        </p:nvSpPr>
        <p:spPr>
          <a:xfrm>
            <a:off x="457200" y="3941064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22" name="Text 15"/>
          <p:cNvSpPr/>
          <p:nvPr/>
        </p:nvSpPr>
        <p:spPr>
          <a:xfrm>
            <a:off x="685800" y="394106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450" dirty="0"/>
          </a:p>
        </p:txBody>
      </p:sp>
      <p:sp>
        <p:nvSpPr>
          <p:cNvPr id="323" name="Text 16"/>
          <p:cNvSpPr/>
          <p:nvPr/>
        </p:nvSpPr>
        <p:spPr>
          <a:xfrm>
            <a:off x="2194560" y="4050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简体选区  →  </a:t>
            </a: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一键转繁体 / 转回简体</a:t>
            </a:r>
            <a:endParaRPr lang="en-US" sz="1300" dirty="0"/>
          </a:p>
        </p:txBody>
      </p:sp>
      <p:sp>
        <p:nvSpPr>
          <p:cNvPr id="324" name="Text 17"/>
          <p:cNvSpPr/>
          <p:nvPr/>
        </p:nvSpPr>
        <p:spPr>
          <a:xfrm>
            <a:off x="2212848" y="4489704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 离线词典（s2t / t2s），缺库优雅降级</a:t>
            </a:r>
            <a:endParaRPr lang="en-US" sz="1150" dirty="0"/>
          </a:p>
        </p:txBody>
      </p:sp>
      <p:sp>
        <p:nvSpPr>
          <p:cNvPr id="325" name="Shape 18"/>
          <p:cNvSpPr/>
          <p:nvPr/>
        </p:nvSpPr>
        <p:spPr>
          <a:xfrm>
            <a:off x="457200" y="5020056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26" name="Text 19"/>
          <p:cNvSpPr/>
          <p:nvPr/>
        </p:nvSpPr>
        <p:spPr>
          <a:xfrm>
            <a:off x="685800" y="5020056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全半角</a:t>
            </a:r>
            <a:endParaRPr lang="en-US" sz="1450" dirty="0"/>
          </a:p>
        </p:txBody>
      </p:sp>
      <p:sp>
        <p:nvSpPr>
          <p:cNvPr id="327" name="Text 20"/>
          <p:cNvSpPr/>
          <p:nvPr/>
        </p:nvSpPr>
        <p:spPr>
          <a:xfrm>
            <a:off x="2194560" y="512978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全角 ABC123  →  </a:t>
            </a: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ABC123（或反向）</a:t>
            </a:r>
            <a:endParaRPr lang="en-US" sz="1300" dirty="0"/>
          </a:p>
        </p:txBody>
      </p:sp>
      <p:sp>
        <p:nvSpPr>
          <p:cNvPr id="328" name="Text 21"/>
          <p:cNvSpPr/>
          <p:nvPr/>
        </p:nvSpPr>
        <p:spPr>
          <a:xfrm>
            <a:off x="2212848" y="556869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0xFF01–0xFF5E 区间平移，选区或全文</a:t>
            </a:r>
            <a:endParaRPr lang="en-US" sz="1150" dirty="0"/>
          </a:p>
        </p:txBody>
      </p:sp>
      <p:sp>
        <p:nvSpPr>
          <p:cNvPr id="329" name="Text 22"/>
          <p:cNvSpPr/>
          <p:nvPr/>
        </p:nvSpPr>
        <p:spPr>
          <a:xfrm>
            <a:off x="45720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同类还有：数字大写码 · 一键排版微调 · 朗读校对（F9）—— 全部离线，选区操作，Ctrl+Z 可撤销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 name="Slide 20">
    <p:bg>
      <p:bgPr>
        <a:solidFill>
          <a:srgbClr val="FFFFFF"/>
        </a:solidFill>
      </p:bgPr>
    </p:bg>
    <p:spTree>
      <p:nvGrpSpPr>
        <p:cNvPr id="3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36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36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36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写作参考：三库联合检索，双击即插入</a:t>
            </a:r>
            <a:endParaRPr lang="en-US" sz="2600" dirty="0"/>
          </a:p>
        </p:txBody>
      </p:sp>
      <p:sp>
        <p:nvSpPr>
          <p:cNvPr id="36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200" dirty="0"/>
          </a:p>
        </p:txBody>
      </p:sp>
      <p:sp>
        <p:nvSpPr>
          <p:cNvPr id="36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368" name="Shape 6"/>
          <p:cNvSpPr/>
          <p:nvPr/>
        </p:nvSpPr>
        <p:spPr>
          <a:xfrm>
            <a:off x="457200" y="17830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69" name="Text 7"/>
          <p:cNvSpPr/>
          <p:nvPr/>
        </p:nvSpPr>
        <p:spPr>
          <a:xfrm>
            <a:off x="658368" y="18653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bm25 全文检索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所有入库材料</a:t>
            </a:r>
            <a:endParaRPr lang="en-US" sz="1450" dirty="0"/>
          </a:p>
        </p:txBody>
      </p:sp>
      <p:sp>
        <p:nvSpPr>
          <p:cNvPr id="370" name="Shape 8"/>
          <p:cNvSpPr/>
          <p:nvPr/>
        </p:nvSpPr>
        <p:spPr>
          <a:xfrm>
            <a:off x="3246120" y="2308860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71" name="Shape 9"/>
          <p:cNvSpPr/>
          <p:nvPr/>
        </p:nvSpPr>
        <p:spPr>
          <a:xfrm>
            <a:off x="457200" y="3081528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72" name="Text 10"/>
          <p:cNvSpPr/>
          <p:nvPr/>
        </p:nvSpPr>
        <p:spPr>
          <a:xfrm>
            <a:off x="658368" y="316382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词典库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万条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LIKE 三段式分级</a:t>
            </a:r>
            <a:endParaRPr lang="en-US" sz="1450" dirty="0"/>
          </a:p>
        </p:txBody>
      </p:sp>
      <p:sp>
        <p:nvSpPr>
          <p:cNvPr id="373" name="Shape 11"/>
          <p:cNvSpPr/>
          <p:nvPr/>
        </p:nvSpPr>
        <p:spPr>
          <a:xfrm>
            <a:off x="3246120" y="360730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74" name="Shape 12"/>
          <p:cNvSpPr/>
          <p:nvPr/>
        </p:nvSpPr>
        <p:spPr>
          <a:xfrm>
            <a:off x="457200" y="4379976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75" name="Text 13"/>
          <p:cNvSpPr/>
          <p:nvPr/>
        </p:nvSpPr>
        <p:spPr>
          <a:xfrm>
            <a:off x="658368" y="446227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常用句式库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用户沉淀句式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检索</a:t>
            </a:r>
            <a:endParaRPr lang="en-US" sz="1450" dirty="0"/>
          </a:p>
        </p:txBody>
      </p:sp>
      <p:sp>
        <p:nvSpPr>
          <p:cNvPr id="376" name="Shape 14"/>
          <p:cNvSpPr/>
          <p:nvPr/>
        </p:nvSpPr>
        <p:spPr>
          <a:xfrm>
            <a:off x="3246120" y="4905756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77" name="Shape 15"/>
          <p:cNvSpPr/>
          <p:nvPr/>
        </p:nvSpPr>
        <p:spPr>
          <a:xfrm>
            <a:off x="4069080" y="178308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9E2B25"/>
          </a:solidFill>
          <a:ln/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378" name="Text 16"/>
          <p:cNvSpPr/>
          <p:nvPr/>
        </p:nvSpPr>
        <p:spPr>
          <a:xfrm>
            <a:off x="4343400" y="1783080"/>
            <a:ext cx="3063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相关度融合</a:t>
            </a:r>
            <a:endParaRPr lang="en-US" sz="15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各组分数 min-max 归一到 [0,1]</a:t>
            </a:r>
            <a:endParaRPr lang="en-US" sz="15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标题命中 +0.15 · 标签命中 +0.10</a:t>
            </a:r>
            <a:endParaRPr lang="en-US" sz="15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同源去重后合并排序</a:t>
            </a:r>
            <a:endParaRPr lang="en-US" sz="1550" dirty="0"/>
          </a:p>
        </p:txBody>
      </p:sp>
      <p:sp>
        <p:nvSpPr>
          <p:cNvPr id="379" name="Shape 17"/>
          <p:cNvSpPr/>
          <p:nvPr/>
        </p:nvSpPr>
        <p:spPr>
          <a:xfrm>
            <a:off x="7680960" y="367588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80" name="Shape 18"/>
          <p:cNvSpPr/>
          <p:nvPr/>
        </p:nvSpPr>
        <p:spPr>
          <a:xfrm>
            <a:off x="8503920" y="2395728"/>
            <a:ext cx="3200400" cy="2560320"/>
          </a:xfrm>
          <a:prstGeom prst="roundRect">
            <a:avLst>
              <a:gd name="adj" fmla="val 2857"/>
            </a:avLst>
          </a:prstGeom>
          <a:solidFill>
            <a:srgbClr val="1F1917"/>
          </a:solidFill>
          <a:ln/>
        </p:spPr>
        <p:txBody>
          <a:bodyPr/>
          <a:p/>
        </p:txBody>
      </p:sp>
      <p:sp>
        <p:nvSpPr>
          <p:cNvPr id="381" name="Text 19"/>
          <p:cNvSpPr/>
          <p:nvPr/>
        </p:nvSpPr>
        <p:spPr>
          <a:xfrm>
            <a:off x="8778240" y="2395728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结果即所得</a:t>
            </a:r>
            <a:endParaRPr lang="en-US" sz="15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 / 按钮插入光标处</a:t>
            </a:r>
            <a:endParaRPr lang="en-US" sz="15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好句一键“存为常用句式”</a:t>
            </a:r>
            <a:endParaRPr lang="en-US" sz="15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同拼音近音词联想</a:t>
            </a:r>
            <a:endParaRPr lang="en-US" sz="1550" dirty="0"/>
          </a:p>
        </p:txBody>
      </p:sp>
      <p:sp>
        <p:nvSpPr>
          <p:cNvPr id="382" name="Shape 20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383" name="Text 21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写“关于 XX 的通知”没有思路？输入关键词，同类材料、惯用句式、规范用语一次呈现；好句可“存为常用句式”反哺词库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 name="Slide 21">
    <p:bg>
      <p:bgPr>
        <a:solidFill>
          <a:srgbClr val="FFFFFF"/>
        </a:solidFill>
      </p:bgPr>
    </p:bg>
    <p:spTree>
      <p:nvGrpSpPr>
        <p:cNvPr id="3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386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387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388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段落参考：从“找一篇”到“找那一段”，再借它的骨架</a:t>
            </a:r>
            <a:endParaRPr lang="en-US" sz="2600" dirty="0"/>
          </a:p>
        </p:txBody>
      </p:sp>
      <p:sp>
        <p:nvSpPr>
          <p:cNvPr id="389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200" dirty="0"/>
          </a:p>
        </p:txBody>
      </p:sp>
      <p:sp>
        <p:nvSpPr>
          <p:cNvPr id="390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391" name="Shape 6"/>
          <p:cNvSpPr/>
          <p:nvPr/>
        </p:nvSpPr>
        <p:spPr>
          <a:xfrm>
            <a:off x="457200" y="1719072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92" name="Text 7"/>
          <p:cNvSpPr/>
          <p:nvPr/>
        </p:nvSpPr>
        <p:spPr>
          <a:xfrm>
            <a:off x="658368" y="1828800"/>
            <a:ext cx="302666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段落选取 · 引用定位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命中到“某篇第几段”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多选累积成「参考清单」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溯源：文档 + 段序号 +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正文偏移 + 段落指纹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双击跳回原文并高亮</a:t>
            </a:r>
            <a:endParaRPr lang="en-US" sz="1400" dirty="0"/>
          </a:p>
        </p:txBody>
      </p:sp>
      <p:sp>
        <p:nvSpPr>
          <p:cNvPr id="393" name="Shape 8"/>
          <p:cNvSpPr/>
          <p:nvPr/>
        </p:nvSpPr>
        <p:spPr>
          <a:xfrm>
            <a:off x="3931920" y="3090672"/>
            <a:ext cx="36576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94" name="Shape 9"/>
          <p:cNvSpPr/>
          <p:nvPr/>
        </p:nvSpPr>
        <p:spPr>
          <a:xfrm>
            <a:off x="4343400" y="1719072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95" name="Text 10"/>
          <p:cNvSpPr/>
          <p:nvPr/>
        </p:nvSpPr>
        <p:spPr>
          <a:xfrm>
            <a:off x="4544568" y="1828800"/>
            <a:ext cx="302666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内容对齐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参考清单 ↔ 当前草稿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并排比对「结构」与角色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报出：缺失 / 多余 /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章节顺序颠倒 / 序号跳号重复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（只提示，不改你的稿）</a:t>
            </a:r>
            <a:endParaRPr lang="en-US" sz="1400" dirty="0"/>
          </a:p>
        </p:txBody>
      </p:sp>
      <p:sp>
        <p:nvSpPr>
          <p:cNvPr id="396" name="Shape 11"/>
          <p:cNvSpPr/>
          <p:nvPr/>
        </p:nvSpPr>
        <p:spPr>
          <a:xfrm>
            <a:off x="7818120" y="3090672"/>
            <a:ext cx="36576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97" name="Shape 12"/>
          <p:cNvSpPr/>
          <p:nvPr/>
        </p:nvSpPr>
        <p:spPr>
          <a:xfrm>
            <a:off x="8229600" y="1719072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398" name="Text 13"/>
          <p:cNvSpPr/>
          <p:nvPr/>
        </p:nvSpPr>
        <p:spPr>
          <a:xfrm>
            <a:off x="8430768" y="1828800"/>
            <a:ext cx="302666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骨架生成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抽取单位名·事项名·日期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时限·数量·引用公文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你填槽位 → 拼成新稿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只复用结构，不编造内容</a:t>
            </a:r>
            <a:endParaRPr lang="en-US" sz="1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未填槽位保留占位符</a:t>
            </a:r>
            <a:endParaRPr lang="en-US" sz="1400" dirty="0"/>
          </a:p>
        </p:txBody>
      </p:sp>
      <p:sp>
        <p:nvSpPr>
          <p:cNvPr id="399" name="Shape 14"/>
          <p:cNvSpPr/>
          <p:nvPr/>
        </p:nvSpPr>
        <p:spPr>
          <a:xfrm>
            <a:off x="457200" y="4645152"/>
            <a:ext cx="11247120" cy="786384"/>
          </a:xfrm>
          <a:prstGeom prst="roundRect">
            <a:avLst>
              <a:gd name="adj" fmla="val 9302"/>
            </a:avLst>
          </a:prstGeom>
          <a:solidFill>
            <a:srgbClr val="1F1917"/>
          </a:solidFill>
          <a:ln/>
        </p:spPr>
        <p:txBody>
          <a:bodyPr/>
          <a:p/>
        </p:txBody>
      </p:sp>
      <p:sp>
        <p:nvSpPr>
          <p:cNvPr id="400" name="Text 15"/>
          <p:cNvSpPr/>
          <p:nvPr/>
        </p:nvSpPr>
        <p:spPr>
          <a:xfrm>
            <a:off x="713232" y="4645152"/>
            <a:ext cx="10735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边界（刻意不做）：</a:t>
            </a: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不引入大模型、不联网、不自动改写语义、不替你决定写什么。段落索引是「派生数据」——删掉、重建、损坏都不影响任何既有功能。</a:t>
            </a:r>
            <a:endParaRPr lang="en-US" sz="1250" dirty="0"/>
          </a:p>
        </p:txBody>
      </p:sp>
      <p:sp>
        <p:nvSpPr>
          <p:cNvPr id="401" name="Shape 16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02" name="Text 17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右侧「写作参考」切到「段落」，搜关键词 → 选段「加入参考清单」→ 点「内容对齐…」看结构差在哪，或点「生成草稿…」借骨架填自己的内容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 name="Slide 22">
    <p:bg>
      <p:bgPr>
        <a:solidFill>
          <a:srgbClr val="FFFFFF"/>
        </a:solidFill>
      </p:bgPr>
    </p:bg>
    <p:spTree>
      <p:nvGrpSpPr>
        <p:cNvPr id="4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05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06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407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纠错引擎：四级流水线 + 可选 L4/L5 神经增强包</a:t>
            </a:r>
            <a:endParaRPr lang="en-US" sz="2600" dirty="0"/>
          </a:p>
        </p:txBody>
      </p:sp>
      <p:sp>
        <p:nvSpPr>
          <p:cNvPr id="408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200" dirty="0"/>
          </a:p>
        </p:txBody>
      </p:sp>
      <p:sp>
        <p:nvSpPr>
          <p:cNvPr id="409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410" name="Shape 6"/>
          <p:cNvSpPr/>
          <p:nvPr/>
        </p:nvSpPr>
        <p:spPr>
          <a:xfrm>
            <a:off x="457200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9E2B25"/>
          </a:solidFill>
          <a:ln/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11" name="Text 7"/>
          <p:cNvSpPr/>
          <p:nvPr/>
        </p:nvSpPr>
        <p:spPr>
          <a:xfrm>
            <a:off x="640080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· 精确匹配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万条错别字/混淆对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首字桶索引 + 最长优先；机构沿革提示级 0.7</a:t>
            </a:r>
            <a:endParaRPr lang="en-US" sz="1350" dirty="0"/>
          </a:p>
        </p:txBody>
      </p:sp>
      <p:sp>
        <p:nvSpPr>
          <p:cNvPr id="412" name="Shape 8"/>
          <p:cNvSpPr/>
          <p:nvPr/>
        </p:nvSpPr>
        <p:spPr>
          <a:xfrm>
            <a:off x="3127248" y="2971800"/>
            <a:ext cx="1828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13" name="Shape 9"/>
          <p:cNvSpPr/>
          <p:nvPr/>
        </p:nvSpPr>
        <p:spPr>
          <a:xfrm>
            <a:off x="3328416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14" name="Text 10"/>
          <p:cNvSpPr/>
          <p:nvPr/>
        </p:nvSpPr>
        <p:spPr>
          <a:xfrm>
            <a:off x="3511296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· 上下文规则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同一个词，语境不同结论不同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“截止日期”保留；“截止 8 月底”改“截至”</a:t>
            </a:r>
            <a:endParaRPr lang="en-US" sz="1350" dirty="0"/>
          </a:p>
        </p:txBody>
      </p:sp>
      <p:sp>
        <p:nvSpPr>
          <p:cNvPr id="415" name="Shape 11"/>
          <p:cNvSpPr/>
          <p:nvPr/>
        </p:nvSpPr>
        <p:spPr>
          <a:xfrm>
            <a:off x="5998464" y="2971800"/>
            <a:ext cx="1828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16" name="Shape 12"/>
          <p:cNvSpPr/>
          <p:nvPr/>
        </p:nvSpPr>
        <p:spPr>
          <a:xfrm>
            <a:off x="6199632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17" name="Text 13"/>
          <p:cNvSpPr/>
          <p:nvPr/>
        </p:nvSpPr>
        <p:spPr>
          <a:xfrm>
            <a:off x="6382512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· 语法与表达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L2.5：词表法够不着的错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涉及(到)→涉及 · 加大力度 · 关联词呼应 · 成对标点</a:t>
            </a:r>
            <a:endParaRPr lang="en-US" sz="1350" dirty="0"/>
          </a:p>
        </p:txBody>
      </p:sp>
      <p:sp>
        <p:nvSpPr>
          <p:cNvPr id="418" name="Shape 14"/>
          <p:cNvSpPr/>
          <p:nvPr/>
        </p:nvSpPr>
        <p:spPr>
          <a:xfrm>
            <a:off x="8869680" y="2971800"/>
            <a:ext cx="1828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19" name="Shape 15"/>
          <p:cNvSpPr/>
          <p:nvPr/>
        </p:nvSpPr>
        <p:spPr>
          <a:xfrm>
            <a:off x="9070848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20" name="Text 16"/>
          <p:cNvSpPr/>
          <p:nvPr/>
        </p:nvSpPr>
        <p:spPr>
          <a:xfrm>
            <a:off x="9253728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第四级 · 标点数字规则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15835 规范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全角标点 · 省略号“……” · 破折号 · 汉字年份</a:t>
            </a:r>
            <a:endParaRPr lang="en-US" sz="1350" dirty="0"/>
          </a:p>
        </p:txBody>
      </p:sp>
      <p:sp>
        <p:nvSpPr>
          <p:cNvPr id="421" name="Text 17"/>
          <p:cNvSpPr/>
          <p:nvPr/>
        </p:nvSpPr>
        <p:spPr>
          <a:xfrm>
            <a:off x="457200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置信度决定呈现：</a:t>
            </a:r>
            <a:endParaRPr lang="en-US" sz="1300" dirty="0"/>
          </a:p>
        </p:txBody>
      </p:sp>
      <p:sp>
        <p:nvSpPr>
          <p:cNvPr id="422" name="Shape 18"/>
          <p:cNvSpPr/>
          <p:nvPr/>
        </p:nvSpPr>
        <p:spPr>
          <a:xfrm>
            <a:off x="2514600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423" name="Text 19"/>
          <p:cNvSpPr/>
          <p:nvPr/>
        </p:nvSpPr>
        <p:spPr>
          <a:xfrm>
            <a:off x="2587752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0.85–0.98 精标对</a:t>
            </a:r>
            <a:endParaRPr lang="en-US" sz="1150" dirty="0"/>
          </a:p>
        </p:txBody>
      </p:sp>
      <p:sp>
        <p:nvSpPr>
          <p:cNvPr id="424" name="Text 20"/>
          <p:cNvSpPr/>
          <p:nvPr/>
        </p:nvSpPr>
        <p:spPr>
          <a:xfrm>
            <a:off x="2514600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确认错误 · 红色</a:t>
            </a:r>
            <a:endParaRPr lang="en-US" sz="1050" dirty="0"/>
          </a:p>
        </p:txBody>
      </p:sp>
      <p:sp>
        <p:nvSpPr>
          <p:cNvPr id="425" name="Shape 21"/>
          <p:cNvSpPr/>
          <p:nvPr/>
        </p:nvSpPr>
        <p:spPr>
          <a:xfrm>
            <a:off x="4818888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  <p:txBody>
          <a:bodyPr/>
          <a:p/>
        </p:txBody>
      </p:sp>
      <p:sp>
        <p:nvSpPr>
          <p:cNvPr id="426" name="Text 22"/>
          <p:cNvSpPr/>
          <p:nvPr/>
        </p:nvSpPr>
        <p:spPr>
          <a:xfrm>
            <a:off x="4892040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 程序生成对</a:t>
            </a:r>
            <a:endParaRPr lang="en-US" sz="1150" dirty="0"/>
          </a:p>
        </p:txBody>
      </p:sp>
      <p:sp>
        <p:nvSpPr>
          <p:cNvPr id="427" name="Text 23"/>
          <p:cNvSpPr/>
          <p:nvPr/>
        </p:nvSpPr>
        <p:spPr>
          <a:xfrm>
            <a:off x="4818888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疑似错误 · 橙色</a:t>
            </a:r>
            <a:endParaRPr lang="en-US" sz="1050" dirty="0"/>
          </a:p>
        </p:txBody>
      </p:sp>
      <p:sp>
        <p:nvSpPr>
          <p:cNvPr id="428" name="Shape 24"/>
          <p:cNvSpPr/>
          <p:nvPr/>
        </p:nvSpPr>
        <p:spPr>
          <a:xfrm>
            <a:off x="7123176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429" name="Text 25"/>
          <p:cNvSpPr/>
          <p:nvPr/>
        </p:nvSpPr>
        <p:spPr>
          <a:xfrm>
            <a:off x="7196328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≥0.99 用户自定义</a:t>
            </a:r>
            <a:endParaRPr lang="en-US" sz="1150" dirty="0"/>
          </a:p>
        </p:txBody>
      </p:sp>
      <p:sp>
        <p:nvSpPr>
          <p:cNvPr id="430" name="Text 26"/>
          <p:cNvSpPr/>
          <p:nvPr/>
        </p:nvSpPr>
        <p:spPr>
          <a:xfrm>
            <a:off x="7123176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用户最高优先</a:t>
            </a:r>
            <a:endParaRPr lang="en-US" sz="1050" dirty="0"/>
          </a:p>
        </p:txBody>
      </p:sp>
      <p:sp>
        <p:nvSpPr>
          <p:cNvPr id="431" name="Shape 27"/>
          <p:cNvSpPr/>
          <p:nvPr/>
        </p:nvSpPr>
        <p:spPr>
          <a:xfrm>
            <a:off x="9427464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  <p:txBody>
          <a:bodyPr/>
          <a:p/>
        </p:txBody>
      </p:sp>
      <p:sp>
        <p:nvSpPr>
          <p:cNvPr id="432" name="Text 28"/>
          <p:cNvSpPr/>
          <p:nvPr/>
        </p:nvSpPr>
        <p:spPr>
          <a:xfrm>
            <a:off x="9500616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 机构沿革</a:t>
            </a:r>
            <a:endParaRPr lang="en-US" sz="1150" dirty="0"/>
          </a:p>
        </p:txBody>
      </p:sp>
      <p:sp>
        <p:nvSpPr>
          <p:cNvPr id="433" name="Text 29"/>
          <p:cNvSpPr/>
          <p:nvPr/>
        </p:nvSpPr>
        <p:spPr>
          <a:xfrm>
            <a:off x="9427464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提示级 · 灰色</a:t>
            </a:r>
            <a:endParaRPr lang="en-US" sz="1050" dirty="0"/>
          </a:p>
        </p:txBody>
      </p:sp>
      <p:sp>
        <p:nvSpPr>
          <p:cNvPr id="434" name="Shape 30"/>
          <p:cNvSpPr/>
          <p:nvPr/>
        </p:nvSpPr>
        <p:spPr>
          <a:xfrm>
            <a:off x="45720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35" name="Text 31"/>
          <p:cNvSpPr/>
          <p:nvPr/>
        </p:nvSpPr>
        <p:spPr>
          <a:xfrm>
            <a:off x="694944" y="55321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结果可交互：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逐条替换 / 全部替换（自动排除数字类）/ 忽略本次 / 永久忽略（写入 ignore_words，下次不再提示）</a:t>
            </a:r>
            <a:endParaRPr lang="en-US" sz="1350" dirty="0"/>
          </a:p>
        </p:txBody>
      </p:sp>
      <p:sp>
        <p:nvSpPr>
          <p:cNvPr id="436" name="Shape 32"/>
          <p:cNvSpPr/>
          <p:nvPr/>
        </p:nvSpPr>
        <p:spPr>
          <a:xfrm>
            <a:off x="457200" y="6071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37" name="Text 33"/>
          <p:cNvSpPr/>
          <p:nvPr/>
        </p:nvSpPr>
        <p:spPr>
          <a:xfrm>
            <a:off x="694944" y="59893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即时生效：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词典管理中新增纠错对立即参与匹配，缓存自动失效，无需重启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 name="Slide 23">
    <p:bg>
      <p:bgPr>
        <a:solidFill>
          <a:srgbClr val="FFFFFF"/>
        </a:solidFill>
      </p:bgPr>
    </p:bg>
    <p:spTree>
      <p:nvGrpSpPr>
        <p:cNvPr id="4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40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41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442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三道误报防线：宁可少报，不可错报</a:t>
            </a:r>
            <a:endParaRPr lang="en-US" sz="2600" dirty="0"/>
          </a:p>
        </p:txBody>
      </p:sp>
      <p:sp>
        <p:nvSpPr>
          <p:cNvPr id="443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200" dirty="0"/>
          </a:p>
        </p:txBody>
      </p:sp>
      <p:sp>
        <p:nvSpPr>
          <p:cNvPr id="444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445" name="Shape 6"/>
          <p:cNvSpPr/>
          <p:nvPr/>
        </p:nvSpPr>
        <p:spPr>
          <a:xfrm>
            <a:off x="457200" y="17830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446" name="Text 7"/>
          <p:cNvSpPr/>
          <p:nvPr/>
        </p:nvSpPr>
        <p:spPr>
          <a:xfrm>
            <a:off x="685800" y="19110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防线一 · 词边界保护</a:t>
            </a:r>
            <a:endParaRPr lang="en-US" sz="1450" dirty="0"/>
          </a:p>
        </p:txBody>
      </p:sp>
      <p:sp>
        <p:nvSpPr>
          <p:cNvPr id="447" name="Text 8"/>
          <p:cNvSpPr/>
          <p:nvPr/>
        </p:nvSpPr>
        <p:spPr>
          <a:xfrm>
            <a:off x="3154680" y="18928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分词边界判定：命中片段落在词语内部即抑制；低置信命中（&lt;0.7）双重门控，jieba 高频词（词频≥30）例外放行</a:t>
            </a:r>
            <a:endParaRPr lang="en-US" sz="1200" dirty="0"/>
          </a:p>
        </p:txBody>
      </p:sp>
      <p:sp>
        <p:nvSpPr>
          <p:cNvPr id="448" name="Shape 9"/>
          <p:cNvSpPr/>
          <p:nvPr/>
        </p:nvSpPr>
        <p:spPr>
          <a:xfrm>
            <a:off x="8458200" y="19659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  <p:txBody>
          <a:bodyPr/>
          <a:p/>
        </p:txBody>
      </p:sp>
      <p:sp>
        <p:nvSpPr>
          <p:cNvPr id="449" name="Text 10"/>
          <p:cNvSpPr/>
          <p:nvPr/>
        </p:nvSpPr>
        <p:spPr>
          <a:xfrm>
            <a:off x="8613648" y="19659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✓ </a:t>
            </a: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“安全生产”内部不误报“全生→全省”</a:t>
            </a:r>
            <a:endParaRPr lang="en-US" sz="1300" dirty="0"/>
          </a:p>
        </p:txBody>
      </p:sp>
      <p:sp>
        <p:nvSpPr>
          <p:cNvPr id="450" name="Shape 11"/>
          <p:cNvSpPr/>
          <p:nvPr/>
        </p:nvSpPr>
        <p:spPr>
          <a:xfrm>
            <a:off x="457200" y="31546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451" name="Text 12"/>
          <p:cNvSpPr/>
          <p:nvPr/>
        </p:nvSpPr>
        <p:spPr>
          <a:xfrm>
            <a:off x="685800" y="32826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防线二 · 负向上下文</a:t>
            </a:r>
            <a:endParaRPr lang="en-US" sz="1450" dirty="0"/>
          </a:p>
        </p:txBody>
      </p:sp>
      <p:sp>
        <p:nvSpPr>
          <p:cNvPr id="452" name="Text 13"/>
          <p:cNvSpPr/>
          <p:nvPr/>
        </p:nvSpPr>
        <p:spPr>
          <a:xfrm>
            <a:off x="3154680" y="32644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成语与惯用语白名单：命中词位于特定固定搭配中时不提示</a:t>
            </a:r>
            <a:endParaRPr lang="en-US" sz="1200" dirty="0"/>
          </a:p>
        </p:txBody>
      </p:sp>
      <p:sp>
        <p:nvSpPr>
          <p:cNvPr id="453" name="Shape 14"/>
          <p:cNvSpPr/>
          <p:nvPr/>
        </p:nvSpPr>
        <p:spPr>
          <a:xfrm>
            <a:off x="8458200" y="33375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  <p:txBody>
          <a:bodyPr/>
          <a:p/>
        </p:txBody>
      </p:sp>
      <p:sp>
        <p:nvSpPr>
          <p:cNvPr id="454" name="Text 15"/>
          <p:cNvSpPr/>
          <p:nvPr/>
        </p:nvSpPr>
        <p:spPr>
          <a:xfrm>
            <a:off x="8613648" y="3337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✓ </a:t>
            </a: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“以德报怨”不纠“报怨”</a:t>
            </a:r>
            <a:endParaRPr lang="en-US" sz="1300" dirty="0"/>
          </a:p>
        </p:txBody>
      </p:sp>
      <p:sp>
        <p:nvSpPr>
          <p:cNvPr id="455" name="Shape 16"/>
          <p:cNvSpPr/>
          <p:nvPr/>
        </p:nvSpPr>
        <p:spPr>
          <a:xfrm>
            <a:off x="457200" y="45262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456" name="Text 17"/>
          <p:cNvSpPr/>
          <p:nvPr/>
        </p:nvSpPr>
        <p:spPr>
          <a:xfrm>
            <a:off x="685800" y="46542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防线三 · 书名号保护</a:t>
            </a:r>
            <a:endParaRPr lang="en-US" sz="1450" dirty="0"/>
          </a:p>
        </p:txBody>
      </p:sp>
      <p:sp>
        <p:nvSpPr>
          <p:cNvPr id="457" name="Text 18"/>
          <p:cNvSpPr/>
          <p:nvPr/>
        </p:nvSpPr>
        <p:spPr>
          <a:xfrm>
            <a:off x="3154680" y="46360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书名号内是文件标题，按原文引用原则不作纠改</a:t>
            </a:r>
            <a:endParaRPr lang="en-US" sz="1200" dirty="0"/>
          </a:p>
        </p:txBody>
      </p:sp>
      <p:sp>
        <p:nvSpPr>
          <p:cNvPr id="458" name="Shape 19"/>
          <p:cNvSpPr/>
          <p:nvPr/>
        </p:nvSpPr>
        <p:spPr>
          <a:xfrm>
            <a:off x="8458200" y="47091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  <p:txBody>
          <a:bodyPr/>
          <a:p/>
        </p:txBody>
      </p:sp>
      <p:sp>
        <p:nvSpPr>
          <p:cNvPr id="459" name="Text 20"/>
          <p:cNvSpPr/>
          <p:nvPr/>
        </p:nvSpPr>
        <p:spPr>
          <a:xfrm>
            <a:off x="8613648" y="47091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✓ </a:t>
            </a: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《关于布署工作的通知》保持原样</a:t>
            </a:r>
            <a:endParaRPr lang="en-US" sz="1300" dirty="0"/>
          </a:p>
        </p:txBody>
      </p:sp>
      <p:sp>
        <p:nvSpPr>
          <p:cNvPr id="460" name="Shape 21"/>
          <p:cNvSpPr/>
          <p:nvPr/>
        </p:nvSpPr>
        <p:spPr>
          <a:xfrm>
            <a:off x="457200" y="5943600"/>
            <a:ext cx="11247120" cy="502920"/>
          </a:xfrm>
          <a:prstGeom prst="roundRect">
            <a:avLst>
              <a:gd name="adj" fmla="val 12727"/>
            </a:avLst>
          </a:prstGeom>
          <a:solidFill>
            <a:srgbClr val="1F1917"/>
          </a:solidFill>
          <a:ln/>
        </p:spPr>
        <p:txBody>
          <a:bodyPr/>
          <a:p/>
        </p:txBody>
      </p:sp>
      <p:sp>
        <p:nvSpPr>
          <p:cNvPr id="461" name="Text 22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重叠命中按“置信度降序 → 长度降序”贪心去重，从后往前批量替换，Ctrl+Z 一次还原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 name="Slide 24">
    <p:bg>
      <p:bgPr>
        <a:solidFill>
          <a:srgbClr val="FFFFFF"/>
        </a:solidFill>
      </p:bgPr>
    </p:bg>
    <p:spTree>
      <p:nvGrpSpPr>
        <p:cNvPr id="46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64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65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466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纠错知识库：4 万条规则从哪里来</a:t>
            </a:r>
            <a:endParaRPr lang="en-US" sz="2600" dirty="0"/>
          </a:p>
        </p:txBody>
      </p:sp>
      <p:sp>
        <p:nvSpPr>
          <p:cNvPr id="467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200" dirty="0"/>
          </a:p>
        </p:txBody>
      </p:sp>
      <p:sp>
        <p:nvSpPr>
          <p:cNvPr id="468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469" name="Shape 6"/>
          <p:cNvSpPr/>
          <p:nvPr/>
        </p:nvSpPr>
        <p:spPr>
          <a:xfrm>
            <a:off x="457200" y="1783080"/>
            <a:ext cx="3794760" cy="4480560"/>
          </a:xfrm>
          <a:prstGeom prst="roundRect">
            <a:avLst>
              <a:gd name="adj" fmla="val 1928"/>
            </a:avLst>
          </a:prstGeom>
          <a:solidFill>
            <a:srgbClr val="9E2B25"/>
          </a:solidFill>
          <a:ln/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70" name="Text 7"/>
          <p:cNvSpPr/>
          <p:nvPr/>
        </p:nvSpPr>
        <p:spPr>
          <a:xfrm>
            <a:off x="777240" y="205740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5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纠错对总量（seed.db 实测）</a:t>
            </a:r>
            <a:endParaRPr lang="en-US" sz="5400" dirty="0"/>
          </a:p>
          <a:p>
            <a:pPr marL="0" indent="0">
              <a:lnSpc>
                <a:spcPct val="122000"/>
              </a:lnSpc>
              <a:buNone/>
            </a:pPr>
            <a:endParaRPr lang="en-US" sz="5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 条 人工精标</a:t>
            </a:r>
            <a:endParaRPr lang="en-US" sz="5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音近错字 · 易混搭配 · 新华社禁用词</a:t>
            </a:r>
            <a:endParaRPr lang="en-US" sz="5400" dirty="0"/>
          </a:p>
          <a:p>
            <a:pPr marL="0" indent="0">
              <a:lnSpc>
                <a:spcPct val="122000"/>
              </a:lnSpc>
              <a:buNone/>
            </a:pPr>
            <a:endParaRPr lang="en-US" sz="5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40000 条 程序化生成</a:t>
            </a:r>
            <a:endParaRPr lang="en-US" sz="5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高频双字词 × pypinyin 同音替换，</a:t>
            </a:r>
            <a:endParaRPr lang="en-US" sz="540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错写本身不是常用词才入库</a:t>
            </a:r>
            <a:endParaRPr lang="en-US" sz="5400" dirty="0"/>
          </a:p>
        </p:txBody>
      </p:sp>
      <p:sp>
        <p:nvSpPr>
          <p:cNvPr id="471" name="Shape 8"/>
          <p:cNvSpPr/>
          <p:nvPr/>
        </p:nvSpPr>
        <p:spPr>
          <a:xfrm>
            <a:off x="4663440" y="1911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72" name="Text 9"/>
          <p:cNvSpPr/>
          <p:nvPr/>
        </p:nvSpPr>
        <p:spPr>
          <a:xfrm>
            <a:off x="4901184" y="182880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新华社禁用词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建国以来 → 新中国成立以来；残废人 → 残疾人（规范用语提示）</a:t>
            </a:r>
            <a:endParaRPr lang="en-US" sz="1350" dirty="0"/>
          </a:p>
        </p:txBody>
      </p:sp>
      <p:sp>
        <p:nvSpPr>
          <p:cNvPr id="473" name="Shape 10"/>
          <p:cNvSpPr/>
          <p:nvPr/>
        </p:nvSpPr>
        <p:spPr>
          <a:xfrm>
            <a:off x="4663440" y="2688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74" name="Text 11"/>
          <p:cNvSpPr/>
          <p:nvPr/>
        </p:nvSpPr>
        <p:spPr>
          <a:xfrm>
            <a:off x="4901184" y="260604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机构沿革 52 条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环境保护部 → 生态环境部；银保监会 → 国家金融监督管理总局</a:t>
            </a:r>
            <a:endParaRPr lang="en-US" sz="1350" dirty="0"/>
          </a:p>
        </p:txBody>
      </p:sp>
      <p:sp>
        <p:nvSpPr>
          <p:cNvPr id="475" name="Shape 12"/>
          <p:cNvSpPr/>
          <p:nvPr/>
        </p:nvSpPr>
        <p:spPr>
          <a:xfrm>
            <a:off x="4663440" y="3465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76" name="Text 13"/>
          <p:cNvSpPr/>
          <p:nvPr/>
        </p:nvSpPr>
        <p:spPr>
          <a:xfrm>
            <a:off x="4901184" y="338328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易混词分档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权力/权利 按搭配区分；“反应情况→反映情况”类搭配纠错</a:t>
            </a:r>
            <a:endParaRPr lang="en-US" sz="1350" dirty="0"/>
          </a:p>
        </p:txBody>
      </p:sp>
      <p:sp>
        <p:nvSpPr>
          <p:cNvPr id="477" name="Shape 14"/>
          <p:cNvSpPr/>
          <p:nvPr/>
        </p:nvSpPr>
        <p:spPr>
          <a:xfrm>
            <a:off x="4663440" y="42428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78" name="Text 15"/>
          <p:cNvSpPr/>
          <p:nvPr/>
        </p:nvSpPr>
        <p:spPr>
          <a:xfrm>
            <a:off x="4901184" y="416052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生成质量把控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仅保留“错写不是真实常用词”的对，配合词边界门控防误报</a:t>
            </a:r>
            <a:endParaRPr lang="en-US" sz="1350" dirty="0"/>
          </a:p>
        </p:txBody>
      </p:sp>
      <p:sp>
        <p:nvSpPr>
          <p:cNvPr id="479" name="Shape 16"/>
          <p:cNvSpPr/>
          <p:nvPr/>
        </p:nvSpPr>
        <p:spPr>
          <a:xfrm>
            <a:off x="4663440" y="50200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80" name="Text 17"/>
          <p:cNvSpPr/>
          <p:nvPr/>
        </p:nvSpPr>
        <p:spPr>
          <a:xfrm>
            <a:off x="4901184" y="493776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用户可扩充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词典管理批量导入 CSV 纠错对，置信度 0.95，立即生效</a:t>
            </a:r>
            <a:endParaRPr lang="en-US" sz="1350" dirty="0"/>
          </a:p>
        </p:txBody>
      </p:sp>
      <p:sp>
        <p:nvSpPr>
          <p:cNvPr id="481" name="Text 18"/>
          <p:cNvSpPr/>
          <p:nvPr/>
        </p:nvSpPr>
        <p:spPr>
          <a:xfrm>
            <a:off x="4663440" y="58521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验收：精标词库抽 100 对在样句中 100% 识别（test_corrector）；布署→部署、截止→截至 为 e2e 固定验收对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 name="Slide 25">
    <p:bg>
      <p:bgPr>
        <a:solidFill>
          <a:srgbClr val="1F1917"/>
        </a:solidFill>
      </p:bgPr>
    </p:bg>
    <p:spTree>
      <p:nvGrpSpPr>
        <p:cNvPr id="4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84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85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486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487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3800" dirty="0"/>
          </a:p>
        </p:txBody>
      </p:sp>
      <p:sp>
        <p:nvSpPr>
          <p:cNvPr id="488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选材料、选模板，剩下的交给程序</a:t>
            </a:r>
            <a:endParaRPr lang="en-US" sz="1500" dirty="0"/>
          </a:p>
        </p:txBody>
      </p:sp>
      <p:sp>
        <p:nvSpPr>
          <p:cNvPr id="489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90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三步向导：选材料排序 → 选模板封面 → 生成</a:t>
            </a:r>
            <a:endParaRPr lang="en-US" sz="1350" dirty="0"/>
          </a:p>
        </p:txBody>
      </p:sp>
      <p:sp>
        <p:nvSpPr>
          <p:cNvPr id="491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92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Word（WPS 不跑版）· A4 PDF · A3 骑马订</a:t>
            </a:r>
            <a:endParaRPr lang="en-US" sz="1350" dirty="0"/>
          </a:p>
        </p:txBody>
      </p:sp>
      <p:sp>
        <p:nvSpPr>
          <p:cNvPr id="493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94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批量模式：每份材料独立成文，失败不中断</a:t>
            </a:r>
            <a:endParaRPr lang="en-US" sz="1350" dirty="0"/>
          </a:p>
        </p:txBody>
      </p:sp>
      <p:sp>
        <p:nvSpPr>
          <p:cNvPr id="495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200" dirty="0"/>
          </a:p>
        </p:txBody>
      </p:sp>
      <p:sp>
        <p:nvSpPr>
          <p:cNvPr id="496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>
  <p:cSld name="Slide 26">
    <p:bg>
      <p:bgPr>
        <a:solidFill>
          <a:srgbClr val="FFFFFF"/>
        </a:solidFill>
      </p:bgPr>
    </p:bg>
    <p:spTree>
      <p:nvGrpSpPr>
        <p:cNvPr id="4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499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500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01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三步向导：从一堆材料到一本汇编</a:t>
            </a:r>
            <a:endParaRPr lang="en-US" sz="2600" dirty="0"/>
          </a:p>
        </p:txBody>
      </p:sp>
      <p:sp>
        <p:nvSpPr>
          <p:cNvPr id="502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200" dirty="0"/>
          </a:p>
        </p:txBody>
      </p:sp>
      <p:sp>
        <p:nvSpPr>
          <p:cNvPr id="503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504" name="Shape 6"/>
          <p:cNvSpPr/>
          <p:nvPr/>
        </p:nvSpPr>
        <p:spPr>
          <a:xfrm>
            <a:off x="457200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05" name="Text 7"/>
          <p:cNvSpPr/>
          <p:nvPr/>
        </p:nvSpPr>
        <p:spPr>
          <a:xfrm>
            <a:off x="694944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选择材料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全部文档勾选，默认全选；拖拽或上下移调整合并顺序；可选“材料标题作一级标题”</a:t>
            </a:r>
            <a:endParaRPr lang="en-US" sz="1200" dirty="0"/>
          </a:p>
        </p:txBody>
      </p:sp>
      <p:sp>
        <p:nvSpPr>
          <p:cNvPr id="506" name="Shape 8"/>
          <p:cNvSpPr/>
          <p:nvPr/>
        </p:nvSpPr>
        <p:spPr>
          <a:xfrm>
            <a:off x="4114800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07" name="Shape 9"/>
          <p:cNvSpPr/>
          <p:nvPr/>
        </p:nvSpPr>
        <p:spPr>
          <a:xfrm>
            <a:off x="4453128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08" name="Text 10"/>
          <p:cNvSpPr/>
          <p:nvPr/>
        </p:nvSpPr>
        <p:spPr>
          <a:xfrm>
            <a:off x="4690872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模板与封面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下拉选模板（可跳转管理）；填封面标题、汇编单位、落款日期；勾选生成封面页</a:t>
            </a:r>
            <a:endParaRPr lang="en-US" sz="1200" dirty="0"/>
          </a:p>
        </p:txBody>
      </p:sp>
      <p:sp>
        <p:nvSpPr>
          <p:cNvPr id="509" name="Shape 11"/>
          <p:cNvSpPr/>
          <p:nvPr/>
        </p:nvSpPr>
        <p:spPr>
          <a:xfrm>
            <a:off x="8110728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10" name="Shape 12"/>
          <p:cNvSpPr/>
          <p:nvPr/>
        </p:nvSpPr>
        <p:spPr>
          <a:xfrm>
            <a:off x="8449056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9E2B25"/>
          </a:solidFill>
          <a:ln/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11" name="Text 13"/>
          <p:cNvSpPr/>
          <p:nvPr/>
        </p:nvSpPr>
        <p:spPr>
          <a:xfrm>
            <a:off x="8686800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kern="0" spc="200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生成输出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同名自动加时间戳防覆盖；完成后一键打开输出文件夹</a:t>
            </a:r>
            <a:endParaRPr lang="en-US" sz="1200" dirty="0"/>
          </a:p>
        </p:txBody>
      </p:sp>
      <p:sp>
        <p:nvSpPr>
          <p:cNvPr id="512" name="Text 14"/>
          <p:cNvSpPr/>
          <p:nvPr/>
        </p:nvSpPr>
        <p:spPr>
          <a:xfrm>
            <a:off x="4572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四种输出（可多选）</a:t>
            </a:r>
            <a:endParaRPr lang="en-US" sz="1400" dirty="0"/>
          </a:p>
        </p:txBody>
      </p:sp>
      <p:sp>
        <p:nvSpPr>
          <p:cNvPr id="513" name="Shape 15"/>
          <p:cNvSpPr/>
          <p:nvPr/>
        </p:nvSpPr>
        <p:spPr>
          <a:xfrm>
            <a:off x="457200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  <p:txBody>
          <a:bodyPr/>
          <a:p/>
        </p:txBody>
      </p:sp>
      <p:sp>
        <p:nvSpPr>
          <p:cNvPr id="514" name="Text 16"/>
          <p:cNvSpPr/>
          <p:nvPr/>
        </p:nvSpPr>
        <p:spPr>
          <a:xfrm>
            <a:off x="640080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 .docx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OOXML，WPS / Word 通用</a:t>
            </a:r>
            <a:endParaRPr lang="en-US" sz="1350" dirty="0"/>
          </a:p>
        </p:txBody>
      </p:sp>
      <p:sp>
        <p:nvSpPr>
          <p:cNvPr id="515" name="Shape 17"/>
          <p:cNvSpPr/>
          <p:nvPr/>
        </p:nvSpPr>
        <p:spPr>
          <a:xfrm>
            <a:off x="3328416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  <p:txBody>
          <a:bodyPr/>
          <a:p/>
        </p:txBody>
      </p:sp>
      <p:sp>
        <p:nvSpPr>
          <p:cNvPr id="516" name="Text 18"/>
          <p:cNvSpPr/>
          <p:nvPr/>
        </p:nvSpPr>
        <p:spPr>
          <a:xfrm>
            <a:off x="3511296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内置渲染器，真实目录页码</a:t>
            </a:r>
            <a:endParaRPr lang="en-US" sz="1350" dirty="0"/>
          </a:p>
        </p:txBody>
      </p:sp>
      <p:sp>
        <p:nvSpPr>
          <p:cNvPr id="517" name="Shape 19"/>
          <p:cNvSpPr/>
          <p:nvPr/>
        </p:nvSpPr>
        <p:spPr>
          <a:xfrm>
            <a:off x="6199632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  <p:txBody>
          <a:bodyPr/>
          <a:p/>
        </p:txBody>
      </p:sp>
      <p:sp>
        <p:nvSpPr>
          <p:cNvPr id="518" name="Text 20"/>
          <p:cNvSpPr/>
          <p:nvPr/>
        </p:nvSpPr>
        <p:spPr>
          <a:xfrm>
            <a:off x="6382512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自动补页 · 页序自动排列</a:t>
            </a:r>
            <a:endParaRPr lang="en-US" sz="1350" dirty="0"/>
          </a:p>
        </p:txBody>
      </p:sp>
      <p:sp>
        <p:nvSpPr>
          <p:cNvPr id="519" name="Shape 21"/>
          <p:cNvSpPr/>
          <p:nvPr/>
        </p:nvSpPr>
        <p:spPr>
          <a:xfrm>
            <a:off x="9070848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  <p:txBody>
          <a:bodyPr/>
          <a:p/>
        </p:txBody>
      </p:sp>
      <p:sp>
        <p:nvSpPr>
          <p:cNvPr id="520" name="Text 22"/>
          <p:cNvSpPr/>
          <p:nvPr/>
        </p:nvSpPr>
        <p:spPr>
          <a:xfrm>
            <a:off x="9253728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每份材料独立成文，失败不中断</a:t>
            </a:r>
            <a:endParaRPr lang="en-US" sz="1350" dirty="0"/>
          </a:p>
        </p:txBody>
      </p:sp>
      <p:sp>
        <p:nvSpPr>
          <p:cNvPr id="521" name="Text 23"/>
          <p:cNvSpPr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输出位置：我的文档\公文汇编输出\（独立于数据目录，方便直接取用）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 name="Slide 27">
    <p:bg>
      <p:bgPr>
        <a:solidFill>
          <a:srgbClr val="FFFFFF"/>
        </a:solidFill>
      </p:bgPr>
    </p:bg>
    <p:spTree>
      <p:nvGrpSpPr>
        <p:cNvPr id="5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524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525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26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默认模板：军队机关公文格式开箱即用</a:t>
            </a:r>
            <a:endParaRPr lang="en-US" sz="2600" dirty="0"/>
          </a:p>
        </p:txBody>
      </p:sp>
      <p:sp>
        <p:nvSpPr>
          <p:cNvPr id="527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200" dirty="0"/>
          </a:p>
        </p:txBody>
      </p:sp>
      <p:sp>
        <p:nvSpPr>
          <p:cNvPr id="528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529" name="Text 6"/>
          <p:cNvSpPr/>
          <p:nvPr/>
        </p:nvSpPr>
        <p:spPr>
          <a:xfrm>
            <a:off x="4572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</a:t>
            </a:r>
            <a:endParaRPr lang="en-US" sz="1350" dirty="0"/>
          </a:p>
        </p:txBody>
      </p:sp>
      <p:sp>
        <p:nvSpPr>
          <p:cNvPr id="530" name="Text 7"/>
          <p:cNvSpPr/>
          <p:nvPr/>
        </p:nvSpPr>
        <p:spPr>
          <a:xfrm>
            <a:off x="2286000" y="178308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 37 · 下 35 · 左 28 · 右 26 毫米（国标版心）</a:t>
            </a:r>
            <a:endParaRPr lang="en-US" sz="1300" dirty="0"/>
          </a:p>
        </p:txBody>
      </p:sp>
      <p:sp>
        <p:nvSpPr>
          <p:cNvPr id="531" name="Shape 8"/>
          <p:cNvSpPr/>
          <p:nvPr/>
        </p:nvSpPr>
        <p:spPr>
          <a:xfrm>
            <a:off x="457200" y="234086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532" name="Text 9"/>
          <p:cNvSpPr/>
          <p:nvPr/>
        </p:nvSpPr>
        <p:spPr>
          <a:xfrm>
            <a:off x="457200" y="23957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350" dirty="0"/>
          </a:p>
        </p:txBody>
      </p:sp>
      <p:sp>
        <p:nvSpPr>
          <p:cNvPr id="533" name="Text 10"/>
          <p:cNvSpPr/>
          <p:nvPr/>
        </p:nvSpPr>
        <p:spPr>
          <a:xfrm>
            <a:off x="2286000" y="239572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仿宋_GB2312 · 三号（16pt）· 固定行距 28 磅</a:t>
            </a:r>
            <a:endParaRPr lang="en-US" sz="1300" dirty="0"/>
          </a:p>
        </p:txBody>
      </p:sp>
      <p:sp>
        <p:nvSpPr>
          <p:cNvPr id="534" name="Shape 11"/>
          <p:cNvSpPr/>
          <p:nvPr/>
        </p:nvSpPr>
        <p:spPr>
          <a:xfrm>
            <a:off x="457200" y="2953512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535" name="Text 12"/>
          <p:cNvSpPr/>
          <p:nvPr/>
        </p:nvSpPr>
        <p:spPr>
          <a:xfrm>
            <a:off x="457200" y="300837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首行缩进</a:t>
            </a:r>
            <a:endParaRPr lang="en-US" sz="1350" dirty="0"/>
          </a:p>
        </p:txBody>
      </p:sp>
      <p:sp>
        <p:nvSpPr>
          <p:cNvPr id="536" name="Text 13"/>
          <p:cNvSpPr/>
          <p:nvPr/>
        </p:nvSpPr>
        <p:spPr>
          <a:xfrm>
            <a:off x="2286000" y="300837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字符（firstLineChars=200，随字号缩放）</a:t>
            </a:r>
            <a:endParaRPr lang="en-US" sz="1300" dirty="0"/>
          </a:p>
        </p:txBody>
      </p:sp>
      <p:sp>
        <p:nvSpPr>
          <p:cNvPr id="537" name="Shape 14"/>
          <p:cNvSpPr/>
          <p:nvPr/>
        </p:nvSpPr>
        <p:spPr>
          <a:xfrm>
            <a:off x="457200" y="3566160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538" name="Text 15"/>
          <p:cNvSpPr/>
          <p:nvPr/>
        </p:nvSpPr>
        <p:spPr>
          <a:xfrm>
            <a:off x="457200" y="36210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标题体系</a:t>
            </a:r>
            <a:endParaRPr lang="en-US" sz="1350" dirty="0"/>
          </a:p>
        </p:txBody>
      </p:sp>
      <p:sp>
        <p:nvSpPr>
          <p:cNvPr id="539" name="Text 16"/>
          <p:cNvSpPr/>
          <p:nvPr/>
        </p:nvSpPr>
        <p:spPr>
          <a:xfrm>
            <a:off x="2286000" y="36210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 黑体 · 二级 楷体 · 三级 仿宋加粗</a:t>
            </a:r>
            <a:endParaRPr lang="en-US" sz="1300" dirty="0"/>
          </a:p>
        </p:txBody>
      </p:sp>
      <p:sp>
        <p:nvSpPr>
          <p:cNvPr id="540" name="Shape 17"/>
          <p:cNvSpPr/>
          <p:nvPr/>
        </p:nvSpPr>
        <p:spPr>
          <a:xfrm>
            <a:off x="457200" y="4178808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541" name="Text 18"/>
          <p:cNvSpPr/>
          <p:nvPr/>
        </p:nvSpPr>
        <p:spPr>
          <a:xfrm>
            <a:off x="457200" y="42336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</a:t>
            </a:r>
            <a:endParaRPr lang="en-US" sz="1350" dirty="0"/>
          </a:p>
        </p:txBody>
      </p:sp>
      <p:sp>
        <p:nvSpPr>
          <p:cNvPr id="542" name="Text 19"/>
          <p:cNvSpPr/>
          <p:nvPr/>
        </p:nvSpPr>
        <p:spPr>
          <a:xfrm>
            <a:off x="2286000" y="423367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宋体四号 · 奇数右 / 偶数左（外侧）· “— 1 —”格式</a:t>
            </a:r>
            <a:endParaRPr lang="en-US" sz="1300" dirty="0"/>
          </a:p>
        </p:txBody>
      </p:sp>
      <p:sp>
        <p:nvSpPr>
          <p:cNvPr id="543" name="Shape 20"/>
          <p:cNvSpPr/>
          <p:nvPr/>
        </p:nvSpPr>
        <p:spPr>
          <a:xfrm>
            <a:off x="457200" y="4791456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544" name="Text 21"/>
          <p:cNvSpPr/>
          <p:nvPr/>
        </p:nvSpPr>
        <p:spPr>
          <a:xfrm>
            <a:off x="457200" y="4846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</a:t>
            </a:r>
            <a:endParaRPr lang="en-US" sz="1350" dirty="0"/>
          </a:p>
        </p:txBody>
      </p:sp>
      <p:sp>
        <p:nvSpPr>
          <p:cNvPr id="545" name="Text 22"/>
          <p:cNvSpPr/>
          <p:nvPr/>
        </p:nvSpPr>
        <p:spPr>
          <a:xfrm>
            <a:off x="2286000" y="4846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机关标志 方正小标宋 36pt 红字 + 发文字号 + 红色分隔线</a:t>
            </a:r>
            <a:endParaRPr lang="en-US" sz="1300" dirty="0"/>
          </a:p>
        </p:txBody>
      </p:sp>
      <p:sp>
        <p:nvSpPr>
          <p:cNvPr id="546" name="Shape 23"/>
          <p:cNvSpPr/>
          <p:nvPr/>
        </p:nvSpPr>
        <p:spPr>
          <a:xfrm>
            <a:off x="457200" y="540410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547" name="Text 24"/>
          <p:cNvSpPr/>
          <p:nvPr/>
        </p:nvSpPr>
        <p:spPr>
          <a:xfrm>
            <a:off x="457200" y="54589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可选件</a:t>
            </a:r>
            <a:endParaRPr lang="en-US" sz="1350" dirty="0"/>
          </a:p>
        </p:txBody>
      </p:sp>
      <p:sp>
        <p:nvSpPr>
          <p:cNvPr id="548" name="Text 25"/>
          <p:cNvSpPr/>
          <p:nvPr/>
        </p:nvSpPr>
        <p:spPr>
          <a:xfrm>
            <a:off x="2286000" y="545896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 · 目录 · 版记 · 水印 / 密级标注（绝密·核心 / 绝密 / 机密 / 秘密）</a:t>
            </a:r>
            <a:endParaRPr lang="en-US" sz="1300" dirty="0"/>
          </a:p>
        </p:txBody>
      </p:sp>
      <p:sp>
        <p:nvSpPr>
          <p:cNvPr id="549" name="Shape 26"/>
          <p:cNvSpPr/>
          <p:nvPr/>
        </p:nvSpPr>
        <p:spPr>
          <a:xfrm>
            <a:off x="8732520" y="1783080"/>
            <a:ext cx="2999232" cy="4206240"/>
          </a:xfrm>
          <a:prstGeom prst="roundRect">
            <a:avLst>
              <a:gd name="adj" fmla="val 243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50" name="Shape 27"/>
          <p:cNvSpPr/>
          <p:nvPr/>
        </p:nvSpPr>
        <p:spPr>
          <a:xfrm>
            <a:off x="9098280" y="2057400"/>
            <a:ext cx="226771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EB2"/>
            </a:solidFill>
            <a:prstDash val="solid"/>
          </a:ln>
        </p:spPr>
        <p:txBody>
          <a:bodyPr/>
          <a:p/>
        </p:txBody>
      </p:sp>
      <p:sp>
        <p:nvSpPr>
          <p:cNvPr id="551" name="Text 28"/>
          <p:cNvSpPr/>
          <p:nvPr/>
        </p:nvSpPr>
        <p:spPr>
          <a:xfrm>
            <a:off x="9098280" y="219456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32F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××机关文件</a:t>
            </a:r>
            <a:endParaRPr lang="en-US" sz="1100" dirty="0"/>
          </a:p>
        </p:txBody>
      </p:sp>
      <p:sp>
        <p:nvSpPr>
          <p:cNvPr id="552" name="Text 29"/>
          <p:cNvSpPr/>
          <p:nvPr/>
        </p:nvSpPr>
        <p:spPr>
          <a:xfrm>
            <a:off x="9098280" y="25786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×政办发〔2026〕12号</a:t>
            </a:r>
            <a:endParaRPr lang="en-US" sz="850" dirty="0"/>
          </a:p>
        </p:txBody>
      </p:sp>
      <p:sp>
        <p:nvSpPr>
          <p:cNvPr id="553" name="Shape 30"/>
          <p:cNvSpPr/>
          <p:nvPr/>
        </p:nvSpPr>
        <p:spPr>
          <a:xfrm>
            <a:off x="9464040" y="2907792"/>
            <a:ext cx="1536192" cy="25603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554" name="Shape 31"/>
          <p:cNvSpPr/>
          <p:nvPr/>
        </p:nvSpPr>
        <p:spPr>
          <a:xfrm>
            <a:off x="9281160" y="3154680"/>
            <a:ext cx="1901952" cy="82296"/>
          </a:xfrm>
          <a:prstGeom prst="rect">
            <a:avLst/>
          </a:prstGeom>
          <a:solidFill>
            <a:srgbClr val="3B342E"/>
          </a:solidFill>
          <a:ln/>
        </p:spPr>
        <p:txBody>
          <a:bodyPr/>
          <a:p/>
        </p:txBody>
      </p:sp>
      <p:sp>
        <p:nvSpPr>
          <p:cNvPr id="555" name="Shape 32"/>
          <p:cNvSpPr/>
          <p:nvPr/>
        </p:nvSpPr>
        <p:spPr>
          <a:xfrm>
            <a:off x="9281160" y="3401568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  <p:txBody>
          <a:bodyPr/>
          <a:p/>
        </p:txBody>
      </p:sp>
      <p:sp>
        <p:nvSpPr>
          <p:cNvPr id="556" name="Shape 33"/>
          <p:cNvSpPr/>
          <p:nvPr/>
        </p:nvSpPr>
        <p:spPr>
          <a:xfrm>
            <a:off x="9281160" y="3639312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  <p:txBody>
          <a:bodyPr/>
          <a:p/>
        </p:txBody>
      </p:sp>
      <p:sp>
        <p:nvSpPr>
          <p:cNvPr id="557" name="Shape 34"/>
          <p:cNvSpPr/>
          <p:nvPr/>
        </p:nvSpPr>
        <p:spPr>
          <a:xfrm>
            <a:off x="9281160" y="3877056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  <p:txBody>
          <a:bodyPr/>
          <a:p/>
        </p:txBody>
      </p:sp>
      <p:sp>
        <p:nvSpPr>
          <p:cNvPr id="558" name="Shape 35"/>
          <p:cNvSpPr/>
          <p:nvPr/>
        </p:nvSpPr>
        <p:spPr>
          <a:xfrm>
            <a:off x="9281160" y="4114800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  <p:txBody>
          <a:bodyPr/>
          <a:p/>
        </p:txBody>
      </p:sp>
      <p:sp>
        <p:nvSpPr>
          <p:cNvPr id="559" name="Shape 36"/>
          <p:cNvSpPr/>
          <p:nvPr/>
        </p:nvSpPr>
        <p:spPr>
          <a:xfrm>
            <a:off x="9281160" y="4352544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  <p:txBody>
          <a:bodyPr/>
          <a:p/>
        </p:txBody>
      </p:sp>
      <p:sp>
        <p:nvSpPr>
          <p:cNvPr id="560" name="Shape 37"/>
          <p:cNvSpPr/>
          <p:nvPr/>
        </p:nvSpPr>
        <p:spPr>
          <a:xfrm>
            <a:off x="9281160" y="4590288"/>
            <a:ext cx="1005840" cy="50292"/>
          </a:xfrm>
          <a:prstGeom prst="rect">
            <a:avLst/>
          </a:prstGeom>
          <a:solidFill>
            <a:srgbClr val="B4A99D"/>
          </a:solidFill>
          <a:ln/>
        </p:spPr>
        <p:txBody>
          <a:bodyPr/>
          <a:p/>
        </p:txBody>
      </p:sp>
      <p:sp>
        <p:nvSpPr>
          <p:cNvPr id="561" name="Text 38"/>
          <p:cNvSpPr/>
          <p:nvPr/>
        </p:nvSpPr>
        <p:spPr>
          <a:xfrm>
            <a:off x="10469880" y="489204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1 —</a:t>
            </a:r>
            <a:endParaRPr lang="en-US" sz="850" dirty="0"/>
          </a:p>
        </p:txBody>
      </p:sp>
      <p:sp>
        <p:nvSpPr>
          <p:cNvPr id="562" name="Text 39"/>
          <p:cNvSpPr/>
          <p:nvPr/>
        </p:nvSpPr>
        <p:spPr>
          <a:xfrm>
            <a:off x="8869680" y="5440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JSON 实时渲染预览</a:t>
            </a:r>
            <a:endParaRPr lang="en-US" sz="1150" dirty="0"/>
          </a:p>
        </p:txBody>
      </p:sp>
      <p:sp>
        <p:nvSpPr>
          <p:cNvPr id="563" name="Text 4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模板管理器三参数页 + 实时首页预览，保存即生效；字体不随包分发（版权），缺失时启动自动提示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>
  <p:cSld name="Slide 28">
    <p:bg>
      <p:bgPr>
        <a:solidFill>
          <a:srgbClr val="FFFFFF"/>
        </a:solidFill>
      </p:bgPr>
    </p:bg>
    <p:spTree>
      <p:nvGrpSpPr>
        <p:cNvPr id="5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566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567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68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生成引擎：六项底层细节，换来“不跑版”</a:t>
            </a:r>
            <a:endParaRPr lang="en-US" sz="2600" dirty="0"/>
          </a:p>
        </p:txBody>
      </p:sp>
      <p:sp>
        <p:nvSpPr>
          <p:cNvPr id="569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200" dirty="0"/>
          </a:p>
        </p:txBody>
      </p:sp>
      <p:sp>
        <p:nvSpPr>
          <p:cNvPr id="570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571" name="Shape 6"/>
          <p:cNvSpPr/>
          <p:nvPr/>
        </p:nvSpPr>
        <p:spPr>
          <a:xfrm>
            <a:off x="457200" y="18653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572" name="Text 7"/>
          <p:cNvSpPr/>
          <p:nvPr/>
        </p:nvSpPr>
        <p:spPr>
          <a:xfrm>
            <a:off x="694944" y="178308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目录真域代码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TOC \o "1-3" \h \z \u + settings 写入 w:updateFields，Word/WPS 打开自动刷新页码</a:t>
            </a:r>
            <a:endParaRPr lang="en-US" sz="1350" dirty="0"/>
          </a:p>
        </p:txBody>
      </p:sp>
      <p:sp>
        <p:nvSpPr>
          <p:cNvPr id="573" name="Shape 8"/>
          <p:cNvSpPr/>
          <p:nvPr/>
        </p:nvSpPr>
        <p:spPr>
          <a:xfrm>
            <a:off x="457200" y="25786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574" name="Text 9"/>
          <p:cNvSpPr/>
          <p:nvPr/>
        </p:nvSpPr>
        <p:spPr>
          <a:xfrm>
            <a:off x="694944" y="2496312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中文字体不丢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每个 run 同时设置 ascii / hAnsi / eastAsia 三个字体位</a:t>
            </a:r>
            <a:endParaRPr lang="en-US" sz="1350" dirty="0"/>
          </a:p>
        </p:txBody>
      </p:sp>
      <p:sp>
        <p:nvSpPr>
          <p:cNvPr id="575" name="Shape 10"/>
          <p:cNvSpPr/>
          <p:nvPr/>
        </p:nvSpPr>
        <p:spPr>
          <a:xfrm>
            <a:off x="457200" y="32918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576" name="Text 11"/>
          <p:cNvSpPr/>
          <p:nvPr/>
        </p:nvSpPr>
        <p:spPr>
          <a:xfrm>
            <a:off x="694944" y="3209544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缩进随字号缩放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firstLineChars=200（字符单位）并写 twips 兜底，改字号不乱缩进</a:t>
            </a:r>
            <a:endParaRPr lang="en-US" sz="1350" dirty="0"/>
          </a:p>
        </p:txBody>
      </p:sp>
      <p:sp>
        <p:nvSpPr>
          <p:cNvPr id="577" name="Shape 12"/>
          <p:cNvSpPr/>
          <p:nvPr/>
        </p:nvSpPr>
        <p:spPr>
          <a:xfrm>
            <a:off x="457200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578" name="Text 13"/>
          <p:cNvSpPr/>
          <p:nvPr/>
        </p:nvSpPr>
        <p:spPr>
          <a:xfrm>
            <a:off x="694944" y="3922776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页码在外侧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evenAndOddHeaders 奇偶页脚 + PAGE 域，奇数右偶数左</a:t>
            </a:r>
            <a:endParaRPr lang="en-US" sz="1350" dirty="0"/>
          </a:p>
        </p:txBody>
      </p:sp>
      <p:sp>
        <p:nvSpPr>
          <p:cNvPr id="579" name="Shape 14"/>
          <p:cNvSpPr/>
          <p:nvPr/>
        </p:nvSpPr>
        <p:spPr>
          <a:xfrm>
            <a:off x="457200" y="47183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580" name="Text 15"/>
          <p:cNvSpPr/>
          <p:nvPr/>
        </p:nvSpPr>
        <p:spPr>
          <a:xfrm>
            <a:off x="694944" y="4636008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红头红线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红色分隔线用段落底边框（FF0000 · 15/8pt），标题挂 Heading 1–3 供目录抓取</a:t>
            </a:r>
            <a:endParaRPr lang="en-US" sz="1350" dirty="0"/>
          </a:p>
        </p:txBody>
      </p:sp>
      <p:sp>
        <p:nvSpPr>
          <p:cNvPr id="581" name="Shape 16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582" name="Text 17"/>
          <p:cNvSpPr/>
          <p:nvPr/>
        </p:nvSpPr>
        <p:spPr>
          <a:xfrm>
            <a:off x="694944" y="534924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水印注入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页眉 VML 艺术字水印（Word/WPS 标准做法），透明度可调</a:t>
            </a:r>
            <a:endParaRPr lang="en-US" sz="1350" dirty="0"/>
          </a:p>
        </p:txBody>
      </p:sp>
      <p:sp>
        <p:nvSpPr>
          <p:cNvPr id="583" name="Shape 18"/>
          <p:cNvSpPr/>
          <p:nvPr/>
        </p:nvSpPr>
        <p:spPr>
          <a:xfrm>
            <a:off x="8229600" y="192024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9E2B25"/>
          </a:solidFill>
          <a:ln/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84" name="Text 19"/>
          <p:cNvSpPr/>
          <p:nvPr/>
        </p:nvSpPr>
        <p:spPr>
          <a:xfrm>
            <a:off x="8522208" y="219456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 打开</a:t>
            </a:r>
            <a:endParaRPr lang="en-US" sz="3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不跑版</a:t>
            </a:r>
            <a:endParaRPr lang="en-US" sz="3000" dirty="0"/>
          </a:p>
          <a:p>
            <a:pPr marL="0" indent="0">
              <a:lnSpc>
                <a:spcPct val="130000"/>
              </a:lnSpc>
              <a:buNone/>
            </a:pPr>
            <a:endParaRPr lang="en-US" sz="3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纯标准 OOXML：</a:t>
            </a:r>
            <a:endParaRPr lang="en-US" sz="3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域代码 · 字符缩进 ·</a:t>
            </a:r>
            <a:endParaRPr lang="en-US" sz="3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奇偶页脚全部按规范写入，</a:t>
            </a:r>
            <a:endParaRPr lang="en-US" sz="3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永中 / WPS / Word 三端验证</a:t>
            </a:r>
            <a:endParaRPr lang="en-US" sz="3000" dirty="0"/>
          </a:p>
        </p:txBody>
      </p:sp>
      <p:sp>
        <p:nvSpPr>
          <p:cNvPr id="585" name="Text 2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验收：test_compile_pdf 校验 TOC 域 / updateFields / 奇偶页脚 / 28 磅行距 / 重开解析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 name="Slide 29">
    <p:bg>
      <p:bgPr>
        <a:solidFill>
          <a:srgbClr val="FFFFFF"/>
        </a:solidFill>
      </p:bgPr>
    </p:bg>
    <p:spTree>
      <p:nvGrpSpPr>
        <p:cNvPr id="5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588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589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90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PDF 渲染器：两遍渲染算准目录页码</a:t>
            </a:r>
            <a:endParaRPr lang="en-US" sz="2600" dirty="0"/>
          </a:p>
        </p:txBody>
      </p:sp>
      <p:sp>
        <p:nvSpPr>
          <p:cNvPr id="591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592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593" name="Shape 6"/>
          <p:cNvSpPr/>
          <p:nvPr/>
        </p:nvSpPr>
        <p:spPr>
          <a:xfrm>
            <a:off x="45720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  <p:txBody>
          <a:bodyPr/>
          <a:p/>
        </p:txBody>
      </p:sp>
      <p:sp>
        <p:nvSpPr>
          <p:cNvPr id="594" name="Text 7"/>
          <p:cNvSpPr/>
          <p:nvPr/>
        </p:nvSpPr>
        <p:spPr>
          <a:xfrm>
            <a:off x="64008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第一遍渲染</a:t>
            </a:r>
            <a:endParaRPr lang="en-US" sz="14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目录页码用“00”占位</a:t>
            </a:r>
            <a:endParaRPr lang="en-US" sz="14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占位宽度≈真实页码</a:t>
            </a:r>
            <a:endParaRPr lang="en-US" sz="14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保证分页与最终一致</a:t>
            </a:r>
            <a:endParaRPr lang="en-US" sz="1450" dirty="0"/>
          </a:p>
        </p:txBody>
      </p:sp>
      <p:sp>
        <p:nvSpPr>
          <p:cNvPr id="595" name="Shape 8"/>
          <p:cNvSpPr/>
          <p:nvPr/>
        </p:nvSpPr>
        <p:spPr>
          <a:xfrm>
            <a:off x="307238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96" name="Shape 9"/>
          <p:cNvSpPr/>
          <p:nvPr/>
        </p:nvSpPr>
        <p:spPr>
          <a:xfrm>
            <a:off x="338328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597" name="Text 10"/>
          <p:cNvSpPr/>
          <p:nvPr/>
        </p:nvSpPr>
        <p:spPr>
          <a:xfrm>
            <a:off x="356616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定位标题页码</a:t>
            </a:r>
            <a:endParaRPr lang="en-US" sz="14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search_for 全文找标题</a:t>
            </a:r>
            <a:endParaRPr lang="en-US" sz="14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全匹配失败退 12 字前缀</a:t>
            </a:r>
            <a:endParaRPr lang="en-US" sz="14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重名标题按顺序单调消歧</a:t>
            </a:r>
            <a:endParaRPr lang="en-US" sz="1450" dirty="0"/>
          </a:p>
        </p:txBody>
      </p:sp>
      <p:sp>
        <p:nvSpPr>
          <p:cNvPr id="598" name="Shape 11"/>
          <p:cNvSpPr/>
          <p:nvPr/>
        </p:nvSpPr>
        <p:spPr>
          <a:xfrm>
            <a:off x="599846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99" name="Shape 12"/>
          <p:cNvSpPr/>
          <p:nvPr/>
        </p:nvSpPr>
        <p:spPr>
          <a:xfrm>
            <a:off x="630936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  <p:txBody>
          <a:bodyPr/>
          <a:p/>
        </p:txBody>
      </p:sp>
      <p:sp>
        <p:nvSpPr>
          <p:cNvPr id="600" name="Text 13"/>
          <p:cNvSpPr/>
          <p:nvPr/>
        </p:nvSpPr>
        <p:spPr>
          <a:xfrm>
            <a:off x="649224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第二遍渲染</a:t>
            </a:r>
            <a:endParaRPr lang="en-US" sz="14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以真实页码重排重绘</a:t>
            </a:r>
            <a:endParaRPr lang="en-US" sz="14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前置页数解析式计算</a:t>
            </a:r>
            <a:endParaRPr lang="en-US" sz="14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（封面 1 页 + 目录分片数）</a:t>
            </a:r>
            <a:endParaRPr lang="en-US" sz="1450" dirty="0"/>
          </a:p>
        </p:txBody>
      </p:sp>
      <p:sp>
        <p:nvSpPr>
          <p:cNvPr id="601" name="Shape 14"/>
          <p:cNvSpPr/>
          <p:nvPr/>
        </p:nvSpPr>
        <p:spPr>
          <a:xfrm>
            <a:off x="892454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02" name="Shape 15"/>
          <p:cNvSpPr/>
          <p:nvPr/>
        </p:nvSpPr>
        <p:spPr>
          <a:xfrm>
            <a:off x="923544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603" name="Text 16"/>
          <p:cNvSpPr/>
          <p:nvPr/>
        </p:nvSpPr>
        <p:spPr>
          <a:xfrm>
            <a:off x="941832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页码盖章 + 水印</a:t>
            </a:r>
            <a:endParaRPr lang="en-US" sz="14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盖“奇右偶左”页码</a:t>
            </a:r>
            <a:endParaRPr lang="en-US" sz="14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内置中文字体 china-s</a:t>
            </a:r>
            <a:endParaRPr lang="en-US" sz="145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可选密级/文稿水印平铺</a:t>
            </a:r>
            <a:endParaRPr lang="en-US" sz="1450" dirty="0"/>
          </a:p>
        </p:txBody>
      </p:sp>
      <p:sp>
        <p:nvSpPr>
          <p:cNvPr id="604" name="Shape 17"/>
          <p:cNvSpPr/>
          <p:nvPr/>
        </p:nvSpPr>
        <p:spPr>
          <a:xfrm>
            <a:off x="457200" y="4526280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1F1917"/>
          </a:solidFill>
          <a:ln/>
        </p:spPr>
        <p:txBody>
          <a:bodyPr/>
          <a:p/>
        </p:txBody>
      </p:sp>
      <p:sp>
        <p:nvSpPr>
          <p:cNvPr id="605" name="Text 18"/>
          <p:cNvSpPr/>
          <p:nvPr/>
        </p:nvSpPr>
        <p:spPr>
          <a:xfrm>
            <a:off x="731520" y="47091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为什么值得做？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Word / WPS / LibreOffice —— 麒麟内网机器什么办公软件都没装，也能出带准确目录页码的正式 PDF。</a:t>
            </a:r>
            <a:endParaRPr lang="en-US" sz="1400" dirty="0"/>
          </a:p>
        </p:txBody>
      </p:sp>
      <p:sp>
        <p:nvSpPr>
          <p:cNvPr id="606" name="Shape 19"/>
          <p:cNvSpPr/>
          <p:nvPr/>
        </p:nvSpPr>
        <p:spPr>
          <a:xfrm>
            <a:off x="6217920" y="4526280"/>
            <a:ext cx="5513832" cy="1600200"/>
          </a:xfrm>
          <a:prstGeom prst="roundRect">
            <a:avLst>
              <a:gd name="adj" fmla="val 457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607" name="Text 20"/>
          <p:cNvSpPr/>
          <p:nvPr/>
        </p:nvSpPr>
        <p:spPr>
          <a:xfrm>
            <a:off x="6492240" y="46634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外部办公软件依赖；目录分片（首页 20 行 / 后续每页 22 行）规避 Qt 表格不跨页限制</a:t>
            </a:r>
            <a:endParaRPr lang="en-US" sz="4400" dirty="0"/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 name="Slide 30">
    <p:bg>
      <p:bgPr>
        <a:solidFill>
          <a:srgbClr val="FFFFFF"/>
        </a:solidFill>
      </p:bgPr>
    </p:bg>
    <p:spTree>
      <p:nvGrpSpPr>
        <p:cNvPr id="6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625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626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627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骑马订小册子：页序算法，折对即成册</a:t>
            </a:r>
            <a:endParaRPr lang="en-US" sz="2600" dirty="0"/>
          </a:p>
        </p:txBody>
      </p:sp>
      <p:sp>
        <p:nvSpPr>
          <p:cNvPr id="628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200" dirty="0"/>
          </a:p>
        </p:txBody>
      </p:sp>
      <p:sp>
        <p:nvSpPr>
          <p:cNvPr id="629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630" name="Text 6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页手册 → 2 张 A3 纸（每张正反面，A4 两页并排）：</a:t>
            </a:r>
            <a:endParaRPr lang="en-US" sz="1350" dirty="0"/>
          </a:p>
        </p:txBody>
      </p:sp>
      <p:sp>
        <p:nvSpPr>
          <p:cNvPr id="631" name="Text 7"/>
          <p:cNvSpPr/>
          <p:nvPr/>
        </p:nvSpPr>
        <p:spPr>
          <a:xfrm>
            <a:off x="45720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正面</a:t>
            </a:r>
            <a:endParaRPr lang="en-US" sz="1250" dirty="0"/>
          </a:p>
        </p:txBody>
      </p:sp>
      <p:sp>
        <p:nvSpPr>
          <p:cNvPr id="632" name="Shape 8"/>
          <p:cNvSpPr/>
          <p:nvPr/>
        </p:nvSpPr>
        <p:spPr>
          <a:xfrm>
            <a:off x="45720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33" name="Shape 9"/>
          <p:cNvSpPr/>
          <p:nvPr/>
        </p:nvSpPr>
        <p:spPr>
          <a:xfrm>
            <a:off x="297180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  <p:txBody>
          <a:bodyPr/>
          <a:p/>
        </p:txBody>
      </p:sp>
      <p:sp>
        <p:nvSpPr>
          <p:cNvPr id="634" name="Text 10"/>
          <p:cNvSpPr/>
          <p:nvPr/>
        </p:nvSpPr>
        <p:spPr>
          <a:xfrm>
            <a:off x="4572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200" dirty="0"/>
          </a:p>
        </p:txBody>
      </p:sp>
      <p:sp>
        <p:nvSpPr>
          <p:cNvPr id="635" name="Text 11"/>
          <p:cNvSpPr/>
          <p:nvPr/>
        </p:nvSpPr>
        <p:spPr>
          <a:xfrm>
            <a:off x="29718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636" name="Text 12"/>
          <p:cNvSpPr/>
          <p:nvPr/>
        </p:nvSpPr>
        <p:spPr>
          <a:xfrm>
            <a:off x="635508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背面</a:t>
            </a:r>
            <a:endParaRPr lang="en-US" sz="1250" dirty="0"/>
          </a:p>
        </p:txBody>
      </p:sp>
      <p:sp>
        <p:nvSpPr>
          <p:cNvPr id="637" name="Shape 13"/>
          <p:cNvSpPr/>
          <p:nvPr/>
        </p:nvSpPr>
        <p:spPr>
          <a:xfrm>
            <a:off x="635508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38" name="Shape 14"/>
          <p:cNvSpPr/>
          <p:nvPr/>
        </p:nvSpPr>
        <p:spPr>
          <a:xfrm>
            <a:off x="886968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  <p:txBody>
          <a:bodyPr/>
          <a:p/>
        </p:txBody>
      </p:sp>
      <p:sp>
        <p:nvSpPr>
          <p:cNvPr id="639" name="Text 15"/>
          <p:cNvSpPr/>
          <p:nvPr/>
        </p:nvSpPr>
        <p:spPr>
          <a:xfrm>
            <a:off x="63550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640" name="Text 16"/>
          <p:cNvSpPr/>
          <p:nvPr/>
        </p:nvSpPr>
        <p:spPr>
          <a:xfrm>
            <a:off x="88696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3200" dirty="0"/>
          </a:p>
        </p:txBody>
      </p:sp>
      <p:sp>
        <p:nvSpPr>
          <p:cNvPr id="641" name="Text 17"/>
          <p:cNvSpPr/>
          <p:nvPr/>
        </p:nvSpPr>
        <p:spPr>
          <a:xfrm>
            <a:off x="45720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正面</a:t>
            </a:r>
            <a:endParaRPr lang="en-US" sz="1250" dirty="0"/>
          </a:p>
        </p:txBody>
      </p:sp>
      <p:sp>
        <p:nvSpPr>
          <p:cNvPr id="642" name="Shape 18"/>
          <p:cNvSpPr/>
          <p:nvPr/>
        </p:nvSpPr>
        <p:spPr>
          <a:xfrm>
            <a:off x="45720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43" name="Shape 19"/>
          <p:cNvSpPr/>
          <p:nvPr/>
        </p:nvSpPr>
        <p:spPr>
          <a:xfrm>
            <a:off x="297180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  <p:txBody>
          <a:bodyPr/>
          <a:p/>
        </p:txBody>
      </p:sp>
      <p:sp>
        <p:nvSpPr>
          <p:cNvPr id="644" name="Text 20"/>
          <p:cNvSpPr/>
          <p:nvPr/>
        </p:nvSpPr>
        <p:spPr>
          <a:xfrm>
            <a:off x="4572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200" dirty="0"/>
          </a:p>
        </p:txBody>
      </p:sp>
      <p:sp>
        <p:nvSpPr>
          <p:cNvPr id="645" name="Text 21"/>
          <p:cNvSpPr/>
          <p:nvPr/>
        </p:nvSpPr>
        <p:spPr>
          <a:xfrm>
            <a:off x="29718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646" name="Text 22"/>
          <p:cNvSpPr/>
          <p:nvPr/>
        </p:nvSpPr>
        <p:spPr>
          <a:xfrm>
            <a:off x="635508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背面</a:t>
            </a:r>
            <a:endParaRPr lang="en-US" sz="1250" dirty="0"/>
          </a:p>
        </p:txBody>
      </p:sp>
      <p:sp>
        <p:nvSpPr>
          <p:cNvPr id="647" name="Shape 23"/>
          <p:cNvSpPr/>
          <p:nvPr/>
        </p:nvSpPr>
        <p:spPr>
          <a:xfrm>
            <a:off x="635508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blurRad="88900" dist="25400" dir="36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48" name="Shape 24"/>
          <p:cNvSpPr/>
          <p:nvPr/>
        </p:nvSpPr>
        <p:spPr>
          <a:xfrm>
            <a:off x="886968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  <p:txBody>
          <a:bodyPr/>
          <a:p/>
        </p:txBody>
      </p:sp>
      <p:sp>
        <p:nvSpPr>
          <p:cNvPr id="649" name="Text 25"/>
          <p:cNvSpPr/>
          <p:nvPr/>
        </p:nvSpPr>
        <p:spPr>
          <a:xfrm>
            <a:off x="63550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200" dirty="0"/>
          </a:p>
        </p:txBody>
      </p:sp>
      <p:sp>
        <p:nvSpPr>
          <p:cNvPr id="650" name="Text 26"/>
          <p:cNvSpPr/>
          <p:nvPr/>
        </p:nvSpPr>
        <p:spPr>
          <a:xfrm>
            <a:off x="88696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200" dirty="0"/>
          </a:p>
        </p:txBody>
      </p:sp>
      <p:sp>
        <p:nvSpPr>
          <p:cNvPr id="651" name="Shape 27"/>
          <p:cNvSpPr/>
          <p:nvPr/>
        </p:nvSpPr>
        <p:spPr>
          <a:xfrm>
            <a:off x="457200" y="5687568"/>
            <a:ext cx="11247120" cy="621792"/>
          </a:xfrm>
          <a:prstGeom prst="roundRect">
            <a:avLst>
              <a:gd name="adj" fmla="val 10294"/>
            </a:avLst>
          </a:prstGeom>
          <a:solidFill>
            <a:srgbClr val="1F1917"/>
          </a:solidFill>
          <a:ln/>
        </p:spPr>
        <p:txBody>
          <a:bodyPr/>
          <a:p/>
        </p:txBody>
      </p:sp>
      <p:sp>
        <p:nvSpPr>
          <p:cNvPr id="652" name="Text 28"/>
          <p:cNvSpPr/>
          <p:nvPr/>
        </p:nvSpPr>
        <p:spPr>
          <a:xfrm>
            <a:off x="731520" y="568756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k 张纸（k 从 0 计）公式：</a:t>
            </a: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 [N−2k, 2k+1] · 背面 [2k+2, N−2k−1]；页数自动补齐 4 的倍数（末尾补空白页）。沿中线装订折叠后恰为 1–8 页顺序（test_booklet_order_math 验收）。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 name="Slide 31">
    <p:bg>
      <p:bgPr>
        <a:solidFill>
          <a:srgbClr val="1F1917"/>
        </a:solidFill>
      </p:bgPr>
    </p:bg>
    <p:spTree>
      <p:nvGrpSpPr>
        <p:cNvPr id="6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655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656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657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658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3800" dirty="0"/>
          </a:p>
        </p:txBody>
      </p:sp>
      <p:sp>
        <p:nvSpPr>
          <p:cNvPr id="659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交出去之前，再把它从头到尾查一遍</a:t>
            </a:r>
            <a:endParaRPr lang="en-US" sz="1500" dirty="0"/>
          </a:p>
        </p:txBody>
      </p:sp>
      <p:sp>
        <p:nvSpPr>
          <p:cNvPr id="660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661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军队公文格式体检：编号链条到字体行距</a:t>
            </a:r>
            <a:endParaRPr lang="en-US" sz="1350" dirty="0"/>
          </a:p>
        </p:txBody>
      </p:sp>
      <p:sp>
        <p:nvSpPr>
          <p:cNvPr id="662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663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+ SimHash 查重：改了哪、重复哪</a:t>
            </a:r>
            <a:endParaRPr lang="en-US" sz="1350" dirty="0"/>
          </a:p>
        </p:txBody>
      </p:sp>
      <p:sp>
        <p:nvSpPr>
          <p:cNvPr id="664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665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+ AES 备份：数据安全有多道保险</a:t>
            </a:r>
            <a:endParaRPr lang="en-US" sz="1350" dirty="0"/>
          </a:p>
        </p:txBody>
      </p:sp>
      <p:sp>
        <p:nvSpPr>
          <p:cNvPr id="666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200" dirty="0"/>
          </a:p>
        </p:txBody>
      </p:sp>
      <p:sp>
        <p:nvSpPr>
          <p:cNvPr id="667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 name="Slide 32">
    <p:bg>
      <p:bgPr>
        <a:solidFill>
          <a:srgbClr val="FFFFFF"/>
        </a:solidFill>
      </p:bgPr>
    </p:bg>
    <p:spTree>
      <p:nvGrpSpPr>
        <p:cNvPr id="6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670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671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672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格式体检：把《条例》和《国标》装进检查器</a:t>
            </a:r>
            <a:endParaRPr lang="en-US" sz="2600" dirty="0"/>
          </a:p>
        </p:txBody>
      </p:sp>
      <p:sp>
        <p:nvSpPr>
          <p:cNvPr id="673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674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675" name="Shape 6"/>
          <p:cNvSpPr/>
          <p:nvPr/>
        </p:nvSpPr>
        <p:spPr>
          <a:xfrm>
            <a:off x="457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676" name="Text 7"/>
          <p:cNvSpPr/>
          <p:nvPr/>
        </p:nvSpPr>
        <p:spPr>
          <a:xfrm>
            <a:off x="658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标题编号链条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一、（一）1.（1）逐行跟踪计数器：跳号、重复、回退、层级断档</a:t>
            </a:r>
            <a:endParaRPr lang="en-US" sz="1300" dirty="0"/>
          </a:p>
        </p:txBody>
      </p:sp>
      <p:sp>
        <p:nvSpPr>
          <p:cNvPr id="677" name="Shape 8"/>
          <p:cNvSpPr/>
          <p:nvPr/>
        </p:nvSpPr>
        <p:spPr>
          <a:xfrm>
            <a:off x="6172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678" name="Text 9"/>
          <p:cNvSpPr/>
          <p:nvPr/>
        </p:nvSpPr>
        <p:spPr>
          <a:xfrm>
            <a:off x="6373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发文字号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必须六角括号〔〕；圆括号 / 方括号直接报 error</a:t>
            </a:r>
            <a:endParaRPr lang="en-US" sz="1300" dirty="0"/>
          </a:p>
        </p:txBody>
      </p:sp>
      <p:sp>
        <p:nvSpPr>
          <p:cNvPr id="679" name="Shape 10"/>
          <p:cNvSpPr/>
          <p:nvPr/>
        </p:nvSpPr>
        <p:spPr>
          <a:xfrm>
            <a:off x="457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680" name="Text 11"/>
          <p:cNvSpPr/>
          <p:nvPr/>
        </p:nvSpPr>
        <p:spPr>
          <a:xfrm>
            <a:off x="658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成文日期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汉字年份、前导零、2026.8.30 点分格式提示</a:t>
            </a:r>
            <a:endParaRPr lang="en-US" sz="1300" dirty="0"/>
          </a:p>
        </p:txBody>
      </p:sp>
      <p:sp>
        <p:nvSpPr>
          <p:cNvPr id="681" name="Shape 12"/>
          <p:cNvSpPr/>
          <p:nvPr/>
        </p:nvSpPr>
        <p:spPr>
          <a:xfrm>
            <a:off x="6172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682" name="Text 13"/>
          <p:cNvSpPr/>
          <p:nvPr/>
        </p:nvSpPr>
        <p:spPr>
          <a:xfrm>
            <a:off x="6373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结束语×文种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请示→“妥否，请批示”；报告→“特此报告”；函→“为盼/为荷”</a:t>
            </a:r>
            <a:endParaRPr lang="en-US" sz="1300" dirty="0"/>
          </a:p>
        </p:txBody>
      </p:sp>
      <p:sp>
        <p:nvSpPr>
          <p:cNvPr id="683" name="Shape 14"/>
          <p:cNvSpPr/>
          <p:nvPr/>
        </p:nvSpPr>
        <p:spPr>
          <a:xfrm>
            <a:off x="457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684" name="Text 15"/>
          <p:cNvSpPr/>
          <p:nvPr/>
        </p:nvSpPr>
        <p:spPr>
          <a:xfrm>
            <a:off x="658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文种混用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报告夹带“请批示/请批复”报 error；请示多事项提示“一文一事”</a:t>
            </a:r>
            <a:endParaRPr lang="en-US" sz="1300" dirty="0"/>
          </a:p>
        </p:txBody>
      </p:sp>
      <p:sp>
        <p:nvSpPr>
          <p:cNvPr id="685" name="Shape 16"/>
          <p:cNvSpPr/>
          <p:nvPr/>
        </p:nvSpPr>
        <p:spPr>
          <a:xfrm>
            <a:off x="6172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686" name="Text 17"/>
          <p:cNvSpPr/>
          <p:nvPr/>
        </p:nvSpPr>
        <p:spPr>
          <a:xfrm>
            <a:off x="6373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体例细节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主送机关顶格；密级“秘密★保密期限”；附件说明全角冒号</a:t>
            </a:r>
            <a:endParaRPr lang="en-US" sz="1300" dirty="0"/>
          </a:p>
        </p:txBody>
      </p:sp>
      <p:sp>
        <p:nvSpPr>
          <p:cNvPr id="687" name="Shape 18"/>
          <p:cNvSpPr/>
          <p:nvPr/>
        </p:nvSpPr>
        <p:spPr>
          <a:xfrm>
            <a:off x="457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688" name="Text 19"/>
          <p:cNvSpPr/>
          <p:nvPr/>
        </p:nvSpPr>
        <p:spPr>
          <a:xfrm>
            <a:off x="658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 版式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 · 仿宋正文 · 三号字 · 28 磅行距 · 页脚 PAGE 域</a:t>
            </a:r>
            <a:endParaRPr lang="en-US" sz="1300" dirty="0"/>
          </a:p>
        </p:txBody>
      </p:sp>
      <p:sp>
        <p:nvSpPr>
          <p:cNvPr id="689" name="Shape 20"/>
          <p:cNvSpPr/>
          <p:nvPr/>
        </p:nvSpPr>
        <p:spPr>
          <a:xfrm>
            <a:off x="6172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690" name="Text 21"/>
          <p:cNvSpPr/>
          <p:nvPr/>
        </p:nvSpPr>
        <p:spPr>
          <a:xfrm>
            <a:off x="6373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防误报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版式类 &gt;30% 段落异常才整体报警，个别特例不打扰</a:t>
            </a:r>
            <a:endParaRPr lang="en-US" sz="1300" dirty="0"/>
          </a:p>
        </p:txBody>
      </p:sp>
      <p:sp>
        <p:nvSpPr>
          <p:cNvPr id="691" name="Text 22"/>
          <p:cNvSpPr/>
          <p:nvPr/>
        </p:nvSpPr>
        <p:spPr>
          <a:xfrm>
            <a:off x="457200" y="5943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结果三级着色：</a:t>
            </a:r>
            <a:endParaRPr lang="en-US" sz="1250" dirty="0"/>
          </a:p>
        </p:txBody>
      </p:sp>
      <p:sp>
        <p:nvSpPr>
          <p:cNvPr id="692" name="Shape 23"/>
          <p:cNvSpPr/>
          <p:nvPr/>
        </p:nvSpPr>
        <p:spPr>
          <a:xfrm>
            <a:off x="187452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693" name="Text 24"/>
          <p:cNvSpPr/>
          <p:nvPr/>
        </p:nvSpPr>
        <p:spPr>
          <a:xfrm>
            <a:off x="194767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 红</a:t>
            </a:r>
            <a:endParaRPr lang="en-US" sz="1150" dirty="0"/>
          </a:p>
        </p:txBody>
      </p:sp>
      <p:sp>
        <p:nvSpPr>
          <p:cNvPr id="694" name="Text 25"/>
          <p:cNvSpPr/>
          <p:nvPr/>
        </p:nvSpPr>
        <p:spPr>
          <a:xfrm>
            <a:off x="350215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</a:t>
            </a:r>
            <a:endParaRPr lang="en-US" sz="1150" dirty="0"/>
          </a:p>
        </p:txBody>
      </p:sp>
      <p:sp>
        <p:nvSpPr>
          <p:cNvPr id="695" name="Shape 26"/>
          <p:cNvSpPr/>
          <p:nvPr/>
        </p:nvSpPr>
        <p:spPr>
          <a:xfrm>
            <a:off x="457200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  <p:txBody>
          <a:bodyPr/>
          <a:p/>
        </p:txBody>
      </p:sp>
      <p:sp>
        <p:nvSpPr>
          <p:cNvPr id="696" name="Text 27"/>
          <p:cNvSpPr/>
          <p:nvPr/>
        </p:nvSpPr>
        <p:spPr>
          <a:xfrm>
            <a:off x="464515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warn 橙</a:t>
            </a:r>
            <a:endParaRPr lang="en-US" sz="1150" dirty="0"/>
          </a:p>
        </p:txBody>
      </p:sp>
      <p:sp>
        <p:nvSpPr>
          <p:cNvPr id="697" name="Text 28"/>
          <p:cNvSpPr/>
          <p:nvPr/>
        </p:nvSpPr>
        <p:spPr>
          <a:xfrm>
            <a:off x="619963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建议改</a:t>
            </a:r>
            <a:endParaRPr lang="en-US" sz="1150" dirty="0"/>
          </a:p>
        </p:txBody>
      </p:sp>
      <p:sp>
        <p:nvSpPr>
          <p:cNvPr id="698" name="Shape 29"/>
          <p:cNvSpPr/>
          <p:nvPr/>
        </p:nvSpPr>
        <p:spPr>
          <a:xfrm>
            <a:off x="726948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  <p:txBody>
          <a:bodyPr/>
          <a:p/>
        </p:txBody>
      </p:sp>
      <p:sp>
        <p:nvSpPr>
          <p:cNvPr id="699" name="Text 30"/>
          <p:cNvSpPr/>
          <p:nvPr/>
        </p:nvSpPr>
        <p:spPr>
          <a:xfrm>
            <a:off x="734263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info 灰</a:t>
            </a:r>
            <a:endParaRPr lang="en-US" sz="1150" dirty="0"/>
          </a:p>
        </p:txBody>
      </p:sp>
      <p:sp>
        <p:nvSpPr>
          <p:cNvPr id="700" name="Text 31"/>
          <p:cNvSpPr/>
          <p:nvPr/>
        </p:nvSpPr>
        <p:spPr>
          <a:xfrm>
            <a:off x="889711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供参考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>
  <p:cSld name="Slide 33">
    <p:bg>
      <p:bgPr>
        <a:solidFill>
          <a:srgbClr val="FFFFFF"/>
        </a:solidFill>
      </p:bgPr>
    </p:bg>
    <p:spTree>
      <p:nvGrpSpPr>
        <p:cNvPr id="7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0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70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70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文档对比与相似查重：改了哪、重复哪，一眼看清</a:t>
            </a:r>
            <a:endParaRPr lang="en-US" sz="2600" dirty="0"/>
          </a:p>
        </p:txBody>
      </p:sp>
      <p:sp>
        <p:nvSpPr>
          <p:cNvPr id="70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200" dirty="0"/>
          </a:p>
        </p:txBody>
      </p:sp>
      <p:sp>
        <p:nvSpPr>
          <p:cNvPr id="70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708" name="Shape 6"/>
          <p:cNvSpPr/>
          <p:nvPr/>
        </p:nvSpPr>
        <p:spPr>
          <a:xfrm>
            <a:off x="45720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709" name="Text 7"/>
          <p:cNvSpPr/>
          <p:nvPr/>
        </p:nvSpPr>
        <p:spPr>
          <a:xfrm>
            <a:off x="713232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· differ.py</a:t>
            </a:r>
            <a:endParaRPr lang="en-US" sz="1500" dirty="0"/>
          </a:p>
        </p:txBody>
      </p:sp>
      <p:sp>
        <p:nvSpPr>
          <p:cNvPr id="710" name="Shape 8"/>
          <p:cNvSpPr/>
          <p:nvPr/>
        </p:nvSpPr>
        <p:spPr>
          <a:xfrm>
            <a:off x="713232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11" name="Text 9"/>
          <p:cNvSpPr/>
          <p:nvPr/>
        </p:nvSpPr>
        <p:spPr>
          <a:xfrm>
            <a:off x="950976" y="233172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段落级 SequenceMatcher 行对齐</a:t>
            </a:r>
            <a:endParaRPr lang="en-US" sz="1250" dirty="0"/>
          </a:p>
        </p:txBody>
      </p:sp>
      <p:sp>
        <p:nvSpPr>
          <p:cNvPr id="712" name="Shape 10"/>
          <p:cNvSpPr/>
          <p:nvPr/>
        </p:nvSpPr>
        <p:spPr>
          <a:xfrm>
            <a:off x="713232" y="3035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13" name="Text 11"/>
          <p:cNvSpPr/>
          <p:nvPr/>
        </p:nvSpPr>
        <p:spPr>
          <a:xfrm>
            <a:off x="950976" y="2953512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 行内再做词级 diff（jieba 分词，短串退字符级）</a:t>
            </a:r>
            <a:endParaRPr lang="en-US" sz="1250" dirty="0"/>
          </a:p>
        </p:txBody>
      </p:sp>
      <p:sp>
        <p:nvSpPr>
          <p:cNvPr id="714" name="Shape 12"/>
          <p:cNvSpPr/>
          <p:nvPr/>
        </p:nvSpPr>
        <p:spPr>
          <a:xfrm>
            <a:off x="713232" y="365760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15" name="Text 13"/>
          <p:cNvSpPr/>
          <p:nvPr/>
        </p:nvSpPr>
        <p:spPr>
          <a:xfrm>
            <a:off x="950976" y="357530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双栏红绿 HTML：删红 · 增绿 · 改黄</a:t>
            </a:r>
            <a:endParaRPr lang="en-US" sz="1250" dirty="0"/>
          </a:p>
        </p:txBody>
      </p:sp>
      <p:sp>
        <p:nvSpPr>
          <p:cNvPr id="716" name="Shape 14"/>
          <p:cNvSpPr/>
          <p:nvPr/>
        </p:nvSpPr>
        <p:spPr>
          <a:xfrm>
            <a:off x="713232" y="42793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17" name="Text 15"/>
          <p:cNvSpPr/>
          <p:nvPr/>
        </p:nvSpPr>
        <p:spPr>
          <a:xfrm>
            <a:off x="950976" y="4197096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统计增/删/改行数 + 相似度百分比</a:t>
            </a:r>
            <a:endParaRPr lang="en-US" sz="1250" dirty="0"/>
          </a:p>
        </p:txBody>
      </p:sp>
      <p:sp>
        <p:nvSpPr>
          <p:cNvPr id="718" name="Shape 16"/>
          <p:cNvSpPr/>
          <p:nvPr/>
        </p:nvSpPr>
        <p:spPr>
          <a:xfrm>
            <a:off x="713232" y="490118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19" name="Text 17"/>
          <p:cNvSpPr/>
          <p:nvPr/>
        </p:nvSpPr>
        <p:spPr>
          <a:xfrm>
            <a:off x="950976" y="4818888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对比对象：库内两文档，或任选本地文件（6 格式直读）</a:t>
            </a:r>
            <a:endParaRPr lang="en-US" sz="1250" dirty="0"/>
          </a:p>
        </p:txBody>
      </p:sp>
      <p:sp>
        <p:nvSpPr>
          <p:cNvPr id="720" name="Shape 18"/>
          <p:cNvSpPr/>
          <p:nvPr/>
        </p:nvSpPr>
        <p:spPr>
          <a:xfrm>
            <a:off x="630936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721" name="Text 19"/>
          <p:cNvSpPr/>
          <p:nvPr/>
        </p:nvSpPr>
        <p:spPr>
          <a:xfrm>
            <a:off x="65379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相似查重 · simhash.py</a:t>
            </a:r>
            <a:endParaRPr lang="en-US" sz="1500" dirty="0"/>
          </a:p>
        </p:txBody>
      </p:sp>
      <p:sp>
        <p:nvSpPr>
          <p:cNvPr id="722" name="Shape 20"/>
          <p:cNvSpPr/>
          <p:nvPr/>
        </p:nvSpPr>
        <p:spPr>
          <a:xfrm>
            <a:off x="6537960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23" name="Text 21"/>
          <p:cNvSpPr/>
          <p:nvPr/>
        </p:nvSpPr>
        <p:spPr>
          <a:xfrm>
            <a:off x="6775704" y="2331720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建指纹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特征 = jieba 词语 + 相邻二元组；FNV-1a 64 位哈希（纯 Python 零依赖）</a:t>
            </a:r>
            <a:endParaRPr lang="en-US" sz="1350" dirty="0"/>
          </a:p>
        </p:txBody>
      </p:sp>
      <p:sp>
        <p:nvSpPr>
          <p:cNvPr id="724" name="Shape 22"/>
          <p:cNvSpPr/>
          <p:nvPr/>
        </p:nvSpPr>
        <p:spPr>
          <a:xfrm>
            <a:off x="6537960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25" name="Text 23"/>
          <p:cNvSpPr/>
          <p:nvPr/>
        </p:nvSpPr>
        <p:spPr>
          <a:xfrm>
            <a:off x="6775704" y="3081528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粗筛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SimHash 海明距离（阈值放宽 0.25），速度优先</a:t>
            </a:r>
            <a:endParaRPr lang="en-US" sz="1350" dirty="0"/>
          </a:p>
        </p:txBody>
      </p:sp>
      <p:sp>
        <p:nvSpPr>
          <p:cNvPr id="726" name="Shape 24"/>
          <p:cNvSpPr/>
          <p:nvPr/>
        </p:nvSpPr>
        <p:spPr>
          <a:xfrm>
            <a:off x="6537960" y="39136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27" name="Text 25"/>
          <p:cNvSpPr/>
          <p:nvPr/>
        </p:nvSpPr>
        <p:spPr>
          <a:xfrm>
            <a:off x="6775704" y="3831336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精判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粗筛命中对再算字符三元组 Jaccard，作为最终相似度</a:t>
            </a:r>
            <a:endParaRPr lang="en-US" sz="1350" dirty="0"/>
          </a:p>
        </p:txBody>
      </p:sp>
      <p:sp>
        <p:nvSpPr>
          <p:cNvPr id="728" name="Shape 26"/>
          <p:cNvSpPr/>
          <p:nvPr/>
        </p:nvSpPr>
        <p:spPr>
          <a:xfrm>
            <a:off x="6537960" y="46634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29" name="Text 27"/>
          <p:cNvSpPr/>
          <p:nvPr/>
        </p:nvSpPr>
        <p:spPr>
          <a:xfrm>
            <a:off x="6775704" y="4581144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入库即算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表持久化指纹，查重免全库重算</a:t>
            </a:r>
            <a:endParaRPr lang="en-US" sz="1350" dirty="0"/>
          </a:p>
        </p:txBody>
      </p:sp>
      <p:sp>
        <p:nvSpPr>
          <p:cNvPr id="730" name="Shape 28"/>
          <p:cNvSpPr/>
          <p:nvPr/>
        </p:nvSpPr>
        <p:spPr>
          <a:xfrm>
            <a:off x="6537960" y="54132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31" name="Text 29"/>
          <p:cNvSpPr/>
          <p:nvPr/>
        </p:nvSpPr>
        <p:spPr>
          <a:xfrm>
            <a:off x="6775704" y="5330952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可调阈值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40–99% 滑块（默认 70%），找出“换说法的重复件”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>
  <p:cSld name="Slide 34">
    <p:bg>
      <p:bgPr>
        <a:solidFill>
          <a:srgbClr val="FFFFFF"/>
        </a:solidFill>
      </p:bgPr>
    </p:bg>
    <p:spTree>
      <p:nvGrpSpPr>
        <p:cNvPr id="7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34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735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736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历史快照与排版微调：让“手滑”可反悔</a:t>
            </a:r>
            <a:endParaRPr lang="en-US" sz="2600" dirty="0"/>
          </a:p>
        </p:txBody>
      </p:sp>
      <p:sp>
        <p:nvSpPr>
          <p:cNvPr id="737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738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739" name="Text 6"/>
          <p:cNvSpPr/>
          <p:nvPr/>
        </p:nvSpPr>
        <p:spPr>
          <a:xfrm>
            <a:off x="45720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500" dirty="0"/>
          </a:p>
        </p:txBody>
      </p:sp>
      <p:sp>
        <p:nvSpPr>
          <p:cNvPr id="740" name="Shape 7"/>
          <p:cNvSpPr/>
          <p:nvPr/>
        </p:nvSpPr>
        <p:spPr>
          <a:xfrm>
            <a:off x="457200" y="22768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41" name="Text 8"/>
          <p:cNvSpPr/>
          <p:nvPr/>
        </p:nvSpPr>
        <p:spPr>
          <a:xfrm>
            <a:off x="694944" y="2194560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3 分钟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有改动时自动快照（reason=auto）</a:t>
            </a:r>
            <a:endParaRPr lang="en-US" sz="1350" dirty="0"/>
          </a:p>
        </p:txBody>
      </p:sp>
      <p:sp>
        <p:nvSpPr>
          <p:cNvPr id="742" name="Shape 9"/>
          <p:cNvSpPr/>
          <p:nvPr/>
        </p:nvSpPr>
        <p:spPr>
          <a:xfrm>
            <a:off x="457200" y="29352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43" name="Text 10"/>
          <p:cNvSpPr/>
          <p:nvPr/>
        </p:nvSpPr>
        <p:spPr>
          <a:xfrm>
            <a:off x="694944" y="2852928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保存前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写入资料库前先存一版</a:t>
            </a:r>
            <a:endParaRPr lang="en-US" sz="1350" dirty="0"/>
          </a:p>
        </p:txBody>
      </p:sp>
      <p:sp>
        <p:nvSpPr>
          <p:cNvPr id="744" name="Shape 11"/>
          <p:cNvSpPr/>
          <p:nvPr/>
        </p:nvSpPr>
        <p:spPr>
          <a:xfrm>
            <a:off x="457200" y="35935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45" name="Text 12"/>
          <p:cNvSpPr/>
          <p:nvPr/>
        </p:nvSpPr>
        <p:spPr>
          <a:xfrm>
            <a:off x="694944" y="3511296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30 版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每文档独立计数，DAO 自动裁剪</a:t>
            </a:r>
            <a:endParaRPr lang="en-US" sz="1350" dirty="0"/>
          </a:p>
        </p:txBody>
      </p:sp>
      <p:sp>
        <p:nvSpPr>
          <p:cNvPr id="746" name="Shape 13"/>
          <p:cNvSpPr/>
          <p:nvPr/>
        </p:nvSpPr>
        <p:spPr>
          <a:xfrm>
            <a:off x="457200" y="425196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47" name="Text 14"/>
          <p:cNvSpPr/>
          <p:nvPr/>
        </p:nvSpPr>
        <p:spPr>
          <a:xfrm>
            <a:off x="694944" y="4169664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差异预览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与当前内容词级 diff，确认后回滚</a:t>
            </a:r>
            <a:endParaRPr lang="en-US" sz="1350" dirty="0"/>
          </a:p>
        </p:txBody>
      </p:sp>
      <p:sp>
        <p:nvSpPr>
          <p:cNvPr id="748" name="Shape 15"/>
          <p:cNvSpPr/>
          <p:nvPr/>
        </p:nvSpPr>
        <p:spPr>
          <a:xfrm>
            <a:off x="457200" y="4910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49" name="Text 16"/>
          <p:cNvSpPr/>
          <p:nvPr/>
        </p:nvSpPr>
        <p:spPr>
          <a:xfrm>
            <a:off x="694944" y="4828032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回滚安全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整块替换保留撤销栈，Ctrl+Z 可再反悔</a:t>
            </a:r>
            <a:endParaRPr lang="en-US" sz="1350" dirty="0"/>
          </a:p>
        </p:txBody>
      </p:sp>
      <p:sp>
        <p:nvSpPr>
          <p:cNvPr id="750" name="Text 17"/>
          <p:cNvSpPr/>
          <p:nvPr/>
        </p:nvSpPr>
        <p:spPr>
          <a:xfrm>
            <a:off x="6126480" y="1737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一键排版微调（五步流水线，输出变更清单）</a:t>
            </a:r>
            <a:endParaRPr lang="en-US" sz="1500" dirty="0"/>
          </a:p>
        </p:txBody>
      </p:sp>
      <p:sp>
        <p:nvSpPr>
          <p:cNvPr id="751" name="Shape 18"/>
          <p:cNvSpPr/>
          <p:nvPr/>
        </p:nvSpPr>
        <p:spPr>
          <a:xfrm>
            <a:off x="6126480" y="2240280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52" name="Text 19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53" name="Text 20"/>
          <p:cNvSpPr/>
          <p:nvPr/>
        </p:nvSpPr>
        <p:spPr>
          <a:xfrm>
            <a:off x="6748272" y="2258568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清理多余空格 / 空行</a:t>
            </a:r>
            <a:endParaRPr lang="en-US" sz="1300" dirty="0"/>
          </a:p>
        </p:txBody>
      </p:sp>
      <p:sp>
        <p:nvSpPr>
          <p:cNvPr id="754" name="Shape 21"/>
          <p:cNvSpPr/>
          <p:nvPr/>
        </p:nvSpPr>
        <p:spPr>
          <a:xfrm>
            <a:off x="6355080" y="2697480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  <p:txBody>
          <a:bodyPr/>
          <a:p/>
        </p:txBody>
      </p:sp>
      <p:sp>
        <p:nvSpPr>
          <p:cNvPr id="755" name="Shape 22"/>
          <p:cNvSpPr/>
          <p:nvPr/>
        </p:nvSpPr>
        <p:spPr>
          <a:xfrm>
            <a:off x="6126480" y="2953512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56" name="Text 23"/>
          <p:cNvSpPr/>
          <p:nvPr/>
        </p:nvSpPr>
        <p:spPr>
          <a:xfrm>
            <a:off x="6126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757" name="Text 24"/>
          <p:cNvSpPr/>
          <p:nvPr/>
        </p:nvSpPr>
        <p:spPr>
          <a:xfrm>
            <a:off x="6748272" y="297180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全角数字转半角</a:t>
            </a:r>
            <a:endParaRPr lang="en-US" sz="1300" dirty="0"/>
          </a:p>
        </p:txBody>
      </p:sp>
      <p:sp>
        <p:nvSpPr>
          <p:cNvPr id="758" name="Shape 25"/>
          <p:cNvSpPr/>
          <p:nvPr/>
        </p:nvSpPr>
        <p:spPr>
          <a:xfrm>
            <a:off x="6355080" y="3410712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  <p:txBody>
          <a:bodyPr/>
          <a:p/>
        </p:txBody>
      </p:sp>
      <p:sp>
        <p:nvSpPr>
          <p:cNvPr id="759" name="Shape 26"/>
          <p:cNvSpPr/>
          <p:nvPr/>
        </p:nvSpPr>
        <p:spPr>
          <a:xfrm>
            <a:off x="6126480" y="3666744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60" name="Text 27"/>
          <p:cNvSpPr/>
          <p:nvPr/>
        </p:nvSpPr>
        <p:spPr>
          <a:xfrm>
            <a:off x="612648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761" name="Text 28"/>
          <p:cNvSpPr/>
          <p:nvPr/>
        </p:nvSpPr>
        <p:spPr>
          <a:xfrm>
            <a:off x="6748272" y="368503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去除段首空白</a:t>
            </a:r>
            <a:endParaRPr lang="en-US" sz="1300" dirty="0"/>
          </a:p>
        </p:txBody>
      </p:sp>
      <p:sp>
        <p:nvSpPr>
          <p:cNvPr id="762" name="Shape 29"/>
          <p:cNvSpPr/>
          <p:nvPr/>
        </p:nvSpPr>
        <p:spPr>
          <a:xfrm>
            <a:off x="6355080" y="4123944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  <p:txBody>
          <a:bodyPr/>
          <a:p/>
        </p:txBody>
      </p:sp>
      <p:sp>
        <p:nvSpPr>
          <p:cNvPr id="763" name="Shape 30"/>
          <p:cNvSpPr/>
          <p:nvPr/>
        </p:nvSpPr>
        <p:spPr>
          <a:xfrm>
            <a:off x="6126480" y="4379976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64" name="Text 31"/>
          <p:cNvSpPr/>
          <p:nvPr/>
        </p:nvSpPr>
        <p:spPr>
          <a:xfrm>
            <a:off x="612648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765" name="Text 32"/>
          <p:cNvSpPr/>
          <p:nvPr/>
        </p:nvSpPr>
        <p:spPr>
          <a:xfrm>
            <a:off x="6748272" y="4398264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规范标题编号链（一、（一）1.（1））</a:t>
            </a:r>
            <a:endParaRPr lang="en-US" sz="1300" dirty="0"/>
          </a:p>
        </p:txBody>
      </p:sp>
      <p:sp>
        <p:nvSpPr>
          <p:cNvPr id="766" name="Shape 33"/>
          <p:cNvSpPr/>
          <p:nvPr/>
        </p:nvSpPr>
        <p:spPr>
          <a:xfrm>
            <a:off x="6355080" y="4837176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  <p:txBody>
          <a:bodyPr/>
          <a:p/>
        </p:txBody>
      </p:sp>
      <p:sp>
        <p:nvSpPr>
          <p:cNvPr id="767" name="Shape 34"/>
          <p:cNvSpPr/>
          <p:nvPr/>
        </p:nvSpPr>
        <p:spPr>
          <a:xfrm>
            <a:off x="6126480" y="5093208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68" name="Text 35"/>
          <p:cNvSpPr/>
          <p:nvPr/>
        </p:nvSpPr>
        <p:spPr>
          <a:xfrm>
            <a:off x="612648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769" name="Text 36"/>
          <p:cNvSpPr/>
          <p:nvPr/>
        </p:nvSpPr>
        <p:spPr>
          <a:xfrm>
            <a:off x="6748272" y="5111496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正文段补两字符缩进</a:t>
            </a:r>
            <a:endParaRPr lang="en-US" sz="1300" dirty="0"/>
          </a:p>
        </p:txBody>
      </p:sp>
      <p:sp>
        <p:nvSpPr>
          <p:cNvPr id="770" name="Shape 37"/>
          <p:cNvSpPr/>
          <p:nvPr/>
        </p:nvSpPr>
        <p:spPr>
          <a:xfrm>
            <a:off x="457200" y="5852160"/>
            <a:ext cx="11247120" cy="548640"/>
          </a:xfrm>
          <a:prstGeom prst="roundRect">
            <a:avLst>
              <a:gd name="adj" fmla="val 11667"/>
            </a:avLst>
          </a:prstGeom>
          <a:solidFill>
            <a:srgbClr val="F5EAE7"/>
          </a:solidFill>
          <a:ln/>
        </p:spPr>
        <p:txBody>
          <a:bodyPr/>
          <a:p/>
        </p:txBody>
      </p:sp>
      <p:sp>
        <p:nvSpPr>
          <p:cNvPr id="771" name="Text 3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相似主题：</a:t>
            </a: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跨文档批量查找替换（支持正则，先预览每篇命中再执行，执行前提醒备份）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>
  <p:cSld name="Slide 35">
    <p:bg>
      <p:bgPr>
        <a:solidFill>
          <a:srgbClr val="FFFFFF"/>
        </a:solidFill>
      </p:bgPr>
    </p:bg>
    <p:spTree>
      <p:nvGrpSpPr>
        <p:cNvPr id="7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74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775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776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安全与备份：四道保险，数据留在本机</a:t>
            </a:r>
            <a:endParaRPr lang="en-US" sz="2600" dirty="0"/>
          </a:p>
        </p:txBody>
      </p:sp>
      <p:sp>
        <p:nvSpPr>
          <p:cNvPr id="777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200" dirty="0"/>
          </a:p>
        </p:txBody>
      </p:sp>
      <p:sp>
        <p:nvSpPr>
          <p:cNvPr id="778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779" name="Shape 6"/>
          <p:cNvSpPr/>
          <p:nvPr/>
        </p:nvSpPr>
        <p:spPr>
          <a:xfrm>
            <a:off x="457200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  <p:txBody>
          <a:bodyPr/>
          <a:p/>
        </p:txBody>
      </p:sp>
      <p:sp>
        <p:nvSpPr>
          <p:cNvPr id="780" name="Text 7"/>
          <p:cNvSpPr/>
          <p:nvPr/>
        </p:nvSpPr>
        <p:spPr>
          <a:xfrm>
            <a:off x="658368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</a:t>
            </a:r>
            <a:endParaRPr lang="en-US" sz="1600" dirty="0"/>
          </a:p>
        </p:txBody>
      </p:sp>
      <p:sp>
        <p:nvSpPr>
          <p:cNvPr id="781" name="Text 8"/>
          <p:cNvSpPr/>
          <p:nvPr/>
        </p:nvSpPr>
        <p:spPr>
          <a:xfrm>
            <a:off x="658368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PBKDF2-HMAC-SHA256</a:t>
            </a:r>
            <a:endParaRPr lang="en-US" sz="11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万次迭代 + 随机盐</a:t>
            </a:r>
            <a:endParaRPr lang="en-US" sz="11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compare_digest 防时序攻击</a:t>
            </a:r>
            <a:endParaRPr lang="en-US" sz="11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 5 次强制等待 10 秒</a:t>
            </a:r>
            <a:endParaRPr lang="en-US" sz="1150" dirty="0"/>
          </a:p>
        </p:txBody>
      </p:sp>
      <p:sp>
        <p:nvSpPr>
          <p:cNvPr id="782" name="Shape 9"/>
          <p:cNvSpPr/>
          <p:nvPr/>
        </p:nvSpPr>
        <p:spPr>
          <a:xfrm>
            <a:off x="3328416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783" name="Text 10"/>
          <p:cNvSpPr/>
          <p:nvPr/>
        </p:nvSpPr>
        <p:spPr>
          <a:xfrm>
            <a:off x="3529584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加密备份</a:t>
            </a:r>
            <a:endParaRPr lang="en-US" sz="1600" dirty="0"/>
          </a:p>
        </p:txBody>
      </p:sp>
      <p:sp>
        <p:nvSpPr>
          <p:cNvPr id="784" name="Text 11"/>
          <p:cNvSpPr/>
          <p:nvPr/>
        </p:nvSpPr>
        <p:spPr>
          <a:xfrm>
            <a:off x="3529584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pyzipper AES（WZ_AES）</a:t>
            </a:r>
            <a:endParaRPr lang="en-US" sz="11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口令可选，明文包也支持</a:t>
            </a:r>
            <a:endParaRPr lang="en-US" sz="11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包内含库 + 模板 + 清单</a:t>
            </a:r>
            <a:endParaRPr lang="en-US" sz="11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跨机迁移一键完成</a:t>
            </a:r>
            <a:endParaRPr lang="en-US" sz="1150" dirty="0"/>
          </a:p>
        </p:txBody>
      </p:sp>
      <p:sp>
        <p:nvSpPr>
          <p:cNvPr id="785" name="Shape 12"/>
          <p:cNvSpPr/>
          <p:nvPr/>
        </p:nvSpPr>
        <p:spPr>
          <a:xfrm>
            <a:off x="6199632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786" name="Text 13"/>
          <p:cNvSpPr/>
          <p:nvPr/>
        </p:nvSpPr>
        <p:spPr>
          <a:xfrm>
            <a:off x="640080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自动轮转</a:t>
            </a:r>
            <a:endParaRPr lang="en-US" sz="1600" dirty="0"/>
          </a:p>
        </p:txBody>
      </p:sp>
      <p:sp>
        <p:nvSpPr>
          <p:cNvPr id="787" name="Text 14"/>
          <p:cNvSpPr/>
          <p:nvPr/>
        </p:nvSpPr>
        <p:spPr>
          <a:xfrm>
            <a:off x="6400800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退出时自动备份（可关）</a:t>
            </a:r>
            <a:endParaRPr lang="en-US" sz="11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定时备份间隔可配置</a:t>
            </a:r>
            <a:endParaRPr lang="en-US" sz="11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保留最近 20 份轮转</a:t>
            </a:r>
            <a:endParaRPr lang="en-US" sz="11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文件名含毫秒防同秒覆盖</a:t>
            </a:r>
            <a:endParaRPr lang="en-US" sz="1150" dirty="0"/>
          </a:p>
        </p:txBody>
      </p:sp>
      <p:sp>
        <p:nvSpPr>
          <p:cNvPr id="788" name="Shape 15"/>
          <p:cNvSpPr/>
          <p:nvPr/>
        </p:nvSpPr>
        <p:spPr>
          <a:xfrm>
            <a:off x="9070848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789" name="Text 16"/>
          <p:cNvSpPr/>
          <p:nvPr/>
        </p:nvSpPr>
        <p:spPr>
          <a:xfrm>
            <a:off x="9272016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恢复护栏</a:t>
            </a:r>
            <a:endParaRPr lang="en-US" sz="1600" dirty="0"/>
          </a:p>
        </p:txBody>
      </p:sp>
      <p:sp>
        <p:nvSpPr>
          <p:cNvPr id="790" name="Text 17"/>
          <p:cNvSpPr/>
          <p:nvPr/>
        </p:nvSpPr>
        <p:spPr>
          <a:xfrm>
            <a:off x="9272016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备份前 WAL checkpoint 落盘</a:t>
            </a:r>
            <a:endParaRPr lang="en-US" sz="11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恢复前自动再做一次备份</a:t>
            </a:r>
            <a:endParaRPr lang="en-US" sz="11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完整性试连校验</a:t>
            </a:r>
            <a:endParaRPr lang="en-US" sz="115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临时目录校验后原子替换</a:t>
            </a:r>
            <a:endParaRPr lang="en-US" sz="1150" dirty="0"/>
          </a:p>
        </p:txBody>
      </p:sp>
      <p:sp>
        <p:nvSpPr>
          <p:cNvPr id="791" name="Shape 18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7368"/>
            </a:avLst>
          </a:prstGeom>
          <a:solidFill>
            <a:srgbClr val="1F1917"/>
          </a:solidFill>
          <a:ln/>
        </p:spPr>
        <p:txBody>
          <a:bodyPr/>
          <a:p/>
        </p:txBody>
      </p:sp>
      <p:sp>
        <p:nvSpPr>
          <p:cNvPr id="792" name="Text 19"/>
          <p:cNvSpPr/>
          <p:nvPr/>
        </p:nvSpPr>
        <p:spPr>
          <a:xfrm>
            <a:off x="73152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透明说明：</a:t>
            </a: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口令锁定位是“防误用级”防护，非涉密级加密；真正的安全底线是 —— 全程零网络请求，数据不出这台机器。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>
  <p:cSld name="Slide 36">
    <p:bg>
      <p:bgPr>
        <a:solidFill>
          <a:srgbClr val="1F1917"/>
        </a:solidFill>
      </p:bgPr>
    </p:bg>
    <p:spTree>
      <p:nvGrpSpPr>
        <p:cNvPr id="7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795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796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797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798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3800" dirty="0"/>
          </a:p>
        </p:txBody>
      </p:sp>
      <p:sp>
        <p:nvSpPr>
          <p:cNvPr id="799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装得上、跑得动、测得全、发得出</a:t>
            </a:r>
            <a:endParaRPr lang="en-US" sz="1500" dirty="0"/>
          </a:p>
        </p:txBody>
      </p:sp>
      <p:sp>
        <p:nvSpPr>
          <p:cNvPr id="800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801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V10 ARM64 双平台交付</a:t>
            </a:r>
            <a:endParaRPr lang="en-US" sz="1350" dirty="0"/>
          </a:p>
        </p:txBody>
      </p:sp>
      <p:sp>
        <p:nvSpPr>
          <p:cNvPr id="802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803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个离线安装包自动构建，GitHub Actions 全自动发布</a:t>
            </a:r>
            <a:endParaRPr lang="en-US" sz="1350" dirty="0"/>
          </a:p>
        </p:txBody>
      </p:sp>
      <p:sp>
        <p:nvSpPr>
          <p:cNvPr id="804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805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1745 项测试 + 50 步端到端自检</a:t>
            </a:r>
            <a:endParaRPr lang="en-US" sz="1350" dirty="0"/>
          </a:p>
        </p:txBody>
      </p:sp>
      <p:sp>
        <p:nvSpPr>
          <p:cNvPr id="806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200" dirty="0"/>
          </a:p>
        </p:txBody>
      </p:sp>
      <p:sp>
        <p:nvSpPr>
          <p:cNvPr id="807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>
  <p:cSld name="Slide 37">
    <p:bg>
      <p:bgPr>
        <a:solidFill>
          <a:srgbClr val="FFFFFF"/>
        </a:solidFill>
      </p:bgPr>
    </p:bg>
    <p:spTree>
      <p:nvGrpSpPr>
        <p:cNvPr id="8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810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811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812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双平台交付：从 Windows 办公机到麒麟信创终端</a:t>
            </a:r>
            <a:endParaRPr lang="en-US" sz="2600" dirty="0"/>
          </a:p>
        </p:txBody>
      </p:sp>
      <p:sp>
        <p:nvSpPr>
          <p:cNvPr id="813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200" dirty="0"/>
          </a:p>
        </p:txBody>
      </p:sp>
      <p:sp>
        <p:nvSpPr>
          <p:cNvPr id="814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15" name="Shape 6"/>
          <p:cNvSpPr/>
          <p:nvPr/>
        </p:nvSpPr>
        <p:spPr>
          <a:xfrm>
            <a:off x="457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816" name="Text 7"/>
          <p:cNvSpPr/>
          <p:nvPr/>
        </p:nvSpPr>
        <p:spPr>
          <a:xfrm>
            <a:off x="685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10 / 11 · x64</a:t>
            </a:r>
            <a:endParaRPr lang="en-US" sz="1600" dirty="0"/>
          </a:p>
        </p:txBody>
      </p:sp>
      <p:sp>
        <p:nvSpPr>
          <p:cNvPr id="817" name="Text 8"/>
          <p:cNvSpPr/>
          <p:nvPr/>
        </p:nvSpPr>
        <p:spPr>
          <a:xfrm>
            <a:off x="685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 Setup 安装包（免管理员权限，装完即用）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OCR + 中文包内置，离线开箱即用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 --portable：数据随程序走，U 盘可用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右键菜单“用公文汇编助手导入”</a:t>
            </a:r>
            <a:endParaRPr lang="en-US" sz="1200" dirty="0"/>
          </a:p>
        </p:txBody>
      </p:sp>
      <p:sp>
        <p:nvSpPr>
          <p:cNvPr id="818" name="Shape 9"/>
          <p:cNvSpPr/>
          <p:nvPr/>
        </p:nvSpPr>
        <p:spPr>
          <a:xfrm>
            <a:off x="6172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819" name="Text 10"/>
          <p:cNvSpPr/>
          <p:nvPr/>
        </p:nvSpPr>
        <p:spPr>
          <a:xfrm>
            <a:off x="6400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V10 · ARM64</a:t>
            </a:r>
            <a:endParaRPr lang="en-US" sz="1600" dirty="0"/>
          </a:p>
        </p:txBody>
      </p:sp>
      <p:sp>
        <p:nvSpPr>
          <p:cNvPr id="820" name="Text 11"/>
          <p:cNvSpPr/>
          <p:nvPr/>
        </p:nvSpPr>
        <p:spPr>
          <a:xfrm>
            <a:off x="6400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 打包（非交叉编译模拟）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 包：desktop 入口 + Qt 运行库依赖声明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与中文包内置（glibc 与麒麟对齐）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启动器预检缺库，给出确切 apt 安装命令</a:t>
            </a:r>
            <a:endParaRPr lang="en-US" sz="1200" dirty="0"/>
          </a:p>
        </p:txBody>
      </p:sp>
      <p:sp>
        <p:nvSpPr>
          <p:cNvPr id="821" name="Text 12"/>
          <p:cNvSpPr/>
          <p:nvPr/>
        </p:nvSpPr>
        <p:spPr>
          <a:xfrm>
            <a:off x="45720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数据放哪，一目了然</a:t>
            </a:r>
            <a:endParaRPr lang="en-US" sz="1400" dirty="0"/>
          </a:p>
        </p:txBody>
      </p:sp>
      <p:sp>
        <p:nvSpPr>
          <p:cNvPr id="822" name="Text 13"/>
          <p:cNvSpPr/>
          <p:nvPr/>
        </p:nvSpPr>
        <p:spPr>
          <a:xfrm>
            <a:off x="457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常规　</a:t>
            </a: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%APPDATA%\gwtool\</a:t>
            </a:r>
            <a:endParaRPr lang="en-US" sz="1250" dirty="0"/>
          </a:p>
        </p:txBody>
      </p:sp>
      <p:sp>
        <p:nvSpPr>
          <p:cNvPr id="823" name="Text 14"/>
          <p:cNvSpPr/>
          <p:nvPr/>
        </p:nvSpPr>
        <p:spPr>
          <a:xfrm>
            <a:off x="6172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/ Linux　</a:t>
            </a: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~/.local/share/gwtool/</a:t>
            </a:r>
            <a:endParaRPr lang="en-US" sz="1250" dirty="0"/>
          </a:p>
        </p:txBody>
      </p:sp>
      <p:sp>
        <p:nvSpPr>
          <p:cNvPr id="824" name="Text 15"/>
          <p:cNvSpPr/>
          <p:nvPr/>
        </p:nvSpPr>
        <p:spPr>
          <a:xfrm>
            <a:off x="457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　</a:t>
            </a: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程序同级 Data\（U 盘随带随走）</a:t>
            </a:r>
            <a:endParaRPr lang="en-US" sz="1250" dirty="0"/>
          </a:p>
        </p:txBody>
      </p:sp>
      <p:sp>
        <p:nvSpPr>
          <p:cNvPr id="825" name="Text 16"/>
          <p:cNvSpPr/>
          <p:nvPr/>
        </p:nvSpPr>
        <p:spPr>
          <a:xfrm>
            <a:off x="6172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　</a:t>
            </a: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我的文档\公文汇编输出\</a:t>
            </a:r>
            <a:endParaRPr lang="en-US" sz="1250" dirty="0"/>
          </a:p>
        </p:txBody>
      </p:sp>
      <p:sp>
        <p:nvSpPr>
          <p:cNvPr id="826" name="Text 17"/>
          <p:cNvSpPr/>
          <p:nvPr/>
        </p:nvSpPr>
        <p:spPr>
          <a:xfrm>
            <a:off x="457200" y="605332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程序与数据分离：升级重装不动数据；“备份/恢复”可整体搬迁到另一台电脑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>
  <p:cSld name="Slide 38">
    <p:bg>
      <p:bgPr>
        <a:solidFill>
          <a:srgbClr val="FFFFFF"/>
        </a:solidFill>
      </p:bgPr>
    </p:bg>
    <p:spTree>
      <p:nvGrpSpPr>
        <p:cNvPr id="8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829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830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831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打包矩阵：一份 spec，两大离线安装包</a:t>
            </a:r>
            <a:endParaRPr lang="en-US" sz="2600" dirty="0"/>
          </a:p>
        </p:txBody>
      </p:sp>
      <p:sp>
        <p:nvSpPr>
          <p:cNvPr id="832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1200" dirty="0"/>
          </a:p>
        </p:txBody>
      </p:sp>
      <p:sp>
        <p:nvSpPr>
          <p:cNvPr id="833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34" name="Shape 6"/>
          <p:cNvSpPr/>
          <p:nvPr/>
        </p:nvSpPr>
        <p:spPr>
          <a:xfrm>
            <a:off x="3538728" y="17373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9E2B25"/>
          </a:solidFill>
          <a:ln/>
          <a:effectLst>
            <a:outerShdw blurRad="88900" dist="25400" dir="5400000" sx="100000" sy="100000" kx="0" ky="0" algn="bl" rotWithShape="0">
              <a:srgbClr val="3A2E28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35" name="Text 7"/>
          <p:cNvSpPr/>
          <p:nvPr/>
        </p:nvSpPr>
        <p:spPr>
          <a:xfrm>
            <a:off x="3794760" y="18745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gwtool.spec · PyInstaller onedir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双平台共用唯一配置：携带 seed.db + OpenCC 数据；排除 17 个网络/重型模块；UPX 压缩；窗口程序无控制台</a:t>
            </a:r>
            <a:endParaRPr lang="en-US" sz="1550" dirty="0"/>
          </a:p>
        </p:txBody>
      </p:sp>
      <p:sp>
        <p:nvSpPr>
          <p:cNvPr id="836" name="Shape 8"/>
          <p:cNvSpPr/>
          <p:nvPr/>
        </p:nvSpPr>
        <p:spPr>
          <a:xfrm>
            <a:off x="6099048" y="3154680"/>
            <a:ext cx="0" cy="32004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  <p:txBody>
          <a:bodyPr/>
          <a:p/>
        </p:txBody>
      </p:sp>
      <p:sp>
        <p:nvSpPr>
          <p:cNvPr id="837" name="Shape 9"/>
          <p:cNvSpPr/>
          <p:nvPr/>
        </p:nvSpPr>
        <p:spPr>
          <a:xfrm>
            <a:off x="3200400" y="3474720"/>
            <a:ext cx="5715000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  <p:txBody>
          <a:bodyPr/>
          <a:p/>
        </p:txBody>
      </p:sp>
      <p:sp>
        <p:nvSpPr>
          <p:cNvPr id="838" name="Shape 10"/>
          <p:cNvSpPr/>
          <p:nvPr/>
        </p:nvSpPr>
        <p:spPr>
          <a:xfrm>
            <a:off x="3200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39" name="Shape 11"/>
          <p:cNvSpPr/>
          <p:nvPr/>
        </p:nvSpPr>
        <p:spPr>
          <a:xfrm>
            <a:off x="457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840" name="Text 12"/>
          <p:cNvSpPr/>
          <p:nvPr/>
        </p:nvSpPr>
        <p:spPr>
          <a:xfrm>
            <a:off x="658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安装包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gwtool_setup_win64.exe · Inno Setup LZMA2 固实压缩 · Tesseract OCR 与中文包内置 · 装完即启动，全程零网络</a:t>
            </a:r>
            <a:endParaRPr lang="en-US" sz="1350" dirty="0"/>
          </a:p>
        </p:txBody>
      </p:sp>
      <p:sp>
        <p:nvSpPr>
          <p:cNvPr id="841" name="Shape 13"/>
          <p:cNvSpPr/>
          <p:nvPr/>
        </p:nvSpPr>
        <p:spPr>
          <a:xfrm>
            <a:off x="8915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42" name="Shape 14"/>
          <p:cNvSpPr/>
          <p:nvPr/>
        </p:nvSpPr>
        <p:spPr>
          <a:xfrm>
            <a:off x="6172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843" name="Text 15"/>
          <p:cNvSpPr/>
          <p:nvPr/>
        </p:nvSpPr>
        <p:spPr>
          <a:xfrm>
            <a:off x="6373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ARM64 deb 包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gwtool_&lt;版本&gt;_linux_arm64.deb · dpkg-deb 组装 · desktop 入口 + Qt 运行库依赖声明 · OCR 内置，glibc 对齐麒麟 V10</a:t>
            </a:r>
            <a:endParaRPr lang="en-US" sz="1350" dirty="0"/>
          </a:p>
        </p:txBody>
      </p:sp>
      <p:sp>
        <p:nvSpPr>
          <p:cNvPr id="844" name="Text 16"/>
          <p:cNvSpPr/>
          <p:nvPr/>
        </p:nvSpPr>
        <p:spPr>
          <a:xfrm>
            <a:off x="457200" y="5349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系统集成：</a:t>
            </a: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install_context_menu.bat 写当前用户注册表（无需管理员）挂右键菜单；gwtool.desktop 注册 6 类文档“打开方式”；OCR 引擎与中文包已内置，两个安装包均离线安装、开箱即用。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>
  <p:cSld name="Slide 39">
    <p:bg>
      <p:bgPr>
        <a:solidFill>
          <a:srgbClr val="FFFFFF"/>
        </a:solidFill>
      </p:bgPr>
    </p:bg>
    <p:spTree>
      <p:nvGrpSpPr>
        <p:cNvPr id="8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847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848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849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CI/CD：打一个 tag，两大离线安装包自动发布</a:t>
            </a:r>
            <a:endParaRPr lang="en-US" sz="2600" dirty="0"/>
          </a:p>
        </p:txBody>
      </p:sp>
      <p:sp>
        <p:nvSpPr>
          <p:cNvPr id="850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1200" dirty="0"/>
          </a:p>
        </p:txBody>
      </p:sp>
      <p:sp>
        <p:nvSpPr>
          <p:cNvPr id="851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52" name="Shape 6"/>
          <p:cNvSpPr/>
          <p:nvPr/>
        </p:nvSpPr>
        <p:spPr>
          <a:xfrm>
            <a:off x="457200" y="1783080"/>
            <a:ext cx="2286000" cy="3566160"/>
          </a:xfrm>
          <a:prstGeom prst="roundRect">
            <a:avLst>
              <a:gd name="adj" fmla="val 3200"/>
            </a:avLst>
          </a:prstGeom>
          <a:solidFill>
            <a:srgbClr val="1F1917"/>
          </a:solidFill>
          <a:ln/>
        </p:spPr>
        <p:txBody>
          <a:bodyPr/>
          <a:p/>
        </p:txBody>
      </p:sp>
      <p:sp>
        <p:nvSpPr>
          <p:cNvPr id="853" name="Text 7"/>
          <p:cNvSpPr/>
          <p:nvPr/>
        </p:nvSpPr>
        <p:spPr>
          <a:xfrm>
            <a:off x="658368" y="1965960"/>
            <a:ext cx="1920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v* 标签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或手动触发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build.yml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854" name="Shape 8"/>
          <p:cNvSpPr/>
          <p:nvPr/>
        </p:nvSpPr>
        <p:spPr>
          <a:xfrm>
            <a:off x="3154680" y="1783080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855" name="Text 9"/>
          <p:cNvSpPr/>
          <p:nvPr/>
        </p:nvSpPr>
        <p:spPr>
          <a:xfrm>
            <a:off x="3383280" y="1874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1 · windows-latest</a:t>
            </a:r>
            <a:endParaRPr lang="en-US" sz="1350" dirty="0"/>
          </a:p>
        </p:txBody>
      </p:sp>
      <p:sp>
        <p:nvSpPr>
          <p:cNvPr id="856" name="Text 10"/>
          <p:cNvSpPr/>
          <p:nvPr/>
        </p:nvSpPr>
        <p:spPr>
          <a:xfrm>
            <a:off x="5806440" y="1856232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ruff 静态检查（gwtool/scripts/tests）</a:t>
            </a:r>
            <a:endParaRPr lang="en-US" sz="11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 1745 用例 + 50 步端到端自检</a:t>
            </a:r>
            <a:endParaRPr lang="en-US" sz="11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 按 spec 打包 + Tesseract/中文包内置</a:t>
            </a:r>
            <a:endParaRPr lang="en-US" sz="11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ISCC 安装包（版本号取自代码）</a:t>
            </a:r>
            <a:endParaRPr lang="en-US" sz="1150" dirty="0"/>
          </a:p>
        </p:txBody>
      </p:sp>
      <p:sp>
        <p:nvSpPr>
          <p:cNvPr id="857" name="Shape 11"/>
          <p:cNvSpPr/>
          <p:nvPr/>
        </p:nvSpPr>
        <p:spPr>
          <a:xfrm>
            <a:off x="3749040" y="2898648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58" name="Shape 12"/>
          <p:cNvSpPr/>
          <p:nvPr/>
        </p:nvSpPr>
        <p:spPr>
          <a:xfrm>
            <a:off x="3154680" y="3044952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859" name="Text 13"/>
          <p:cNvSpPr/>
          <p:nvPr/>
        </p:nvSpPr>
        <p:spPr>
          <a:xfrm>
            <a:off x="3383280" y="313639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2 · ubuntu-24.04-arm</a:t>
            </a:r>
            <a:endParaRPr lang="en-US" sz="1350" dirty="0"/>
          </a:p>
        </p:txBody>
      </p:sp>
      <p:sp>
        <p:nvSpPr>
          <p:cNvPr id="860" name="Text 14"/>
          <p:cNvSpPr/>
          <p:nvPr/>
        </p:nvSpPr>
        <p:spPr>
          <a:xfrm>
            <a:off x="5806440" y="3118104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runner（非交叉编译）</a:t>
            </a:r>
            <a:endParaRPr lang="en-US" sz="11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Debian 11 容器（glibc 2.31 对齐麒麟 V10）</a:t>
            </a:r>
            <a:endParaRPr lang="en-US" sz="11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spec 打包 + OCR 集成 + 运行库自检</a:t>
            </a:r>
            <a:endParaRPr lang="en-US" sz="11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dpkg-deb 组装 .deb</a:t>
            </a:r>
            <a:endParaRPr lang="en-US" sz="1150" dirty="0"/>
          </a:p>
        </p:txBody>
      </p:sp>
      <p:sp>
        <p:nvSpPr>
          <p:cNvPr id="861" name="Shape 15"/>
          <p:cNvSpPr/>
          <p:nvPr/>
        </p:nvSpPr>
        <p:spPr>
          <a:xfrm>
            <a:off x="3749040" y="4160520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62" name="Shape 16"/>
          <p:cNvSpPr/>
          <p:nvPr/>
        </p:nvSpPr>
        <p:spPr>
          <a:xfrm>
            <a:off x="3154680" y="4306824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  <p:txBody>
          <a:bodyPr/>
          <a:p/>
        </p:txBody>
      </p:sp>
      <p:sp>
        <p:nvSpPr>
          <p:cNvPr id="863" name="Text 17"/>
          <p:cNvSpPr/>
          <p:nvPr/>
        </p:nvSpPr>
        <p:spPr>
          <a:xfrm>
            <a:off x="3383280" y="439826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3 · release</a:t>
            </a:r>
            <a:endParaRPr lang="en-US" sz="1350" dirty="0"/>
          </a:p>
        </p:txBody>
      </p:sp>
      <p:sp>
        <p:nvSpPr>
          <p:cNvPr id="864" name="Text 18"/>
          <p:cNvSpPr/>
          <p:nvPr/>
        </p:nvSpPr>
        <p:spPr>
          <a:xfrm>
            <a:off x="5806440" y="4379976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依赖前两个 Job 全绿（含打包与冒烟）</a:t>
            </a:r>
            <a:endParaRPr lang="en-US" sz="11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 v* 标签触发 / 手动 workflow_dispatch</a:t>
            </a:r>
            <a:endParaRPr lang="en-US" sz="11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gh release create 自动建发布</a:t>
            </a:r>
            <a:endParaRPr lang="en-US" sz="11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 2 个安装包 + 自动 Release Notes</a:t>
            </a:r>
            <a:endParaRPr lang="en-US" sz="1150" dirty="0"/>
          </a:p>
        </p:txBody>
      </p:sp>
      <p:sp>
        <p:nvSpPr>
          <p:cNvPr id="865" name="Shape 19"/>
          <p:cNvSpPr/>
          <p:nvPr/>
        </p:nvSpPr>
        <p:spPr>
          <a:xfrm>
            <a:off x="2743200" y="3566160"/>
            <a:ext cx="38404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  <p:txBody>
          <a:bodyPr/>
          <a:p/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>
  <p:cSld name="Slide 40">
    <p:bg>
      <p:bgPr>
        <a:solidFill>
          <a:srgbClr val="FFFFFF"/>
        </a:solidFill>
      </p:bgPr>
    </p:bg>
    <p:spTree>
      <p:nvGrpSpPr>
        <p:cNvPr id="88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890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891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892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质量保障：1745 项测试，性能指标写进断言</a:t>
            </a:r>
            <a:endParaRPr lang="en-US" sz="2600" dirty="0"/>
          </a:p>
        </p:txBody>
      </p:sp>
      <p:sp>
        <p:nvSpPr>
          <p:cNvPr id="893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200" dirty="0"/>
          </a:p>
        </p:txBody>
      </p:sp>
      <p:sp>
        <p:nvSpPr>
          <p:cNvPr id="894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95" name="Text 6"/>
          <p:cNvSpPr/>
          <p:nvPr/>
        </p:nvSpPr>
        <p:spPr>
          <a:xfrm>
            <a:off x="4572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测试分布（pytest，按文件 · 前 9）</a:t>
            </a:r>
            <a:endParaRPr lang="en-US" sz="1350" dirty="0"/>
          </a:p>
        </p:txBody>
      </p:sp>
      <p:sp>
        <p:nvSpPr>
          <p:cNvPr id="896" name="Text 7"/>
          <p:cNvSpPr/>
          <p:nvPr/>
        </p:nvSpPr>
        <p:spPr>
          <a:xfrm>
            <a:off x="457200" y="221284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test_corrector_l5</a:t>
            </a:r>
            <a:endParaRPr lang="en-US" sz="1100" dirty="0"/>
          </a:p>
        </p:txBody>
      </p:sp>
      <p:sp>
        <p:nvSpPr>
          <p:cNvPr id="897" name="Shape 8"/>
          <p:cNvSpPr/>
          <p:nvPr/>
        </p:nvSpPr>
        <p:spPr>
          <a:xfrm>
            <a:off x="2880360" y="2263140"/>
            <a:ext cx="3246120" cy="21031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898" name="Text 9"/>
          <p:cNvSpPr/>
          <p:nvPr/>
        </p:nvSpPr>
        <p:spPr>
          <a:xfrm>
            <a:off x="6199632" y="22128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1150" dirty="0"/>
          </a:p>
        </p:txBody>
      </p:sp>
      <p:sp>
        <p:nvSpPr>
          <p:cNvPr id="899" name="Text 10"/>
          <p:cNvSpPr/>
          <p:nvPr/>
        </p:nvSpPr>
        <p:spPr>
          <a:xfrm>
            <a:off x="457200" y="26151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test_features</a:t>
            </a:r>
            <a:endParaRPr lang="en-US" sz="1100" dirty="0"/>
          </a:p>
        </p:txBody>
      </p:sp>
      <p:sp>
        <p:nvSpPr>
          <p:cNvPr id="900" name="Shape 11"/>
          <p:cNvSpPr/>
          <p:nvPr/>
        </p:nvSpPr>
        <p:spPr>
          <a:xfrm>
            <a:off x="2880360" y="2665476"/>
            <a:ext cx="1693628" cy="210312"/>
          </a:xfrm>
          <a:prstGeom prst="rect">
            <a:avLst/>
          </a:prstGeom>
          <a:solidFill>
            <a:srgbClr val="C4807A"/>
          </a:solidFill>
          <a:ln/>
        </p:spPr>
        <p:txBody>
          <a:bodyPr/>
          <a:p/>
        </p:txBody>
      </p:sp>
      <p:sp>
        <p:nvSpPr>
          <p:cNvPr id="901" name="Text 12"/>
          <p:cNvSpPr/>
          <p:nvPr/>
        </p:nvSpPr>
        <p:spPr>
          <a:xfrm>
            <a:off x="4647140" y="261518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50" dirty="0"/>
          </a:p>
        </p:txBody>
      </p:sp>
      <p:sp>
        <p:nvSpPr>
          <p:cNvPr id="902" name="Text 13"/>
          <p:cNvSpPr/>
          <p:nvPr/>
        </p:nvSpPr>
        <p:spPr>
          <a:xfrm>
            <a:off x="457200" y="30175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test_attachments</a:t>
            </a:r>
            <a:endParaRPr lang="en-US" sz="1100" dirty="0"/>
          </a:p>
        </p:txBody>
      </p:sp>
      <p:sp>
        <p:nvSpPr>
          <p:cNvPr id="903" name="Shape 14"/>
          <p:cNvSpPr/>
          <p:nvPr/>
        </p:nvSpPr>
        <p:spPr>
          <a:xfrm>
            <a:off x="2880360" y="3067812"/>
            <a:ext cx="1411357" cy="210312"/>
          </a:xfrm>
          <a:prstGeom prst="rect">
            <a:avLst/>
          </a:prstGeom>
          <a:solidFill>
            <a:srgbClr val="C4807A"/>
          </a:solidFill>
          <a:ln/>
        </p:spPr>
        <p:txBody>
          <a:bodyPr/>
          <a:p/>
        </p:txBody>
      </p:sp>
      <p:sp>
        <p:nvSpPr>
          <p:cNvPr id="904" name="Text 15"/>
          <p:cNvSpPr/>
          <p:nvPr/>
        </p:nvSpPr>
        <p:spPr>
          <a:xfrm>
            <a:off x="4364869" y="3017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50" dirty="0"/>
          </a:p>
        </p:txBody>
      </p:sp>
      <p:sp>
        <p:nvSpPr>
          <p:cNvPr id="905" name="Text 16"/>
          <p:cNvSpPr/>
          <p:nvPr/>
        </p:nvSpPr>
        <p:spPr>
          <a:xfrm>
            <a:off x="457200" y="34198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test_corrector_l4</a:t>
            </a:r>
            <a:endParaRPr lang="en-US" sz="1100" dirty="0"/>
          </a:p>
        </p:txBody>
      </p:sp>
      <p:sp>
        <p:nvSpPr>
          <p:cNvPr id="906" name="Shape 17"/>
          <p:cNvSpPr/>
          <p:nvPr/>
        </p:nvSpPr>
        <p:spPr>
          <a:xfrm>
            <a:off x="2880360" y="3470148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  <p:txBody>
          <a:bodyPr/>
          <a:p/>
        </p:txBody>
      </p:sp>
      <p:sp>
        <p:nvSpPr>
          <p:cNvPr id="907" name="Text 18"/>
          <p:cNvSpPr/>
          <p:nvPr/>
        </p:nvSpPr>
        <p:spPr>
          <a:xfrm>
            <a:off x="4294301" y="34198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908" name="Text 19"/>
          <p:cNvSpPr/>
          <p:nvPr/>
        </p:nvSpPr>
        <p:spPr>
          <a:xfrm>
            <a:off x="457200" y="3822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test_correction_highlighter</a:t>
            </a:r>
            <a:endParaRPr lang="en-US" sz="1100" dirty="0"/>
          </a:p>
        </p:txBody>
      </p:sp>
      <p:sp>
        <p:nvSpPr>
          <p:cNvPr id="909" name="Shape 20"/>
          <p:cNvSpPr/>
          <p:nvPr/>
        </p:nvSpPr>
        <p:spPr>
          <a:xfrm>
            <a:off x="2880360" y="3872484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  <p:txBody>
          <a:bodyPr/>
          <a:p/>
        </p:txBody>
      </p:sp>
      <p:sp>
        <p:nvSpPr>
          <p:cNvPr id="910" name="Text 21"/>
          <p:cNvSpPr/>
          <p:nvPr/>
        </p:nvSpPr>
        <p:spPr>
          <a:xfrm>
            <a:off x="4294301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911" name="Text 22"/>
          <p:cNvSpPr/>
          <p:nvPr/>
        </p:nvSpPr>
        <p:spPr>
          <a:xfrm>
            <a:off x="457200" y="42245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test_backup_limits</a:t>
            </a:r>
            <a:endParaRPr lang="en-US" sz="1100" dirty="0"/>
          </a:p>
        </p:txBody>
      </p:sp>
      <p:sp>
        <p:nvSpPr>
          <p:cNvPr id="912" name="Shape 23"/>
          <p:cNvSpPr/>
          <p:nvPr/>
        </p:nvSpPr>
        <p:spPr>
          <a:xfrm>
            <a:off x="2880360" y="4274820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  <p:txBody>
          <a:bodyPr/>
          <a:p/>
        </p:txBody>
      </p:sp>
      <p:sp>
        <p:nvSpPr>
          <p:cNvPr id="913" name="Text 24"/>
          <p:cNvSpPr/>
          <p:nvPr/>
        </p:nvSpPr>
        <p:spPr>
          <a:xfrm>
            <a:off x="4294301" y="42245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914" name="Text 25"/>
          <p:cNvSpPr/>
          <p:nvPr/>
        </p:nvSpPr>
        <p:spPr>
          <a:xfrm>
            <a:off x="457200" y="4626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test_stage3_extras</a:t>
            </a:r>
            <a:endParaRPr lang="en-US" sz="1100" dirty="0"/>
          </a:p>
        </p:txBody>
      </p:sp>
      <p:sp>
        <p:nvSpPr>
          <p:cNvPr id="915" name="Shape 26"/>
          <p:cNvSpPr/>
          <p:nvPr/>
        </p:nvSpPr>
        <p:spPr>
          <a:xfrm>
            <a:off x="2880360" y="4677156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  <p:txBody>
          <a:bodyPr/>
          <a:p/>
        </p:txBody>
      </p:sp>
      <p:sp>
        <p:nvSpPr>
          <p:cNvPr id="916" name="Text 27"/>
          <p:cNvSpPr/>
          <p:nvPr/>
        </p:nvSpPr>
        <p:spPr>
          <a:xfrm>
            <a:off x="4294301" y="462686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917" name="Text 28"/>
          <p:cNvSpPr/>
          <p:nvPr/>
        </p:nvSpPr>
        <p:spPr>
          <a:xfrm>
            <a:off x="457200" y="5029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test_batch_correct</a:t>
            </a:r>
            <a:endParaRPr lang="en-US" sz="1100" dirty="0"/>
          </a:p>
        </p:txBody>
      </p:sp>
      <p:sp>
        <p:nvSpPr>
          <p:cNvPr id="918" name="Shape 29"/>
          <p:cNvSpPr/>
          <p:nvPr/>
        </p:nvSpPr>
        <p:spPr>
          <a:xfrm>
            <a:off x="2880360" y="5079492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  <p:txBody>
          <a:bodyPr/>
          <a:p/>
        </p:txBody>
      </p:sp>
      <p:sp>
        <p:nvSpPr>
          <p:cNvPr id="919" name="Text 30"/>
          <p:cNvSpPr/>
          <p:nvPr/>
        </p:nvSpPr>
        <p:spPr>
          <a:xfrm>
            <a:off x="4153165" y="5029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920" name="Text 31"/>
          <p:cNvSpPr/>
          <p:nvPr/>
        </p:nvSpPr>
        <p:spPr>
          <a:xfrm>
            <a:off x="457200" y="54315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test_registry</a:t>
            </a:r>
            <a:endParaRPr lang="en-US" sz="1100" dirty="0"/>
          </a:p>
        </p:txBody>
      </p:sp>
      <p:sp>
        <p:nvSpPr>
          <p:cNvPr id="921" name="Shape 32"/>
          <p:cNvSpPr/>
          <p:nvPr/>
        </p:nvSpPr>
        <p:spPr>
          <a:xfrm>
            <a:off x="2880360" y="5481828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  <p:txBody>
          <a:bodyPr/>
          <a:p/>
        </p:txBody>
      </p:sp>
      <p:sp>
        <p:nvSpPr>
          <p:cNvPr id="922" name="Text 33"/>
          <p:cNvSpPr/>
          <p:nvPr/>
        </p:nvSpPr>
        <p:spPr>
          <a:xfrm>
            <a:off x="4153165" y="543153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923" name="Text 34"/>
          <p:cNvSpPr/>
          <p:nvPr/>
        </p:nvSpPr>
        <p:spPr>
          <a:xfrm>
            <a:off x="45720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1745 用例 · 78 个测试文件 · ruff 门槛 E9+F+FA100/FA102+B+PLW2901（拦“忘导入即崩溃”“py39 注解崩”“未用符号回归”）</a:t>
            </a:r>
            <a:endParaRPr lang="en-US" sz="1150" dirty="0"/>
          </a:p>
        </p:txBody>
      </p:sp>
      <p:sp>
        <p:nvSpPr>
          <p:cNvPr id="924" name="Shape 35"/>
          <p:cNvSpPr/>
          <p:nvPr/>
        </p:nvSpPr>
        <p:spPr>
          <a:xfrm>
            <a:off x="6949440" y="1737360"/>
            <a:ext cx="4782312" cy="4526280"/>
          </a:xfrm>
          <a:prstGeom prst="roundRect">
            <a:avLst>
              <a:gd name="adj" fmla="val 1616"/>
            </a:avLst>
          </a:prstGeom>
          <a:solidFill>
            <a:srgbClr val="1F1917"/>
          </a:solidFill>
          <a:ln/>
        </p:spPr>
        <p:txBody>
          <a:bodyPr/>
          <a:p/>
        </p:txBody>
      </p:sp>
      <p:sp>
        <p:nvSpPr>
          <p:cNvPr id="925" name="Text 36"/>
          <p:cNvSpPr/>
          <p:nvPr/>
        </p:nvSpPr>
        <p:spPr>
          <a:xfrm>
            <a:off x="7205472" y="19019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性能验收（写进测试的硬指标）</a:t>
            </a:r>
            <a:endParaRPr lang="en-US" sz="1350" dirty="0"/>
          </a:p>
        </p:txBody>
      </p:sp>
      <p:sp>
        <p:nvSpPr>
          <p:cNvPr id="926" name="Text 37"/>
          <p:cNvSpPr/>
          <p:nvPr/>
        </p:nvSpPr>
        <p:spPr>
          <a:xfrm>
            <a:off x="7205472" y="23957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250" dirty="0"/>
          </a:p>
        </p:txBody>
      </p:sp>
      <p:sp>
        <p:nvSpPr>
          <p:cNvPr id="927" name="Text 38"/>
          <p:cNvSpPr/>
          <p:nvPr/>
        </p:nvSpPr>
        <p:spPr>
          <a:xfrm>
            <a:off x="9966960" y="23957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 秒</a:t>
            </a:r>
            <a:endParaRPr lang="en-US" sz="1500" dirty="0"/>
          </a:p>
        </p:txBody>
      </p:sp>
      <p:sp>
        <p:nvSpPr>
          <p:cNvPr id="928" name="Shape 39"/>
          <p:cNvSpPr/>
          <p:nvPr/>
        </p:nvSpPr>
        <p:spPr>
          <a:xfrm>
            <a:off x="7205472" y="2852928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929" name="Text 40"/>
          <p:cNvSpPr/>
          <p:nvPr/>
        </p:nvSpPr>
        <p:spPr>
          <a:xfrm>
            <a:off x="7205472" y="29626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万字语料检索</a:t>
            </a:r>
            <a:endParaRPr lang="en-US" sz="1250" dirty="0"/>
          </a:p>
        </p:txBody>
      </p:sp>
      <p:sp>
        <p:nvSpPr>
          <p:cNvPr id="930" name="Text 41"/>
          <p:cNvSpPr/>
          <p:nvPr/>
        </p:nvSpPr>
        <p:spPr>
          <a:xfrm>
            <a:off x="996696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1500" dirty="0"/>
          </a:p>
        </p:txBody>
      </p:sp>
      <p:sp>
        <p:nvSpPr>
          <p:cNvPr id="931" name="Shape 42"/>
          <p:cNvSpPr/>
          <p:nvPr/>
        </p:nvSpPr>
        <p:spPr>
          <a:xfrm>
            <a:off x="7205472" y="3419856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932" name="Text 43"/>
          <p:cNvSpPr/>
          <p:nvPr/>
        </p:nvSpPr>
        <p:spPr>
          <a:xfrm>
            <a:off x="7205472" y="35295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100 对识别率</a:t>
            </a:r>
            <a:endParaRPr lang="en-US" sz="1250" dirty="0"/>
          </a:p>
        </p:txBody>
      </p:sp>
      <p:sp>
        <p:nvSpPr>
          <p:cNvPr id="933" name="Text 44"/>
          <p:cNvSpPr/>
          <p:nvPr/>
        </p:nvSpPr>
        <p:spPr>
          <a:xfrm>
            <a:off x="9966960" y="352958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500" dirty="0"/>
          </a:p>
        </p:txBody>
      </p:sp>
      <p:sp>
        <p:nvSpPr>
          <p:cNvPr id="934" name="Shape 45"/>
          <p:cNvSpPr/>
          <p:nvPr/>
        </p:nvSpPr>
        <p:spPr>
          <a:xfrm>
            <a:off x="7205472" y="3986784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935" name="Text 46"/>
          <p:cNvSpPr/>
          <p:nvPr/>
        </p:nvSpPr>
        <p:spPr>
          <a:xfrm>
            <a:off x="7205472" y="4096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首启种子导入</a:t>
            </a:r>
            <a:endParaRPr lang="en-US" sz="1250" dirty="0"/>
          </a:p>
        </p:txBody>
      </p:sp>
      <p:sp>
        <p:nvSpPr>
          <p:cNvPr id="936" name="Text 47"/>
          <p:cNvSpPr/>
          <p:nvPr/>
        </p:nvSpPr>
        <p:spPr>
          <a:xfrm>
            <a:off x="9966960" y="4096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15 秒</a:t>
            </a:r>
            <a:endParaRPr lang="en-US" sz="1500" dirty="0"/>
          </a:p>
        </p:txBody>
      </p:sp>
      <p:sp>
        <p:nvSpPr>
          <p:cNvPr id="937" name="Shape 48"/>
          <p:cNvSpPr/>
          <p:nvPr/>
        </p:nvSpPr>
        <p:spPr>
          <a:xfrm>
            <a:off x="7205472" y="4553712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938" name="Text 49"/>
          <p:cNvSpPr/>
          <p:nvPr/>
        </p:nvSpPr>
        <p:spPr>
          <a:xfrm>
            <a:off x="7205472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端到端自检</a:t>
            </a:r>
            <a:endParaRPr lang="en-US" sz="1250" dirty="0"/>
          </a:p>
        </p:txBody>
      </p:sp>
      <p:sp>
        <p:nvSpPr>
          <p:cNvPr id="939" name="Text 50"/>
          <p:cNvSpPr/>
          <p:nvPr/>
        </p:nvSpPr>
        <p:spPr>
          <a:xfrm>
            <a:off x="9966960" y="46634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步全 PASS</a:t>
            </a:r>
            <a:endParaRPr lang="en-US" sz="1500" dirty="0"/>
          </a:p>
        </p:txBody>
      </p:sp>
      <p:sp>
        <p:nvSpPr>
          <p:cNvPr id="940" name="Shape 51"/>
          <p:cNvSpPr/>
          <p:nvPr/>
        </p:nvSpPr>
        <p:spPr>
          <a:xfrm>
            <a:off x="7205472" y="5120640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941" name="Text 52"/>
          <p:cNvSpPr/>
          <p:nvPr/>
        </p:nvSpPr>
        <p:spPr>
          <a:xfrm>
            <a:off x="7205472" y="52303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250" dirty="0"/>
          </a:p>
        </p:txBody>
      </p:sp>
      <p:sp>
        <p:nvSpPr>
          <p:cNvPr id="942" name="Text 53"/>
          <p:cNvSpPr/>
          <p:nvPr/>
        </p:nvSpPr>
        <p:spPr>
          <a:xfrm>
            <a:off x="9966960" y="52303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</a:t>
            </a:r>
            <a:endParaRPr lang="en-US" sz="1500" dirty="0"/>
          </a:p>
        </p:txBody>
      </p:sp>
      <p:sp>
        <p:nvSpPr>
          <p:cNvPr id="943" name="Text 54"/>
          <p:cNvSpPr/>
          <p:nvPr/>
        </p:nvSpPr>
        <p:spPr>
          <a:xfrm>
            <a:off x="7205472" y="5806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e2e_check.py：模拟真实数据目录走通 50 项全流程，逐项 PASS/FAIL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>
  <p:cSld name="Slide 41">
    <p:bg>
      <p:bgPr>
        <a:solidFill>
          <a:srgbClr val="FFFFFF"/>
        </a:solidFill>
      </p:bgPr>
    </p:bg>
    <p:spTree>
      <p:nvGrpSpPr>
        <p:cNvPr id="9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46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947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948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v1.6.0 新增：把公文管理的另一半补齐</a:t>
            </a:r>
            <a:endParaRPr lang="en-US" sz="2600" dirty="0"/>
          </a:p>
        </p:txBody>
      </p:sp>
      <p:sp>
        <p:nvSpPr>
          <p:cNvPr id="949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1200" dirty="0"/>
          </a:p>
        </p:txBody>
      </p:sp>
      <p:sp>
        <p:nvSpPr>
          <p:cNvPr id="950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951" name="Shape 6"/>
          <p:cNvSpPr/>
          <p:nvPr/>
        </p:nvSpPr>
        <p:spPr>
          <a:xfrm>
            <a:off x="457200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952" name="Shape 7"/>
          <p:cNvSpPr/>
          <p:nvPr/>
        </p:nvSpPr>
        <p:spPr>
          <a:xfrm>
            <a:off x="457200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53" name="Text 8"/>
          <p:cNvSpPr/>
          <p:nvPr/>
        </p:nvSpPr>
        <p:spPr>
          <a:xfrm>
            <a:off x="713232" y="181965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收文登记台账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签收 → 拟办 → 批办 → 承办 → 办结 → 归档 全流程登记：来文机关、来文字号、拟办意见、领导批示、承办部门与办理时限全要素；可按机关/文种/状态/年度组合筛选并统计</a:t>
            </a:r>
            <a:endParaRPr lang="en-US" sz="1450" dirty="0"/>
          </a:p>
        </p:txBody>
      </p:sp>
      <p:sp>
        <p:nvSpPr>
          <p:cNvPr id="954" name="Shape 9"/>
          <p:cNvSpPr/>
          <p:nvPr/>
        </p:nvSpPr>
        <p:spPr>
          <a:xfrm>
            <a:off x="6327648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955" name="Shape 10"/>
          <p:cNvSpPr/>
          <p:nvPr/>
        </p:nvSpPr>
        <p:spPr>
          <a:xfrm>
            <a:off x="6327648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56" name="Text 11"/>
          <p:cNvSpPr/>
          <p:nvPr/>
        </p:nvSpPr>
        <p:spPr>
          <a:xfrm>
            <a:off x="6583680" y="181965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办理时限督办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填了“应办结日期”的件自动纳入督办：启动时扫描已逾期与 2 日内到期的，状态栏常显角标、点开即见清单。刻意不做后台常驻轮询 —— 那会伤续航，而公文以“天”为粒度</a:t>
            </a:r>
            <a:endParaRPr lang="en-US" sz="1450" dirty="0"/>
          </a:p>
        </p:txBody>
      </p:sp>
      <p:sp>
        <p:nvSpPr>
          <p:cNvPr id="957" name="Shape 12"/>
          <p:cNvSpPr/>
          <p:nvPr/>
        </p:nvSpPr>
        <p:spPr>
          <a:xfrm>
            <a:off x="457200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958" name="Shape 13"/>
          <p:cNvSpPr/>
          <p:nvPr/>
        </p:nvSpPr>
        <p:spPr>
          <a:xfrm>
            <a:off x="457200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59" name="Text 14"/>
          <p:cNvSpPr/>
          <p:nvPr/>
        </p:nvSpPr>
        <p:spPr>
          <a:xfrm>
            <a:off x="713232" y="3401568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归档与移交清单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已办结收文批量编档号、标注保管期限（永久/30年/10年），并生成可签字盖章随卷的《归档移交清单》。在办件不允许归档 —— 那会造成“卷内缺件”，比不归档更难收拾</a:t>
            </a:r>
            <a:endParaRPr lang="en-US" sz="1450" dirty="0"/>
          </a:p>
        </p:txBody>
      </p:sp>
      <p:sp>
        <p:nvSpPr>
          <p:cNvPr id="960" name="Shape 15"/>
          <p:cNvSpPr/>
          <p:nvPr/>
        </p:nvSpPr>
        <p:spPr>
          <a:xfrm>
            <a:off x="6327648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961" name="Shape 16"/>
          <p:cNvSpPr/>
          <p:nvPr/>
        </p:nvSpPr>
        <p:spPr>
          <a:xfrm>
            <a:off x="6327648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62" name="Text 17"/>
          <p:cNvSpPr/>
          <p:nvPr/>
        </p:nvSpPr>
        <p:spPr>
          <a:xfrm>
            <a:off x="6583680" y="3401568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导出（零新依赖）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台账、统计报表、体检整改清单均可导出 xlsx。xlsx 本质是 ZIP + XML，用标准库手写即可完成，不为此引入任何第三方依赖，安装包体积零增长</a:t>
            </a:r>
            <a:endParaRPr lang="en-US" sz="1450" dirty="0"/>
          </a:p>
        </p:txBody>
      </p:sp>
      <p:sp>
        <p:nvSpPr>
          <p:cNvPr id="963" name="Shape 18"/>
          <p:cNvSpPr/>
          <p:nvPr/>
        </p:nvSpPr>
        <p:spPr>
          <a:xfrm>
            <a:off x="457200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964" name="Shape 19"/>
          <p:cNvSpPr/>
          <p:nvPr/>
        </p:nvSpPr>
        <p:spPr>
          <a:xfrm>
            <a:off x="457200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65" name="Text 20"/>
          <p:cNvSpPr/>
          <p:nvPr/>
        </p:nvSpPr>
        <p:spPr>
          <a:xfrm>
            <a:off x="713232" y="4983480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运维可诊断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运行期诊断日志（有界轮转、队列异步、不记正文）+ 启动库完整性自检（正常时完全静默）+ 一键碎片整理 + 诊断包（只含版本与计数，绝不含公文正文）</a:t>
            </a:r>
            <a:endParaRPr lang="en-US" sz="1450" dirty="0"/>
          </a:p>
        </p:txBody>
      </p:sp>
      <p:sp>
        <p:nvSpPr>
          <p:cNvPr id="966" name="Shape 21"/>
          <p:cNvSpPr/>
          <p:nvPr/>
        </p:nvSpPr>
        <p:spPr>
          <a:xfrm>
            <a:off x="6327648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967" name="Shape 22"/>
          <p:cNvSpPr/>
          <p:nvPr/>
        </p:nvSpPr>
        <p:spPr>
          <a:xfrm>
            <a:off x="6327648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68" name="Text 23"/>
          <p:cNvSpPr/>
          <p:nvPr/>
        </p:nvSpPr>
        <p:spPr>
          <a:xfrm>
            <a:off x="6583680" y="4983480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体检与移交增强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格式体检新增引文规范、数字用法、文内一致性、公文文风四类；汇编可附材料来源清单；资料可按分类/时段导出为移交包（含每份文档的 sha256 校验清单）</a:t>
            </a:r>
            <a:endParaRPr lang="en-US" sz="1450" dirty="0"/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>
  <p:cSld name="Slide 42">
    <p:bg>
      <p:bgPr>
        <a:solidFill>
          <a:srgbClr val="FFFFFF"/>
        </a:solidFill>
      </p:bgPr>
    </p:bg>
    <p:spTree>
      <p:nvGrpSpPr>
        <p:cNvPr id="9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71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972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973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v1.7.0 新增：语法纠错、写作提示与第五轮深审</a:t>
            </a:r>
            <a:endParaRPr lang="en-US" sz="2600" dirty="0"/>
          </a:p>
        </p:txBody>
      </p:sp>
      <p:sp>
        <p:nvSpPr>
          <p:cNvPr id="974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200" dirty="0"/>
          </a:p>
        </p:txBody>
      </p:sp>
      <p:sp>
        <p:nvSpPr>
          <p:cNvPr id="975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976" name="Shape 6"/>
          <p:cNvSpPr/>
          <p:nvPr/>
        </p:nvSpPr>
        <p:spPr>
          <a:xfrm>
            <a:off x="457200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977" name="Shape 7"/>
          <p:cNvSpPr/>
          <p:nvPr/>
        </p:nvSpPr>
        <p:spPr>
          <a:xfrm>
            <a:off x="457200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78" name="Text 8"/>
          <p:cNvSpPr/>
          <p:nvPr/>
        </p:nvSpPr>
        <p:spPr>
          <a:xfrm>
            <a:off x="713232" y="1801368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语法与表达规则层（L2.5）</a:t>
            </a:r>
            <a:endParaRPr lang="en-US" sz="14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补上词表法够不着的错：语义冗余（涉及到→涉及）、动宾搭配（加强力度→加大力度）、关联词呼应（只有……就→才）、成对标点未配对。每条规则都有正例命中 + 27 条负样本守门，正常公文语料零误报</a:t>
            </a:r>
            <a:endParaRPr lang="en-US" sz="1450" dirty="0"/>
          </a:p>
        </p:txBody>
      </p:sp>
      <p:sp>
        <p:nvSpPr>
          <p:cNvPr id="979" name="Shape 9"/>
          <p:cNvSpPr/>
          <p:nvPr/>
        </p:nvSpPr>
        <p:spPr>
          <a:xfrm>
            <a:off x="6327648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980" name="Shape 10"/>
          <p:cNvSpPr/>
          <p:nvPr/>
        </p:nvSpPr>
        <p:spPr>
          <a:xfrm>
            <a:off x="6327648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81" name="Text 11"/>
          <p:cNvSpPr/>
          <p:nvPr/>
        </p:nvSpPr>
        <p:spPr>
          <a:xfrm>
            <a:off x="6583680" y="1801368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精标库扩容 · 消解修正</a:t>
            </a:r>
            <a:endParaRPr lang="en-US" sz="14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人工精标对扩到 370 条、检出率 100%：_dedupe 改为“精标长对优先”单向消解——此前“反应情况”会被短规则截胡的边角问题就此闭环</a:t>
            </a:r>
            <a:endParaRPr lang="en-US" sz="1450" dirty="0"/>
          </a:p>
        </p:txBody>
      </p:sp>
      <p:sp>
        <p:nvSpPr>
          <p:cNvPr id="982" name="Shape 12"/>
          <p:cNvSpPr/>
          <p:nvPr/>
        </p:nvSpPr>
        <p:spPr>
          <a:xfrm>
            <a:off x="457200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983" name="Shape 13"/>
          <p:cNvSpPr/>
          <p:nvPr/>
        </p:nvSpPr>
        <p:spPr>
          <a:xfrm>
            <a:off x="457200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84" name="Text 14"/>
          <p:cNvSpPr/>
          <p:nvPr/>
        </p:nvSpPr>
        <p:spPr>
          <a:xfrm>
            <a:off x="713232" y="3383280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写作提示</a:t>
            </a:r>
            <a:endParaRPr lang="en-US" sz="14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按文种提示缺哪个要素、结构要不要分层、句长与空泛词体检。只给建议、绝不改动正文——模块内没有任何写正文的入口</a:t>
            </a:r>
            <a:endParaRPr lang="en-US" sz="1450" dirty="0"/>
          </a:p>
        </p:txBody>
      </p:sp>
      <p:sp>
        <p:nvSpPr>
          <p:cNvPr id="985" name="Shape 15"/>
          <p:cNvSpPr/>
          <p:nvPr/>
        </p:nvSpPr>
        <p:spPr>
          <a:xfrm>
            <a:off x="6327648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986" name="Shape 16"/>
          <p:cNvSpPr/>
          <p:nvPr/>
        </p:nvSpPr>
        <p:spPr>
          <a:xfrm>
            <a:off x="6327648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87" name="Text 17"/>
          <p:cNvSpPr/>
          <p:nvPr/>
        </p:nvSpPr>
        <p:spPr>
          <a:xfrm>
            <a:off x="6583680" y="3383280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文种识别与灵感建议</a:t>
            </a:r>
            <a:endParaRPr lang="en-US" sz="14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“这篇更像哪个文种”：复用风格量化指纹做距离排序；按写作环节推荐可套用的公文句式，并检索本地资料库里的既有写法（全程离线）</a:t>
            </a:r>
            <a:endParaRPr lang="en-US" sz="1450" dirty="0"/>
          </a:p>
        </p:txBody>
      </p:sp>
      <p:sp>
        <p:nvSpPr>
          <p:cNvPr id="988" name="Shape 18"/>
          <p:cNvSpPr/>
          <p:nvPr/>
        </p:nvSpPr>
        <p:spPr>
          <a:xfrm>
            <a:off x="457200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  <p:txBody>
          <a:bodyPr/>
          <a:p/>
        </p:txBody>
      </p:sp>
      <p:sp>
        <p:nvSpPr>
          <p:cNvPr id="989" name="Shape 19"/>
          <p:cNvSpPr/>
          <p:nvPr/>
        </p:nvSpPr>
        <p:spPr>
          <a:xfrm>
            <a:off x="457200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90" name="Text 20"/>
          <p:cNvSpPr/>
          <p:nvPr/>
        </p:nvSpPr>
        <p:spPr>
          <a:xfrm>
            <a:off x="713232" y="4965192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第五轮质量深审</a:t>
            </a:r>
            <a:endParaRPr lang="en-US" sz="14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汇编材料标题按输入槽位对齐（坏文件只跳过自己那一坑）；来源清单不虚列出处；机构一致性覆盖“简称与全称”连写场景；无界面环境的字体探测不再崩溃进程——每条都先实测复现、再修复、再补回归</a:t>
            </a:r>
            <a:endParaRPr lang="en-US" sz="1450" dirty="0"/>
          </a:p>
        </p:txBody>
      </p:sp>
      <p:sp>
        <p:nvSpPr>
          <p:cNvPr id="991" name="Shape 21"/>
          <p:cNvSpPr/>
          <p:nvPr/>
        </p:nvSpPr>
        <p:spPr>
          <a:xfrm>
            <a:off x="6327648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992" name="Shape 22"/>
          <p:cNvSpPr/>
          <p:nvPr/>
        </p:nvSpPr>
        <p:spPr>
          <a:xfrm>
            <a:off x="6327648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93" name="Text 23"/>
          <p:cNvSpPr/>
          <p:nvPr/>
        </p:nvSpPr>
        <p:spPr>
          <a:xfrm>
            <a:off x="6583680" y="4965192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质量基线抬升</a:t>
            </a:r>
            <a:endParaRPr lang="en-US" sz="14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 1612 → 1745 项，端到端自检 45 → 50 项；数据层全生命周期探针 29 项全过；全部结论以“实测复现”为准绳记录在审查报告第五轮</a:t>
            </a:r>
            <a:endParaRPr lang="en-US" sz="1450" dirty="0"/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>
  <p:cSld name="Slide 43">
    <p:bg>
      <p:bgPr>
        <a:solidFill>
          <a:srgbClr val="FFFFFF"/>
        </a:solidFill>
      </p:bgPr>
    </p:bg>
    <p:spTree>
      <p:nvGrpSpPr>
        <p:cNvPr id="99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996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997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998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规范依据与资料来源（逐项可溯）</a:t>
            </a:r>
            <a:endParaRPr lang="en-US" sz="2600" dirty="0"/>
          </a:p>
        </p:txBody>
      </p:sp>
      <p:sp>
        <p:nvSpPr>
          <p:cNvPr id="999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1200" dirty="0"/>
          </a:p>
        </p:txBody>
      </p:sp>
      <p:sp>
        <p:nvSpPr>
          <p:cNvPr id="1000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1001" name="Shape 6"/>
          <p:cNvSpPr/>
          <p:nvPr/>
        </p:nvSpPr>
        <p:spPr>
          <a:xfrm>
            <a:off x="457200" y="1572768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002" name="Text 7"/>
          <p:cNvSpPr/>
          <p:nvPr/>
        </p:nvSpPr>
        <p:spPr>
          <a:xfrm>
            <a:off x="566928" y="1618488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《军队机关公文处理工作条例》</a:t>
            </a:r>
            <a:endParaRPr lang="en-US" sz="1150" dirty="0"/>
          </a:p>
        </p:txBody>
      </p:sp>
      <p:sp>
        <p:nvSpPr>
          <p:cNvPr id="1003" name="Text 8"/>
          <p:cNvSpPr/>
          <p:nvPr/>
        </p:nvSpPr>
        <p:spPr>
          <a:xfrm>
            <a:off x="3383280" y="1618488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解放军报 2017-07-17 全文发布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2017-10-01 施行，废止 2005 年版</a:t>
            </a:r>
            <a:endParaRPr lang="en-US" sz="1050" dirty="0"/>
          </a:p>
        </p:txBody>
      </p:sp>
      <p:sp>
        <p:nvSpPr>
          <p:cNvPr id="1004" name="Text 9"/>
          <p:cNvSpPr/>
          <p:nvPr/>
        </p:nvSpPr>
        <p:spPr>
          <a:xfrm>
            <a:off x="6492240" y="1618488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文种（12 种）· 格式要素（20 项）· 行文规则 · 起草语言要求（内容简洁、主题突出、观点鲜明、结构严谨、表述准确、文字精练）</a:t>
            </a:r>
            <a:endParaRPr lang="en-US" sz="1050" dirty="0"/>
          </a:p>
        </p:txBody>
      </p:sp>
      <p:sp>
        <p:nvSpPr>
          <p:cNvPr id="1005" name="Shape 10"/>
          <p:cNvSpPr/>
          <p:nvPr/>
        </p:nvSpPr>
        <p:spPr>
          <a:xfrm>
            <a:off x="457200" y="2322576"/>
            <a:ext cx="11247120" cy="1024128"/>
          </a:xfrm>
          <a:prstGeom prst="roundRect">
            <a:avLst>
              <a:gd name="adj" fmla="val 53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006" name="Text 11"/>
          <p:cNvSpPr/>
          <p:nvPr/>
        </p:nvSpPr>
        <p:spPr>
          <a:xfrm>
            <a:off x="566928" y="2368296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5100A-2017《军队机关公文格式》</a:t>
            </a:r>
            <a:endParaRPr lang="en-US" sz="1150" dirty="0"/>
          </a:p>
        </p:txBody>
      </p:sp>
      <p:sp>
        <p:nvSpPr>
          <p:cNvPr id="1007" name="Text 12"/>
          <p:cNvSpPr/>
          <p:nvPr/>
        </p:nvSpPr>
        <p:spPr>
          <a:xfrm>
            <a:off x="3383280" y="2368296"/>
            <a:ext cx="290779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国家军用标准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 年发布，36 页</a:t>
            </a:r>
            <a:endParaRPr lang="en-US" sz="1050" dirty="0"/>
          </a:p>
        </p:txBody>
      </p:sp>
      <p:sp>
        <p:nvSpPr>
          <p:cNvPr id="1008" name="Text 13"/>
          <p:cNvSpPr/>
          <p:nvPr/>
        </p:nvSpPr>
        <p:spPr>
          <a:xfrm>
            <a:off x="6492240" y="2368296"/>
            <a:ext cx="50109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页面与字体字号：A4 · 天头 37mm · 订口 28mm · 版心 156mm×225mm · 每面 22 行×28 字；正文三号仿宋 · 标题二号小标宋 · 密级三号黑体 · 页码四号半角白体</a:t>
            </a:r>
            <a:endParaRPr lang="en-US" sz="1050" dirty="0"/>
          </a:p>
        </p:txBody>
      </p:sp>
      <p:sp>
        <p:nvSpPr>
          <p:cNvPr id="1009" name="Shape 14"/>
          <p:cNvSpPr/>
          <p:nvPr/>
        </p:nvSpPr>
        <p:spPr>
          <a:xfrm>
            <a:off x="457200" y="3419856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010" name="Text 15"/>
          <p:cNvSpPr/>
          <p:nvPr/>
        </p:nvSpPr>
        <p:spPr>
          <a:xfrm>
            <a:off x="566928" y="3465576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求是网 · 文风建设系列文章</a:t>
            </a:r>
            <a:endParaRPr lang="en-US" sz="1150" dirty="0"/>
          </a:p>
        </p:txBody>
      </p:sp>
      <p:sp>
        <p:nvSpPr>
          <p:cNvPr id="1011" name="Text 16"/>
          <p:cNvSpPr/>
          <p:nvPr/>
        </p:nvSpPr>
        <p:spPr>
          <a:xfrm>
            <a:off x="3383280" y="3465576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《“改文风”不只是“改文字”》等 3 篇</a:t>
            </a:r>
            <a:endParaRPr lang="en-US" sz="1050" dirty="0"/>
          </a:p>
        </p:txBody>
      </p:sp>
      <p:sp>
        <p:nvSpPr>
          <p:cNvPr id="1012" name="Text 17"/>
          <p:cNvSpPr/>
          <p:nvPr/>
        </p:nvSpPr>
        <p:spPr>
          <a:xfrm>
            <a:off x="6492240" y="3465576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文风检查依据：反对“长、空、假”，倡导“短、实、新”</a:t>
            </a:r>
            <a:endParaRPr lang="en-US" sz="1050" dirty="0"/>
          </a:p>
        </p:txBody>
      </p:sp>
      <p:sp>
        <p:nvSpPr>
          <p:cNvPr id="1013" name="Shape 18"/>
          <p:cNvSpPr/>
          <p:nvPr/>
        </p:nvSpPr>
        <p:spPr>
          <a:xfrm>
            <a:off x="457200" y="4169664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014" name="Text 19"/>
          <p:cNvSpPr/>
          <p:nvPr/>
        </p:nvSpPr>
        <p:spPr>
          <a:xfrm>
            <a:off x="566928" y="4215384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中国军网 · 解放军报</a:t>
            </a:r>
            <a:endParaRPr lang="en-US" sz="1150" dirty="0"/>
          </a:p>
        </p:txBody>
      </p:sp>
      <p:sp>
        <p:nvSpPr>
          <p:cNvPr id="1015" name="Text 20"/>
          <p:cNvSpPr/>
          <p:nvPr/>
        </p:nvSpPr>
        <p:spPr>
          <a:xfrm>
            <a:off x="3383280" y="4215384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中国人民解放军官方军事新闻门户</a:t>
            </a:r>
            <a:endParaRPr lang="en-US" sz="1050" dirty="0"/>
          </a:p>
        </p:txBody>
      </p:sp>
      <p:sp>
        <p:nvSpPr>
          <p:cNvPr id="1016" name="Text 21"/>
          <p:cNvSpPr/>
          <p:nvPr/>
        </p:nvSpPr>
        <p:spPr>
          <a:xfrm>
            <a:off x="6492240" y="4215384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军队机关公文规范的发布渠道与权威来源</a:t>
            </a:r>
            <a:endParaRPr lang="en-US" sz="1050" dirty="0"/>
          </a:p>
        </p:txBody>
      </p:sp>
      <p:sp>
        <p:nvSpPr>
          <p:cNvPr id="1017" name="Shape 22"/>
          <p:cNvSpPr/>
          <p:nvPr/>
        </p:nvSpPr>
        <p:spPr>
          <a:xfrm>
            <a:off x="457200" y="4919472"/>
            <a:ext cx="11247120" cy="896112"/>
          </a:xfrm>
          <a:prstGeom prst="roundRect">
            <a:avLst>
              <a:gd name="adj" fmla="val 6122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018" name="Text 23"/>
          <p:cNvSpPr/>
          <p:nvPr/>
        </p:nvSpPr>
        <p:spPr>
          <a:xfrm>
            <a:off x="566928" y="4965192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文籍典册 wendian.dicomp.net</a:t>
            </a:r>
            <a:endParaRPr lang="en-US" sz="1150" dirty="0"/>
          </a:p>
        </p:txBody>
      </p:sp>
      <p:sp>
        <p:nvSpPr>
          <p:cNvPr id="1019" name="Text 24"/>
          <p:cNvSpPr/>
          <p:nvPr/>
        </p:nvSpPr>
        <p:spPr>
          <a:xfrm>
            <a:off x="3383280" y="4965192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外部站点</a:t>
            </a:r>
            <a:endParaRPr lang="en-US" sz="1050" dirty="0"/>
          </a:p>
        </p:txBody>
      </p:sp>
      <p:sp>
        <p:nvSpPr>
          <p:cNvPr id="1020" name="Text 25"/>
          <p:cNvSpPr/>
          <p:nvPr/>
        </p:nvSpPr>
        <p:spPr>
          <a:xfrm>
            <a:off x="6492240" y="4965192"/>
            <a:ext cx="50109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核验为 JavaScript 单页应用，未取到与本文档主张对应的正文 —— 按约定标注“不适用”，不作引用</a:t>
            </a:r>
            <a:endParaRPr lang="en-US" sz="1050" dirty="0"/>
          </a:p>
        </p:txBody>
      </p:sp>
      <p:sp>
        <p:nvSpPr>
          <p:cNvPr id="1021" name="Text 26"/>
          <p:cNvSpPr/>
          <p:nvPr/>
        </p:nvSpPr>
        <p:spPr>
          <a:xfrm>
            <a:off x="457200" y="587044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字体字号说明：</a:t>
            </a: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5100A-2017 属内部标准、未公开发行，上表字体字号取自公开整理的对应条款；如与标准正式文本有出入，以正式文本为准。文籍典册经核验无对应正文，故不引用。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>
  <p:cSld name="Slide 44">
    <p:bg>
      <p:bgPr>
        <a:solidFill>
          <a:srgbClr val="FFFFFF"/>
        </a:solidFill>
      </p:bgPr>
    </p:bg>
    <p:spTree>
      <p:nvGrpSpPr>
        <p:cNvPr id="10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024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1025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1026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代码审查：五轮深审，每条结论都以实测为准</a:t>
            </a:r>
            <a:endParaRPr lang="en-US" sz="2600" dirty="0"/>
          </a:p>
        </p:txBody>
      </p:sp>
      <p:sp>
        <p:nvSpPr>
          <p:cNvPr id="1027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1200" dirty="0"/>
          </a:p>
        </p:txBody>
      </p:sp>
      <p:sp>
        <p:nvSpPr>
          <p:cNvPr id="1028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1029" name="Shape 6"/>
          <p:cNvSpPr/>
          <p:nvPr/>
        </p:nvSpPr>
        <p:spPr>
          <a:xfrm>
            <a:off x="457200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  <p:txBody>
          <a:bodyPr/>
          <a:p/>
        </p:txBody>
      </p:sp>
      <p:sp>
        <p:nvSpPr>
          <p:cNvPr id="1030" name="Text 7"/>
          <p:cNvSpPr/>
          <p:nvPr/>
        </p:nvSpPr>
        <p:spPr>
          <a:xfrm>
            <a:off x="713232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怎么审的</a:t>
            </a:r>
            <a:endParaRPr lang="en-US" sz="1500" dirty="0"/>
          </a:p>
        </p:txBody>
      </p:sp>
      <p:sp>
        <p:nvSpPr>
          <p:cNvPr id="1031" name="Shape 8"/>
          <p:cNvSpPr/>
          <p:nvPr/>
        </p:nvSpPr>
        <p:spPr>
          <a:xfrm>
            <a:off x="713232" y="2322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032" name="Text 9"/>
          <p:cNvSpPr/>
          <p:nvPr/>
        </p:nvSpPr>
        <p:spPr>
          <a:xfrm>
            <a:off x="950976" y="2240280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alibaba/open-code-review（确定性流水线 + 规则集）</a:t>
            </a:r>
            <a:endParaRPr lang="en-US" sz="1300" dirty="0"/>
          </a:p>
        </p:txBody>
      </p:sp>
      <p:sp>
        <p:nvSpPr>
          <p:cNvPr id="1033" name="Shape 10"/>
          <p:cNvSpPr/>
          <p:nvPr/>
        </p:nvSpPr>
        <p:spPr>
          <a:xfrm>
            <a:off x="713232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034" name="Text 11"/>
          <p:cNvSpPr/>
          <p:nvPr/>
        </p:nvSpPr>
        <p:spPr>
          <a:xfrm>
            <a:off x="950976" y="3081528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</a:t>
            </a: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db / core / ui 全部源码，逐轮覆盖全部新增模块</a:t>
            </a:r>
            <a:endParaRPr lang="en-US" sz="1300" dirty="0"/>
          </a:p>
        </p:txBody>
      </p:sp>
      <p:sp>
        <p:nvSpPr>
          <p:cNvPr id="1035" name="Shape 12"/>
          <p:cNvSpPr/>
          <p:nvPr/>
        </p:nvSpPr>
        <p:spPr>
          <a:xfrm>
            <a:off x="713232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036" name="Text 13"/>
          <p:cNvSpPr/>
          <p:nvPr/>
        </p:nvSpPr>
        <p:spPr>
          <a:xfrm>
            <a:off x="950976" y="3922776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</a:t>
            </a: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内置 11 大类：异常处理 / 边界情形 / 资源管理 / 并发 / 安全…</a:t>
            </a:r>
            <a:endParaRPr lang="en-US" sz="1300" dirty="0"/>
          </a:p>
        </p:txBody>
      </p:sp>
      <p:sp>
        <p:nvSpPr>
          <p:cNvPr id="1037" name="Shape 14"/>
          <p:cNvSpPr/>
          <p:nvPr/>
        </p:nvSpPr>
        <p:spPr>
          <a:xfrm>
            <a:off x="713232" y="48463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038" name="Text 15"/>
          <p:cNvSpPr/>
          <p:nvPr/>
        </p:nvSpPr>
        <p:spPr>
          <a:xfrm>
            <a:off x="950976" y="4764024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机检出候选后逐条写探针脚本**实测复现**，不凭推理下结论</a:t>
            </a:r>
            <a:endParaRPr lang="en-US" sz="1300" dirty="0"/>
          </a:p>
        </p:txBody>
      </p:sp>
      <p:sp>
        <p:nvSpPr>
          <p:cNvPr id="1039" name="Text 16"/>
          <p:cNvSpPr/>
          <p:nvPr/>
        </p:nvSpPr>
        <p:spPr>
          <a:xfrm>
            <a:off x="713232" y="5532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诚实说明：</a:t>
            </a: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工具内置 LLM（deepseek）密钥余额为 0，故改用其官方 delegate 模式 —— 由工具出规则集，由本机 AI 完成推理与实测。</a:t>
            </a:r>
            <a:endParaRPr lang="en-US" sz="1000" dirty="0"/>
          </a:p>
        </p:txBody>
      </p:sp>
      <p:sp>
        <p:nvSpPr>
          <p:cNvPr id="1040" name="Shape 17"/>
          <p:cNvSpPr/>
          <p:nvPr/>
        </p:nvSpPr>
        <p:spPr>
          <a:xfrm>
            <a:off x="6172200" y="1600200"/>
            <a:ext cx="5559552" cy="4480560"/>
          </a:xfrm>
          <a:prstGeom prst="roundRect">
            <a:avLst>
              <a:gd name="adj" fmla="val 1633"/>
            </a:avLst>
          </a:prstGeom>
          <a:solidFill>
            <a:srgbClr val="1F1917"/>
          </a:solidFill>
          <a:ln/>
        </p:spPr>
        <p:txBody>
          <a:bodyPr/>
          <a:p/>
        </p:txBody>
      </p:sp>
      <p:sp>
        <p:nvSpPr>
          <p:cNvPr id="1041" name="Text 18"/>
          <p:cNvSpPr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审出了什么（五轮累计）</a:t>
            </a:r>
            <a:endParaRPr lang="en-US" sz="1500" dirty="0"/>
          </a:p>
        </p:txBody>
      </p:sp>
      <p:sp>
        <p:nvSpPr>
          <p:cNvPr id="1042" name="Text 19"/>
          <p:cNvSpPr/>
          <p:nvPr/>
        </p:nvSpPr>
        <p:spPr>
          <a:xfrm>
            <a:off x="6428232" y="22677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审查轮次</a:t>
            </a:r>
            <a:endParaRPr lang="en-US" sz="1250" dirty="0"/>
          </a:p>
        </p:txBody>
      </p:sp>
      <p:sp>
        <p:nvSpPr>
          <p:cNvPr id="1043" name="Text 20"/>
          <p:cNvSpPr/>
          <p:nvPr/>
        </p:nvSpPr>
        <p:spPr>
          <a:xfrm>
            <a:off x="9235440" y="2267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1044" name="Text 21"/>
          <p:cNvSpPr/>
          <p:nvPr/>
        </p:nvSpPr>
        <p:spPr>
          <a:xfrm>
            <a:off x="6428232" y="2743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 · 已修</a:t>
            </a:r>
            <a:endParaRPr lang="en-US" sz="1250" dirty="0"/>
          </a:p>
        </p:txBody>
      </p:sp>
      <p:sp>
        <p:nvSpPr>
          <p:cNvPr id="1045" name="Text 22"/>
          <p:cNvSpPr/>
          <p:nvPr/>
        </p:nvSpPr>
        <p:spPr>
          <a:xfrm>
            <a:off x="923544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500" dirty="0"/>
          </a:p>
        </p:txBody>
      </p:sp>
      <p:sp>
        <p:nvSpPr>
          <p:cNvPr id="1046" name="Text 23"/>
          <p:cNvSpPr/>
          <p:nvPr/>
        </p:nvSpPr>
        <p:spPr>
          <a:xfrm>
            <a:off x="6428232" y="32186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死代码 / 一致性清理</a:t>
            </a:r>
            <a:endParaRPr lang="en-US" sz="1250" dirty="0"/>
          </a:p>
        </p:txBody>
      </p:sp>
      <p:sp>
        <p:nvSpPr>
          <p:cNvPr id="1047" name="Text 24"/>
          <p:cNvSpPr/>
          <p:nvPr/>
        </p:nvSpPr>
        <p:spPr>
          <a:xfrm>
            <a:off x="9235440" y="32186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900" dirty="0"/>
          </a:p>
        </p:txBody>
      </p:sp>
      <p:sp>
        <p:nvSpPr>
          <p:cNvPr id="1048" name="Text 25"/>
          <p:cNvSpPr/>
          <p:nvPr/>
        </p:nvSpPr>
        <p:spPr>
          <a:xfrm>
            <a:off x="6428232" y="36941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 · 实测剔除</a:t>
            </a:r>
            <a:endParaRPr lang="en-US" sz="1250" dirty="0"/>
          </a:p>
        </p:txBody>
      </p:sp>
      <p:sp>
        <p:nvSpPr>
          <p:cNvPr id="1049" name="Text 26"/>
          <p:cNvSpPr/>
          <p:nvPr/>
        </p:nvSpPr>
        <p:spPr>
          <a:xfrm>
            <a:off x="9235440" y="369417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20+</a:t>
            </a:r>
            <a:endParaRPr lang="en-US" sz="1500" dirty="0"/>
          </a:p>
        </p:txBody>
      </p:sp>
      <p:sp>
        <p:nvSpPr>
          <p:cNvPr id="1050" name="Text 27"/>
          <p:cNvSpPr/>
          <p:nvPr/>
        </p:nvSpPr>
        <p:spPr>
          <a:xfrm>
            <a:off x="6428232" y="416966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回归测试护栏</a:t>
            </a:r>
            <a:endParaRPr lang="en-US" sz="1250" dirty="0"/>
          </a:p>
        </p:txBody>
      </p:sp>
      <p:sp>
        <p:nvSpPr>
          <p:cNvPr id="1051" name="Text 28"/>
          <p:cNvSpPr/>
          <p:nvPr/>
        </p:nvSpPr>
        <p:spPr>
          <a:xfrm>
            <a:off x="9235440" y="41696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1745</a:t>
            </a:r>
            <a:endParaRPr lang="en-US" sz="1500" dirty="0"/>
          </a:p>
        </p:txBody>
      </p:sp>
      <p:sp>
        <p:nvSpPr>
          <p:cNvPr id="1052" name="Shape 29"/>
          <p:cNvSpPr/>
          <p:nvPr/>
        </p:nvSpPr>
        <p:spPr>
          <a:xfrm>
            <a:off x="6428232" y="4709160"/>
            <a:ext cx="502920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53" name="Text 30"/>
          <p:cNvSpPr/>
          <p:nvPr/>
        </p:nvSpPr>
        <p:spPr>
          <a:xfrm>
            <a:off x="6428232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缺陷的共同特征：失败被吞掉，代码却仍做出“成功”的承诺</a:t>
            </a:r>
            <a:endParaRPr lang="en-US" sz="1200" dirty="0"/>
          </a:p>
        </p:txBody>
      </p:sp>
      <p:sp>
        <p:nvSpPr>
          <p:cNvPr id="1054" name="Shape 31"/>
          <p:cNvSpPr/>
          <p:nvPr/>
        </p:nvSpPr>
        <p:spPr>
          <a:xfrm>
            <a:off x="6428232" y="5340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055" name="Text 32"/>
          <p:cNvSpPr/>
          <p:nvPr/>
        </p:nvSpPr>
        <p:spPr>
          <a:xfrm>
            <a:off x="6665976" y="525780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</a:t>
            </a: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诊断包与日志确保不含公文正文（原 redact 护栏形同虚设）</a:t>
            </a:r>
            <a:endParaRPr lang="en-US" sz="1250" dirty="0"/>
          </a:p>
        </p:txBody>
      </p:sp>
      <p:sp>
        <p:nvSpPr>
          <p:cNvPr id="1056" name="Shape 33"/>
          <p:cNvSpPr/>
          <p:nvPr/>
        </p:nvSpPr>
        <p:spPr>
          <a:xfrm>
            <a:off x="6428232" y="5843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057" name="Text 34"/>
          <p:cNvSpPr/>
          <p:nvPr/>
        </p:nvSpPr>
        <p:spPr>
          <a:xfrm>
            <a:off x="6665976" y="576072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可见</a:t>
            </a: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恢复失败/降级如实点名，不再一律说“成功”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>
  <p:cSld>
    <p:spTree>
      <p:nvGrpSpPr>
        <p:cNvPr id="10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"/>
          <p:cNvSpPr/>
          <p:nvPr/>
        </p:nvSpPr>
        <p:spPr>
          <a:xfrm>
            <a:off x="457200" y="381000"/>
            <a:ext cx="342900" cy="342900"/>
          </a:xfrm>
          <a:prstGeom prst="rect">
            <a:avLst/>
          </a:prstGeom>
          <a:solidFill>
            <a:srgbClr val="9E2B25"/>
          </a:solidFill>
          <a:ln>
            <a:noFill/>
          </a:ln>
        </p:spPr>
        <p:txBody>
          <a:bodyPr/>
          <a:p/>
        </p:txBody>
      </p:sp>
      <p:sp>
        <p:nvSpPr>
          <p:cNvPr id="1060" name=""/>
          <p:cNvSpPr/>
          <p:nvPr/>
        </p:nvSpPr>
        <p:spPr>
          <a:xfrm>
            <a:off x="457200" y="1651000"/>
            <a:ext cx="11277600" cy="939800"/>
          </a:xfrm>
          <a:prstGeom prst="rect">
            <a:avLst/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61" name=""/>
          <p:cNvSpPr/>
          <p:nvPr/>
        </p:nvSpPr>
        <p:spPr>
          <a:xfrm>
            <a:off x="457200" y="2692400"/>
            <a:ext cx="11277600" cy="939800"/>
          </a:xfrm>
          <a:prstGeom prst="rect">
            <a:avLst/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62" name=""/>
          <p:cNvSpPr/>
          <p:nvPr/>
        </p:nvSpPr>
        <p:spPr>
          <a:xfrm>
            <a:off x="457200" y="3733800"/>
            <a:ext cx="11277600" cy="939800"/>
          </a:xfrm>
          <a:prstGeom prst="rect">
            <a:avLst/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63" name=""/>
          <p:cNvSpPr/>
          <p:nvPr/>
        </p:nvSpPr>
        <p:spPr>
          <a:xfrm>
            <a:off x="457200" y="4775200"/>
            <a:ext cx="11277600" cy="939800"/>
          </a:xfrm>
          <a:prstGeom prst="rect">
            <a:avLst/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64" name=""/>
          <p:cNvSpPr/>
          <p:nvPr/>
        </p:nvSpPr>
        <p:spPr>
          <a:xfrm>
            <a:off x="457200" y="3683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600">
                <a:solidFill>
                  <a:srgbClr val="FFFFFF"/>
                </a:solidFill>
                <a:latin typeface="Microsoft YaHei"/>
                <a:ea typeface="Microsoft YaHei"/>
              </a:rPr>
              <a:t>文</a:t>
            </a:r>
            <a:endParaRPr/>
          </a:p>
        </p:txBody>
      </p:sp>
      <p:sp>
        <p:nvSpPr>
          <p:cNvPr id="1065" name=""/>
          <p:cNvSpPr/>
          <p:nvPr/>
        </p:nvSpPr>
        <p:spPr>
          <a:xfrm>
            <a:off x="914400" y="381000"/>
            <a:ext cx="7315200" cy="3429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C9A227"/>
                </a:solidFill>
                <a:latin typeface="Microsoft YaHei"/>
                <a:ea typeface="Microsoft YaHei"/>
              </a:rPr>
              <a:t>08 质量与体验 · v1.7.1</a:t>
            </a:r>
            <a:endParaRPr/>
          </a:p>
        </p:txBody>
      </p:sp>
      <p:sp>
        <p:nvSpPr>
          <p:cNvPr id="1066" name=""/>
          <p:cNvSpPr/>
          <p:nvPr/>
        </p:nvSpPr>
        <p:spPr>
          <a:xfrm>
            <a:off x="457200" y="838200"/>
            <a:ext cx="11277600" cy="571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600">
                <a:solidFill>
                  <a:srgbClr val="FFFFFF"/>
                </a:solidFill>
                <a:latin typeface="Microsoft YaHei"/>
                <a:ea typeface="Microsoft YaHei"/>
              </a:rPr>
              <a:t>UI 设计方案：三期全部落地</a:t>
            </a:r>
            <a:endParaRPr/>
          </a:p>
        </p:txBody>
      </p:sp>
      <p:sp>
        <p:nvSpPr>
          <p:cNvPr id="1067" name=""/>
          <p:cNvSpPr/>
          <p:nvPr/>
        </p:nvSpPr>
        <p:spPr>
          <a:xfrm>
            <a:off x="660400" y="1752600"/>
            <a:ext cx="108712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EFE7DE"/>
                </a:solidFill>
                <a:latin typeface="Microsoft YaHei"/>
                <a:ea typeface="Microsoft YaHei"/>
              </a:rPr>
              <a:t>样式收敛　theme.py 补齐 10 个语义 token，全 UI 内联色值清零，取色唯一来源</a:t>
            </a:r>
            <a:endParaRPr/>
          </a:p>
        </p:txBody>
      </p:sp>
      <p:sp>
        <p:nvSpPr>
          <p:cNvPr id="1068" name=""/>
          <p:cNvSpPr/>
          <p:nvPr/>
        </p:nvSpPr>
        <p:spPr>
          <a:xfrm>
            <a:off x="660400" y="2794000"/>
            <a:ext cx="108712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EFE7DE"/>
                </a:solidFill>
                <a:latin typeface="Microsoft YaHei"/>
                <a:ea typeface="Microsoft YaHei"/>
              </a:rPr>
              <a:t>状态组件　五处空状态引导（资料库 / 纠错 / 台账 / 回收站）· 轻提示 Toast · 向导步骤指示器</a:t>
            </a:r>
            <a:endParaRPr/>
          </a:p>
        </p:txBody>
      </p:sp>
      <p:sp>
        <p:nvSpPr>
          <p:cNvPr id="1069" name=""/>
          <p:cNvSpPr/>
          <p:nvPr/>
        </p:nvSpPr>
        <p:spPr>
          <a:xfrm>
            <a:off x="660400" y="3835400"/>
            <a:ext cx="108712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EFE7DE"/>
                </a:solidFill>
                <a:latin typeface="Microsoft YaHei"/>
                <a:ea typeface="Microsoft YaHei"/>
              </a:rPr>
              <a:t>布局密度　三档自适应（紧凑 / 标准 / 宽屏）+ 右栏一键折叠，不覆盖用户手动拖动</a:t>
            </a:r>
            <a:endParaRPr/>
          </a:p>
        </p:txBody>
      </p:sp>
      <p:sp>
        <p:nvSpPr>
          <p:cNvPr id="1070" name=""/>
          <p:cNvSpPr/>
          <p:nvPr/>
        </p:nvSpPr>
        <p:spPr>
          <a:xfrm>
            <a:off x="660400" y="4876800"/>
            <a:ext cx="108712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EFE7DE"/>
                </a:solidFill>
                <a:latin typeface="Microsoft YaHei"/>
                <a:ea typeface="Microsoft YaHei"/>
              </a:rPr>
              <a:t>深色主题　set_dark 全套调色板，跟随系统深浅色自动切换，异常时按浅色绝不拦启动</a:t>
            </a:r>
            <a:endParaRPr/>
          </a:p>
        </p:txBody>
      </p:sp>
      <p:sp>
        <p:nvSpPr>
          <p:cNvPr id="1071" name=""/>
          <p:cNvSpPr/>
          <p:nvPr/>
        </p:nvSpPr>
        <p:spPr>
          <a:xfrm>
            <a:off x="457200" y="5918200"/>
            <a:ext cx="11277600" cy="330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A99C90"/>
                </a:solidFill>
                <a:latin typeface="Microsoft YaHei"/>
                <a:ea typeface="Microsoft YaHei"/>
              </a:rPr>
              <a:t>配套 20 项 UI 契约测试护栏；工具栏按使用频率分四区，主操作改主色实底按钮</a:t>
            </a:r>
            <a:endParaRPr/>
          </a:p>
        </p:txBody>
      </p:sp>
    </p:spTree>
  </p:cSld>
</p:sld>
</file>

<file path=ppt/slides/slide46.xml><?xml version="1.0" encoding="utf-8"?>
<p:sld xmlns:p="http://schemas.openxmlformats.org/presentationml/2006/main" xmlns:a="http://schemas.openxmlformats.org/drawingml/2006/main">
  <p:cSld>
    <p:spTree>
      <p:nvGrpSpPr>
        <p:cNvPr id="10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"/>
          <p:cNvSpPr/>
          <p:nvPr/>
        </p:nvSpPr>
        <p:spPr>
          <a:xfrm>
            <a:off x="457200" y="381000"/>
            <a:ext cx="342900" cy="342900"/>
          </a:xfrm>
          <a:prstGeom prst="rect">
            <a:avLst/>
          </a:prstGeom>
          <a:solidFill>
            <a:srgbClr val="9E2B25"/>
          </a:solidFill>
          <a:ln>
            <a:noFill/>
          </a:ln>
        </p:spPr>
        <p:txBody>
          <a:bodyPr/>
          <a:p/>
        </p:txBody>
      </p:sp>
      <p:sp>
        <p:nvSpPr>
          <p:cNvPr id="1074" name=""/>
          <p:cNvSpPr/>
          <p:nvPr/>
        </p:nvSpPr>
        <p:spPr>
          <a:xfrm>
            <a:off x="457200" y="1574800"/>
            <a:ext cx="2667000" cy="812800"/>
          </a:xfrm>
          <a:prstGeom prst="rect">
            <a:avLst/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75" name=""/>
          <p:cNvSpPr/>
          <p:nvPr/>
        </p:nvSpPr>
        <p:spPr>
          <a:xfrm>
            <a:off x="3327400" y="1574800"/>
            <a:ext cx="2667000" cy="812800"/>
          </a:xfrm>
          <a:prstGeom prst="rect">
            <a:avLst/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76" name=""/>
          <p:cNvSpPr/>
          <p:nvPr/>
        </p:nvSpPr>
        <p:spPr>
          <a:xfrm>
            <a:off x="6197600" y="1574800"/>
            <a:ext cx="2667000" cy="812800"/>
          </a:xfrm>
          <a:prstGeom prst="rect">
            <a:avLst/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77" name=""/>
          <p:cNvSpPr/>
          <p:nvPr/>
        </p:nvSpPr>
        <p:spPr>
          <a:xfrm>
            <a:off x="9067800" y="1574800"/>
            <a:ext cx="2667000" cy="812800"/>
          </a:xfrm>
          <a:prstGeom prst="rect">
            <a:avLst/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78" name=""/>
          <p:cNvSpPr/>
          <p:nvPr/>
        </p:nvSpPr>
        <p:spPr>
          <a:xfrm>
            <a:off x="457200" y="2616200"/>
            <a:ext cx="11277600" cy="1016000"/>
          </a:xfrm>
          <a:prstGeom prst="rect">
            <a:avLst/>
          </a:prstGeom>
          <a:solidFill>
            <a:srgbClr val="2C2521"/>
          </a:solidFill>
          <a:ln w="19050">
            <a:solidFill>
              <a:srgbClr val="9E2B25"/>
            </a:solidFill>
            <a:prstDash val="solid"/>
          </a:ln>
        </p:spPr>
        <p:txBody>
          <a:bodyPr/>
          <a:p/>
        </p:txBody>
      </p:sp>
      <p:sp>
        <p:nvSpPr>
          <p:cNvPr id="1079" name=""/>
          <p:cNvSpPr/>
          <p:nvPr/>
        </p:nvSpPr>
        <p:spPr>
          <a:xfrm>
            <a:off x="457200" y="3733800"/>
            <a:ext cx="11277600" cy="787400"/>
          </a:xfrm>
          <a:prstGeom prst="rect">
            <a:avLst/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80" name=""/>
          <p:cNvSpPr/>
          <p:nvPr/>
        </p:nvSpPr>
        <p:spPr>
          <a:xfrm>
            <a:off x="457200" y="4622800"/>
            <a:ext cx="11277600" cy="787400"/>
          </a:xfrm>
          <a:prstGeom prst="rect">
            <a:avLst/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81" name=""/>
          <p:cNvSpPr/>
          <p:nvPr/>
        </p:nvSpPr>
        <p:spPr>
          <a:xfrm>
            <a:off x="457200" y="3683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600">
                <a:solidFill>
                  <a:srgbClr val="FFFFFF"/>
                </a:solidFill>
                <a:latin typeface="Microsoft YaHei"/>
                <a:ea typeface="Microsoft YaHei"/>
              </a:rPr>
              <a:t>文</a:t>
            </a:r>
            <a:endParaRPr/>
          </a:p>
        </p:txBody>
      </p:sp>
      <p:sp>
        <p:nvSpPr>
          <p:cNvPr id="1082" name=""/>
          <p:cNvSpPr/>
          <p:nvPr/>
        </p:nvSpPr>
        <p:spPr>
          <a:xfrm>
            <a:off x="914400" y="381000"/>
            <a:ext cx="7315200" cy="3429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C9A227"/>
                </a:solidFill>
                <a:latin typeface="Microsoft YaHei"/>
                <a:ea typeface="Microsoft YaHei"/>
              </a:rPr>
              <a:t>09 质量与体验 · v1.7.2</a:t>
            </a:r>
            <a:endParaRPr/>
          </a:p>
        </p:txBody>
      </p:sp>
      <p:sp>
        <p:nvSpPr>
          <p:cNvPr id="1083" name=""/>
          <p:cNvSpPr/>
          <p:nvPr/>
        </p:nvSpPr>
        <p:spPr>
          <a:xfrm>
            <a:off x="457200" y="838200"/>
            <a:ext cx="11277600" cy="571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600">
                <a:solidFill>
                  <a:srgbClr val="FFFFFF"/>
                </a:solidFill>
                <a:latin typeface="Microsoft YaHei"/>
                <a:ea typeface="Microsoft YaHei"/>
              </a:rPr>
              <a:t>全面问题排查：31 项结论，全部动态验证</a:t>
            </a:r>
            <a:endParaRPr/>
          </a:p>
        </p:txBody>
      </p:sp>
      <p:sp>
        <p:nvSpPr>
          <p:cNvPr id="1084" name=""/>
          <p:cNvSpPr/>
          <p:nvPr/>
        </p:nvSpPr>
        <p:spPr>
          <a:xfrm>
            <a:off x="457200" y="1651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000">
                <a:solidFill>
                  <a:srgbClr val="FFFFFF"/>
                </a:solidFill>
                <a:latin typeface="Microsoft YaHei"/>
                <a:ea typeface="Microsoft YaHei"/>
              </a:rPr>
              <a:t>32　候选问题</a:t>
            </a:r>
            <a:endParaRPr/>
          </a:p>
        </p:txBody>
      </p:sp>
      <p:sp>
        <p:nvSpPr>
          <p:cNvPr id="1085" name=""/>
          <p:cNvSpPr/>
          <p:nvPr/>
        </p:nvSpPr>
        <p:spPr>
          <a:xfrm>
            <a:off x="3327400" y="1651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000">
                <a:solidFill>
                  <a:srgbClr val="C9A227"/>
                </a:solidFill>
                <a:latin typeface="Microsoft YaHei"/>
                <a:ea typeface="Microsoft YaHei"/>
              </a:rPr>
              <a:t>19　确认修复</a:t>
            </a:r>
            <a:endParaRPr/>
          </a:p>
        </p:txBody>
      </p:sp>
      <p:sp>
        <p:nvSpPr>
          <p:cNvPr id="1086" name=""/>
          <p:cNvSpPr/>
          <p:nvPr/>
        </p:nvSpPr>
        <p:spPr>
          <a:xfrm>
            <a:off x="6197600" y="1651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000">
                <a:solidFill>
                  <a:srgbClr val="A99C90"/>
                </a:solidFill>
                <a:latin typeface="Microsoft YaHei"/>
                <a:ea typeface="Microsoft YaHei"/>
              </a:rPr>
              <a:t>5　实测否定</a:t>
            </a:r>
            <a:endParaRPr/>
          </a:p>
        </p:txBody>
      </p:sp>
      <p:sp>
        <p:nvSpPr>
          <p:cNvPr id="1087" name=""/>
          <p:cNvSpPr/>
          <p:nvPr/>
        </p:nvSpPr>
        <p:spPr>
          <a:xfrm>
            <a:off x="9067800" y="1651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000">
                <a:solidFill>
                  <a:srgbClr val="EFE7DE"/>
                </a:solidFill>
                <a:latin typeface="Microsoft YaHei"/>
                <a:ea typeface="Microsoft YaHei"/>
              </a:rPr>
              <a:t>19　回归护栏</a:t>
            </a:r>
            <a:endParaRPr/>
          </a:p>
        </p:txBody>
      </p:sp>
      <p:sp>
        <p:nvSpPr>
          <p:cNvPr id="1088" name=""/>
          <p:cNvSpPr/>
          <p:nvPr/>
        </p:nvSpPr>
        <p:spPr>
          <a:xfrm>
            <a:off x="660400" y="2717800"/>
            <a:ext cx="10871200" cy="812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EFE7DE"/>
                </a:solidFill>
                <a:latin typeface="Microsoft YaHei"/>
                <a:ea typeface="Microsoft YaHei"/>
              </a:rPr>
              <a:t>P1 · 并发锁冲突　后台线程首次连库 14ms 内即 locked → 初始化串行化 + 幂等短路，批量导入不再整批中断</a:t>
            </a:r>
            <a:endParaRPr/>
          </a:p>
        </p:txBody>
      </p:sp>
      <p:sp>
        <p:nvSpPr>
          <p:cNvPr id="1089" name=""/>
          <p:cNvSpPr/>
          <p:nvPr/>
        </p:nvSpPr>
        <p:spPr>
          <a:xfrm>
            <a:off x="660400" y="3835400"/>
            <a:ext cx="10871200" cy="584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EFE7DE"/>
                </a:solidFill>
                <a:latin typeface="Microsoft YaHei"/>
                <a:ea typeface="Microsoft YaHei"/>
              </a:rPr>
              <a:t>P2 · 编号误报　「两、」纳入编号体系，跳号误报清零</a:t>
            </a:r>
            <a:endParaRPr/>
          </a:p>
        </p:txBody>
      </p:sp>
      <p:sp>
        <p:nvSpPr>
          <p:cNvPr id="1090" name=""/>
          <p:cNvSpPr/>
          <p:nvPr/>
        </p:nvSpPr>
        <p:spPr>
          <a:xfrm>
            <a:off x="660400" y="4724400"/>
            <a:ext cx="10871200" cy="584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EFE7DE"/>
                </a:solidFill>
                <a:latin typeface="Microsoft YaHei"/>
                <a:ea typeface="Microsoft YaHei"/>
              </a:rPr>
              <a:t>P2 · 资源治理　21 处对话框统一 deleteLater；加密备份改读包内标记；麒麟中文桌面路径修正</a:t>
            </a:r>
            <a:endParaRPr/>
          </a:p>
        </p:txBody>
      </p:sp>
      <p:sp>
        <p:nvSpPr>
          <p:cNvPr id="1091" name=""/>
          <p:cNvSpPr/>
          <p:nvPr/>
        </p:nvSpPr>
        <p:spPr>
          <a:xfrm>
            <a:off x="457200" y="5740400"/>
            <a:ext cx="11277600" cy="330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A99C90"/>
                </a:solidFill>
                <a:latin typeface="Microsoft YaHei"/>
                <a:ea typeface="Microsoft YaHei"/>
              </a:rPr>
              <a:t>每个结论先写探针脚本复现、再定级修复，不凭推理下结论 —— 全量回归 1765 项 · e2e 50/0 · Release v1.7.2 已发布双平台安装包</a:t>
            </a:r>
            <a:endParaRPr/>
          </a:p>
        </p:txBody>
      </p:sp>
    </p:spTree>
  </p:cSld>
</p:sld>
</file>

<file path=ppt/slides/slide47.xml><?xml version="1.0" encoding="utf-8"?>
<p:sld xmlns:p="http://schemas.openxmlformats.org/presentationml/2006/main" xmlns:a="http://schemas.openxmlformats.org/drawingml/2006/main">
  <p:cSld name="Slide 45">
    <p:bg>
      <p:bgPr>
        <a:solidFill>
          <a:srgbClr val="1F1917"/>
        </a:solidFill>
      </p:bgPr>
    </p:bg>
    <p:spTree>
      <p:nvGrpSpPr>
        <p:cNvPr id="10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094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1095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120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 v1.7.2</a:t>
            </a:r>
            <a:r>
              <a:rPr lang="en-US" sz="120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</a:t>
            </a:r>
            <a:endParaRPr lang="en-US" sz="1200">
              <a:solidFill>
                <a:srgbClr val="A99C9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</p:txBody>
      </p:sp>
      <p:sp>
        <p:nvSpPr>
          <p:cNvPr id="1096" name="Text 3"/>
          <p:cNvSpPr/>
          <p:nvPr/>
        </p:nvSpPr>
        <p:spPr>
          <a:xfrm>
            <a:off x="45720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数据自主 · 开箱即用</a:t>
            </a:r>
            <a:endParaRPr lang="en-US" sz="4200" dirty="0"/>
          </a:p>
        </p:txBody>
      </p:sp>
      <p:sp>
        <p:nvSpPr>
          <p:cNvPr id="1097" name="Text 4"/>
          <p:cNvSpPr/>
          <p:nvPr/>
        </p:nvSpPr>
        <p:spPr>
          <a:xfrm>
            <a:off x="484632" y="3154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不联网、不上传、不留痕 —— 一台电脑，就是一座公文资料馆。</a:t>
            </a:r>
            <a:endParaRPr lang="en-US" sz="1600" dirty="0"/>
          </a:p>
        </p:txBody>
      </p:sp>
      <p:sp>
        <p:nvSpPr>
          <p:cNvPr id="1098" name="Shape 5"/>
          <p:cNvSpPr/>
          <p:nvPr/>
        </p:nvSpPr>
        <p:spPr>
          <a:xfrm>
            <a:off x="45720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099" name="Text 6"/>
          <p:cNvSpPr/>
          <p:nvPr/>
        </p:nvSpPr>
        <p:spPr>
          <a:xfrm>
            <a:off x="65836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README.md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功能总览 · 快速开始 · 打包发布 · 验收对照</a:t>
            </a:r>
            <a:endParaRPr lang="en-US" sz="1400" dirty="0"/>
          </a:p>
        </p:txBody>
      </p:sp>
      <p:sp>
        <p:nvSpPr>
          <p:cNvPr id="1100" name="Shape 7"/>
          <p:cNvSpPr/>
          <p:nvPr/>
        </p:nvSpPr>
        <p:spPr>
          <a:xfrm>
            <a:off x="429768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101" name="Text 8"/>
          <p:cNvSpPr/>
          <p:nvPr/>
        </p:nvSpPr>
        <p:spPr>
          <a:xfrm>
            <a:off x="449884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项目文件结构说明.md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写给新手的逐文件导读与“改 X 去哪”速查表</a:t>
            </a:r>
            <a:endParaRPr lang="en-US" sz="1400" dirty="0"/>
          </a:p>
        </p:txBody>
      </p:sp>
      <p:sp>
        <p:nvSpPr>
          <p:cNvPr id="1102" name="Shape 9"/>
          <p:cNvSpPr/>
          <p:nvPr/>
        </p:nvSpPr>
        <p:spPr>
          <a:xfrm>
            <a:off x="813816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  <p:txBody>
          <a:bodyPr/>
          <a:p/>
        </p:txBody>
      </p:sp>
      <p:sp>
        <p:nvSpPr>
          <p:cNvPr id="1103" name="Text 10"/>
          <p:cNvSpPr/>
          <p:nvPr/>
        </p:nvSpPr>
        <p:spPr>
          <a:xfrm>
            <a:off x="833932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CN" sz="140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系统全面排查报告_v1.7.1.md</a:t>
            </a:r>
            <a:r>
              <a:rPr lang="en-US" sz="140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</a:t>
            </a:r>
            <a:r>
              <a:rPr lang="zh-CN" sz="140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 项问题全动态验证：修复 19 项 · 实测否定 5 项 · 全量回归全绿</a:t>
            </a:r>
            <a:r>
              <a:rPr lang="en-US" sz="140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</a:t>
            </a:r>
            <a:endParaRPr lang="en-US" sz="1400">
              <a:solidFill>
                <a:srgbClr val="F2D8A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</p:txBody>
      </p:sp>
      <p:sp>
        <p:nvSpPr>
          <p:cNvPr id="1104" name="Text 11"/>
          <p:cNvSpPr/>
          <p:nvPr/>
        </p:nvSpPr>
        <p:spPr>
          <a:xfrm>
            <a:off x="457200" y="5897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谢谢审阅</a:t>
            </a:r>
            <a:endParaRPr lang="en-US" sz="1500" dirty="0"/>
          </a:p>
        </p:txBody>
      </p:sp>
      <p:sp>
        <p:nvSpPr>
          <p:cNvPr id="1105" name="Shape 12"/>
          <p:cNvSpPr/>
          <p:nvPr/>
        </p:nvSpPr>
        <p:spPr>
          <a:xfrm>
            <a:off x="10241280" y="5074920"/>
            <a:ext cx="1051560" cy="105156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  <p:txBody>
          <a:bodyPr/>
          <a:p/>
        </p:txBody>
      </p:sp>
      <p:sp>
        <p:nvSpPr>
          <p:cNvPr id="1106" name="Text 13"/>
          <p:cNvSpPr/>
          <p:nvPr/>
        </p:nvSpPr>
        <p:spPr>
          <a:xfrm>
            <a:off x="10241280" y="5043373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4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xmlns:thm15="http://schemas.microsoft.com/office/thememl/2012/main" xmlns:mc="http://schemas.openxmlformats.org/markup-compatibility/2006" name="Office 主题​​" mc:Ignorable="thm1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2026-10-06T10:27:52Z</dcterms:created>
  <dcterms:modified xsi:type="dcterms:W3CDTF">2026-10-06T10:27:52Z</dcterms:modified>
</cp:coreProperties>
</file>