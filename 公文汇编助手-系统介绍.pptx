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GWTOOL · 单机离线版 v1.6.0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965960"/>
            <a:ext cx="8412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484632" y="32004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面向党政机关、企事业单位的单机智能公文汇编与写作辅助工具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3977640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97764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完全离线 · 零网络请求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617720" y="3977640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397764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x64 + 麒麟 ARM64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4599432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4599432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GB/T 9704 公文格式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617720" y="4599432"/>
            <a:ext cx="3931920" cy="475488"/>
          </a:xfrm>
          <a:prstGeom prst="roundRect">
            <a:avLst>
              <a:gd name="adj" fmla="val 15385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4599432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1118 项自动化测试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8463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PySide6 + SQLite（FTS5）+ PyMuPDF　|　数据存本机，程序与数据分离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006840" y="1783080"/>
            <a:ext cx="2514600" cy="2514600"/>
          </a:xfrm>
          <a:prstGeom prst="roundRect">
            <a:avLst>
              <a:gd name="adj" fmla="val 509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006840" y="1673352"/>
            <a:ext cx="25146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2000" dirty="0"/>
          </a:p>
        </p:txBody>
      </p:sp>
      <p:sp>
        <p:nvSpPr>
          <p:cNvPr id="18" name="Text 16"/>
          <p:cNvSpPr/>
          <p:nvPr/>
        </p:nvSpPr>
        <p:spPr>
          <a:xfrm>
            <a:off x="9006840" y="452628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600" kern="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系统介绍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CONTENTS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62763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71600" y="160934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认识公文汇编助手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· 四大痛点 · 关键数据 · 功能全景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371600" y="226771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26771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0" y="224942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技术选型 · 三层架构 · 数据层 · 检索 · 线程模型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1371600" y="290779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90779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371600" y="288950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材料导入与资料库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种文档格式 · OCR 内置 · .doc 四级降级 · 资料库管理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371600" y="354787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54787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0" y="352958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智能写作辅助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种文种骨架 · 文秘工具箱 · 写作参考 · 三级纠错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371600" y="418795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18795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371600" y="416966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一键汇编与成品输出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三步向导 · 国标模板 · Word 引擎 · 两遍渲染 · A3 小册子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371600" y="482803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482803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371600" y="480974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质检、对比与安全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格式体检 · 文档对比查重 · 历史快照 · 加密备份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371600" y="5468112"/>
            <a:ext cx="676656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5468112"/>
            <a:ext cx="777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371600" y="544982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交付、质量与生态</a:t>
            </a:r>
            <a:endParaRPr lang="en-US" sz="1650" dirty="0"/>
          </a:p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双平台 · 打包矩阵 · CI/CD · 1118 项测试与性能验收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9464040" y="2377440"/>
            <a:ext cx="1554480" cy="1554480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27" name="Text 25"/>
          <p:cNvSpPr/>
          <p:nvPr/>
        </p:nvSpPr>
        <p:spPr>
          <a:xfrm>
            <a:off x="9464040" y="2330806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6100" dirty="0"/>
          </a:p>
        </p:txBody>
      </p:sp>
      <p:sp>
        <p:nvSpPr>
          <p:cNvPr id="28" name="Text 26"/>
          <p:cNvSpPr/>
          <p:nvPr/>
        </p:nvSpPr>
        <p:spPr>
          <a:xfrm>
            <a:off x="8732520" y="4160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 页 · 7 大章节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503920" y="45537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从产品到架构，从算法到交付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认识公文汇编助手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它是什么、为谁解决什么问题、整体能力有多大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定位：单机离线的公文汇编与写作辅助工具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四大痛点：材料散乱 · 格式繁琐 · 错字难查 · 写作无参考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一屏看懂：40220 条纠错对 · 12.3 万词典 · 24 个功能模块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认识公文汇编助手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定位：把“材料堆”变成“规范公文”的离线工作站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4023360" cy="4480560"/>
          </a:xfrm>
          <a:prstGeom prst="roundRect">
            <a:avLst>
              <a:gd name="adj" fmla="val 1818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2011680"/>
            <a:ext cx="3383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一句话定位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不联网、不上传，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一台电脑即可完成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材料管理、公文写作、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汇编成册的全部工作。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484632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适用场景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E3D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党政机关办文 · 企事业单位综合部门 · 涉密内网环境 · 麒麟信创终端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00600" y="1691640"/>
            <a:ext cx="6903720" cy="1005840"/>
          </a:xfrm>
          <a:prstGeom prst="roundRect">
            <a:avLst>
              <a:gd name="adj" fmla="val 636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1801368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 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35040" y="17830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材料收集散乱</a:t>
            </a:r>
            <a:endParaRPr lang="en-US" sz="15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种文档格式批量导入，分类标签 + 全文检索，随手可查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4800600" y="2852928"/>
            <a:ext cx="690372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0" y="2962656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 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35040" y="2944368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格式调整繁琐</a:t>
            </a:r>
            <a:endParaRPr lang="en-US" sz="15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GB/T 9704 默认模板 + 一键汇编，红头目录页码自动生成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4800600" y="4014216"/>
            <a:ext cx="6903720" cy="1005840"/>
          </a:xfrm>
          <a:prstGeom prst="roundRect">
            <a:avLst>
              <a:gd name="adj" fmla="val 636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0" y="4123944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 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035040" y="4105656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错别字难查</a:t>
            </a:r>
            <a:endParaRPr lang="en-US" sz="15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万条纠错库三级流水线，精标对 100% 识别（测试验收）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4800600" y="5175504"/>
            <a:ext cx="690372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0" y="5285232"/>
            <a:ext cx="868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 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035040" y="5266944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写作无参考</a:t>
            </a:r>
            <a:endParaRPr lang="en-US" sz="15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种法定文种骨架 + 三库联合检索，双击即插入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认识公文汇编助手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一屏看懂：这个系统“有多大、有多快”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193852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40220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640080" y="290779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纠错对（条）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精标 220 + 程序生成 40000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300984" y="173736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83864" y="193852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123393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3483864" y="290779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词典词条（条）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 CC-CEDICT，随包分发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44768" y="173736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27648" y="193852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6327648" y="290779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法定文种骨架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对应《公文处理工作条例》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988552" y="173736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71432" y="193852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8+4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9171432" y="290779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可导入格式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 8 种 + 图片 4 类（内置 OCR）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97764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4178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1118</a:t>
            </a:r>
            <a:endParaRPr lang="en-US" sz="4400" dirty="0"/>
          </a:p>
        </p:txBody>
      </p:sp>
      <p:sp>
        <p:nvSpPr>
          <p:cNvPr id="22" name="Text 20"/>
          <p:cNvSpPr/>
          <p:nvPr/>
        </p:nvSpPr>
        <p:spPr>
          <a:xfrm>
            <a:off x="640080" y="514807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自动化测试用例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pytest 全量回归 + 性能验收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300984" y="397764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483864" y="4178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&lt;10s</a:t>
            </a:r>
            <a:endParaRPr lang="en-US" sz="4400" dirty="0"/>
          </a:p>
        </p:txBody>
      </p:sp>
      <p:sp>
        <p:nvSpPr>
          <p:cNvPr id="25" name="Text 23"/>
          <p:cNvSpPr/>
          <p:nvPr/>
        </p:nvSpPr>
        <p:spPr>
          <a:xfrm>
            <a:off x="3483864" y="514807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个文件导入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后台线程批量解析入库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44768" y="397764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327648" y="4178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&lt;1s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6327648" y="514807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全文检索响应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FTS5 + jieba，20 万字语料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988552" y="3977640"/>
            <a:ext cx="2724912" cy="1965960"/>
          </a:xfrm>
          <a:prstGeom prst="roundRect">
            <a:avLst>
              <a:gd name="adj" fmla="val 372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171432" y="4178808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4400" dirty="0"/>
          </a:p>
        </p:txBody>
      </p:sp>
      <p:sp>
        <p:nvSpPr>
          <p:cNvPr id="31" name="Text 29"/>
          <p:cNvSpPr/>
          <p:nvPr/>
        </p:nvSpPr>
        <p:spPr>
          <a:xfrm>
            <a:off x="9171432" y="5148072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网络请求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0D9C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全离线设计，打包排除网络组件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57200" y="6172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数据来源：gwtool/resources/data/seed.db 实测（15.7 MB）与 tests/ 性能验收用例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认识公文汇编助手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功能全景：六大能力域，32 个功能模块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173736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184708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材料导入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批量导入去重 · OCR 识别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剪贴板入库 · 右键菜单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24612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6968" y="335584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写作辅助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文种骨架 · 文秘工具箱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写作参考 · 朗读校对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" y="475488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6968" y="486460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质量纠错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三级纠错流水线 · GB/T 9704 体检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引文/数字/一致性/文风 · 对比 · 查重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366760" y="173736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67928" y="184708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汇编输出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三步汇编向导 · 批量模式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A4 PDF · A3 骑马订 · 材料来源清单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366760" y="324612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67928" y="335584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资料与台账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分类树 + FTS 检索 · 历史快照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发文登记 · 收文全流程 · 时限督办 · 归档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366760" y="4754880"/>
            <a:ext cx="3154680" cy="1298448"/>
          </a:xfrm>
          <a:prstGeom prst="roundRect">
            <a:avLst>
              <a:gd name="adj" fmla="val 563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67928" y="4864608"/>
            <a:ext cx="27523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安全与运维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口令锁 · AES 加密备份 · 便携模式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诊断日志 · 数据库维护 · 一键诊断包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840480" y="2386584"/>
            <a:ext cx="3291840" cy="1229868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840480" y="3616452"/>
            <a:ext cx="3291840" cy="278892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3840480" y="3616452"/>
            <a:ext cx="3291840" cy="1787652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7132320" y="2386584"/>
            <a:ext cx="1234440" cy="1229868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132320" y="3616452"/>
            <a:ext cx="1234440" cy="278892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7132320" y="3616452"/>
            <a:ext cx="1234440" cy="1787652"/>
          </a:xfrm>
          <a:prstGeom prst="line">
            <a:avLst/>
          </a:prstGeom>
          <a:noFill/>
          <a:ln w="15875">
            <a:solidFill>
              <a:srgbClr val="D9C9BC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074920" y="2999232"/>
            <a:ext cx="2057400" cy="1234440"/>
          </a:xfrm>
          <a:prstGeom prst="roundRect">
            <a:avLst>
              <a:gd name="adj" fmla="val 7407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074920" y="310896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 个功能模块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069080" y="5074920"/>
            <a:ext cx="4160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全部功能共享同一本地数据库与模板体系，任何一个模块的产出都可直接被其他模块使用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三层解耦的可测试架构：界面、逻辑、数据各司其职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纯逻辑层 core/ 不含任何界面代码，可独立单元测试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 SQLite 读写收敛到 db/dao.py 一个入口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耗时操作全部走 QThread 工作线程，界面永不卡死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技术选型：成熟开源库组合，双平台全离线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PySide6 (Qt 6)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017520" y="178308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全部界面与内置 PDF 渲染引擎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086600" y="1783080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 Windows / 麒麟双平台，只用本地 GUI 栈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359152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36829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 + FTS5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017520" y="236829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单文件数据库 + 全文检索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086600" y="2368296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 排序、零部署；WAL 模式读写不互卡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2944368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95351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PyMuPDF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3017520" y="295351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 解析 · 渲染 · 小册拼版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086600" y="295351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逐页文本提取 + show_pdf_page 等比重排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3529584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53872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python-docx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017520" y="3538728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规范公文 Word 生成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086600" y="3538728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 OOXML + 手写域代码，WPS 打开不跑版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4114800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4123944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jieba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3017520" y="412394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中文分词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086600" y="4123944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检索索引 · 纠错词边界保护 · SimHash 特征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700016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70916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OpenCC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3017520" y="470916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简繁转换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086600" y="4709160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MIT 开源离线词典，无在线服务依赖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57200" y="5285232"/>
            <a:ext cx="11274552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5294376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PyInstaller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3017520" y="529437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打包为免安装交付目录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086600" y="5294376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onedir 启动快，排除 17 个网络/重型组件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57200" y="60350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运行依赖共 17 项（requirements.txt），全部有官方离线安装包，支持 ARM64 离线 wheels 预下载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三层架构：约 20600 行 Python，依赖方向清晰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90288" y="1645920"/>
            <a:ext cx="3017520" cy="512064"/>
          </a:xfrm>
          <a:prstGeom prst="roundRect">
            <a:avLst>
              <a:gd name="adj" fmla="val 12500"/>
            </a:avLst>
          </a:prstGeom>
          <a:solidFill>
            <a:srgbClr val="1F1917"/>
          </a:solidFill>
          <a:ln/>
        </p:spPr>
      </p:sp>
      <p:sp>
        <p:nvSpPr>
          <p:cNvPr id="9" name="Text 7"/>
          <p:cNvSpPr/>
          <p:nvPr/>
        </p:nvSpPr>
        <p:spPr>
          <a:xfrm>
            <a:off x="4590288" y="164592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main.py（--portable / --import）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99048" y="2157984"/>
            <a:ext cx="0" cy="237744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590288" y="2395728"/>
            <a:ext cx="3017520" cy="512064"/>
          </a:xfrm>
          <a:prstGeom prst="roundRect">
            <a:avLst>
              <a:gd name="adj" fmla="val 12500"/>
            </a:avLst>
          </a:prstGeom>
          <a:solidFill>
            <a:srgbClr val="701D19"/>
          </a:solidFill>
          <a:ln/>
        </p:spPr>
      </p:sp>
      <p:sp>
        <p:nvSpPr>
          <p:cNvPr id="12" name="Text 10"/>
          <p:cNvSpPr/>
          <p:nvPr/>
        </p:nvSpPr>
        <p:spPr>
          <a:xfrm>
            <a:off x="4590288" y="239572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app.py 启动装配 · 种子导入 · 口令锁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99048" y="2907792"/>
            <a:ext cx="0" cy="201168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68880" y="3108960"/>
            <a:ext cx="726948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468880" y="3108960"/>
            <a:ext cx="0" cy="201168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099048" y="3108960"/>
            <a:ext cx="0" cy="201168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738360" y="3108960"/>
            <a:ext cx="0" cy="201168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77240" y="3310128"/>
            <a:ext cx="3337560" cy="2377440"/>
          </a:xfrm>
          <a:prstGeom prst="roundRect">
            <a:avLst>
              <a:gd name="adj" fmla="val 307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" y="34564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ui / 界面层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978408" y="3913632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main_window 三栏主窗口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 · 资料库 · 参考三面板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个功能对话框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workers 后台线程机制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434840" y="3310128"/>
            <a:ext cx="3337560" cy="2377440"/>
          </a:xfrm>
          <a:prstGeom prst="roundRect">
            <a:avLst>
              <a:gd name="adj" fmla="val 3077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36008" y="34564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core / 纯逻辑层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636008" y="3913632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parsers 多格式解析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corrector 纠错 · inspector 体检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docxgen · pdfrender · booklet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reference · differ · simhash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092440" y="3310128"/>
            <a:ext cx="3337560" cy="2377440"/>
          </a:xfrm>
          <a:prstGeom prst="roundRect">
            <a:avLst>
              <a:gd name="adj" fmla="val 307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93608" y="34564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db / 数据层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293608" y="3913632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dao.py 唯一数据入口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张业务表 + 3 个 FTS5 虚表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WAL + 线程本地连接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schema v4 自动迁移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114800" y="4480560"/>
            <a:ext cx="3200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772400" y="4480560"/>
            <a:ext cx="3200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依赖方向 ui → core → db，core 不依赖 ui（可独立测试）；</a:t>
            </a:r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resources/data/seed.db（15.7 MB 词典 + 纠错库）随包分发，首次运行导入用户库。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数据层：12 张业务表，一“室”管全部档案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业务表（schema.py · 版本 v4）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1682496" cy="457200"/>
          </a:xfrm>
          <a:prstGeom prst="roundRect">
            <a:avLst>
              <a:gd name="adj" fmla="val 12000"/>
            </a:avLst>
          </a:prstGeom>
          <a:solidFill>
            <a:srgbClr val="F8F4EE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103120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2135124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documents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267712" y="2103120"/>
            <a:ext cx="1682496" cy="457200"/>
          </a:xfrm>
          <a:prstGeom prst="roundRect">
            <a:avLst>
              <a:gd name="adj" fmla="val 12000"/>
            </a:avLst>
          </a:prstGeom>
          <a:solidFill>
            <a:srgbClr val="F8F4EE"/>
          </a:solidFill>
          <a:ln/>
        </p:spPr>
      </p:sp>
      <p:sp>
        <p:nvSpPr>
          <p:cNvPr id="13" name="Text 11"/>
          <p:cNvSpPr/>
          <p:nvPr/>
        </p:nvSpPr>
        <p:spPr>
          <a:xfrm>
            <a:off x="2340864" y="2103120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359152" y="2135124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categories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分类树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078224" y="2103120"/>
            <a:ext cx="1682496" cy="457200"/>
          </a:xfrm>
          <a:prstGeom prst="roundRect">
            <a:avLst>
              <a:gd name="adj" fmla="val 12000"/>
            </a:avLst>
          </a:prstGeom>
          <a:solidFill>
            <a:srgbClr val="F8F4EE"/>
          </a:solidFill>
          <a:ln/>
        </p:spPr>
      </p:sp>
      <p:sp>
        <p:nvSpPr>
          <p:cNvPr id="16" name="Text 14"/>
          <p:cNvSpPr/>
          <p:nvPr/>
        </p:nvSpPr>
        <p:spPr>
          <a:xfrm>
            <a:off x="4151376" y="2103120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169664" y="2135124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dictionary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词典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633472"/>
            <a:ext cx="1682496" cy="457200"/>
          </a:xfrm>
          <a:prstGeom prst="roundRect">
            <a:avLst>
              <a:gd name="adj" fmla="val 12000"/>
            </a:avLst>
          </a:prstGeom>
          <a:solidFill>
            <a:srgbClr val="F8F4EE"/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" y="2633472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2665476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error_pairs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纠错对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67712" y="2633472"/>
            <a:ext cx="1682496" cy="457200"/>
          </a:xfrm>
          <a:prstGeom prst="roundRect">
            <a:avLst>
              <a:gd name="adj" fmla="val 12000"/>
            </a:avLst>
          </a:prstGeom>
          <a:solidFill>
            <a:srgbClr val="F8F4EE"/>
          </a:solidFill>
          <a:ln/>
        </p:spPr>
      </p:sp>
      <p:sp>
        <p:nvSpPr>
          <p:cNvPr id="22" name="Text 20"/>
          <p:cNvSpPr/>
          <p:nvPr/>
        </p:nvSpPr>
        <p:spPr>
          <a:xfrm>
            <a:off x="2340864" y="2633472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359152" y="2665476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user_phrases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常用句式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078224" y="2633472"/>
            <a:ext cx="1682496" cy="457200"/>
          </a:xfrm>
          <a:prstGeom prst="roundRect">
            <a:avLst>
              <a:gd name="adj" fmla="val 12000"/>
            </a:avLst>
          </a:prstGeom>
          <a:solidFill>
            <a:srgbClr val="F8F4EE"/>
          </a:solidFill>
          <a:ln/>
        </p:spPr>
      </p:sp>
      <p:sp>
        <p:nvSpPr>
          <p:cNvPr id="25" name="Text 23"/>
          <p:cNvSpPr/>
          <p:nvPr/>
        </p:nvSpPr>
        <p:spPr>
          <a:xfrm>
            <a:off x="4151376" y="2633472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169664" y="2665476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templates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排版模板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3163824"/>
            <a:ext cx="1682496" cy="457200"/>
          </a:xfrm>
          <a:prstGeom prst="roundRect">
            <a:avLst>
              <a:gd name="adj" fmla="val 12000"/>
            </a:avLst>
          </a:prstGeom>
          <a:solidFill>
            <a:srgbClr val="F8F4EE"/>
          </a:solidFill>
          <a:ln/>
        </p:spPr>
      </p:sp>
      <p:sp>
        <p:nvSpPr>
          <p:cNvPr id="28" name="Text 26"/>
          <p:cNvSpPr/>
          <p:nvPr/>
        </p:nvSpPr>
        <p:spPr>
          <a:xfrm>
            <a:off x="530352" y="3163824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48640" y="3195828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settings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键值设置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267712" y="3163824"/>
            <a:ext cx="1682496" cy="457200"/>
          </a:xfrm>
          <a:prstGeom prst="roundRect">
            <a:avLst>
              <a:gd name="adj" fmla="val 12000"/>
            </a:avLst>
          </a:prstGeom>
          <a:solidFill>
            <a:srgbClr val="F8F4EE"/>
          </a:solidFill>
          <a:ln/>
        </p:spPr>
      </p:sp>
      <p:sp>
        <p:nvSpPr>
          <p:cNvPr id="31" name="Text 29"/>
          <p:cNvSpPr/>
          <p:nvPr/>
        </p:nvSpPr>
        <p:spPr>
          <a:xfrm>
            <a:off x="2340864" y="3163824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2359152" y="3195828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snapshots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历史快照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078224" y="3163824"/>
            <a:ext cx="1682496" cy="457200"/>
          </a:xfrm>
          <a:prstGeom prst="roundRect">
            <a:avLst>
              <a:gd name="adj" fmla="val 12000"/>
            </a:avLst>
          </a:prstGeom>
          <a:solidFill>
            <a:srgbClr val="F8F4EE"/>
          </a:solidFill>
          <a:ln/>
        </p:spPr>
      </p:sp>
      <p:sp>
        <p:nvSpPr>
          <p:cNvPr id="34" name="Text 32"/>
          <p:cNvSpPr/>
          <p:nvPr/>
        </p:nvSpPr>
        <p:spPr>
          <a:xfrm>
            <a:off x="4151376" y="3163824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169664" y="3195828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ignore_words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忽略名单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3694176"/>
            <a:ext cx="1682496" cy="457200"/>
          </a:xfrm>
          <a:prstGeom prst="roundRect">
            <a:avLst>
              <a:gd name="adj" fmla="val 12000"/>
            </a:avLst>
          </a:prstGeom>
          <a:solidFill>
            <a:srgbClr val="F8F4EE"/>
          </a:solidFill>
          <a:ln/>
        </p:spPr>
      </p:sp>
      <p:sp>
        <p:nvSpPr>
          <p:cNvPr id="37" name="Text 35"/>
          <p:cNvSpPr/>
          <p:nvPr/>
        </p:nvSpPr>
        <p:spPr>
          <a:xfrm>
            <a:off x="530352" y="3694176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548640" y="37261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attachments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附件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2267712" y="3694176"/>
            <a:ext cx="1682496" cy="457200"/>
          </a:xfrm>
          <a:prstGeom prst="roundRect">
            <a:avLst>
              <a:gd name="adj" fmla="val 12000"/>
            </a:avLst>
          </a:prstGeom>
          <a:solidFill>
            <a:srgbClr val="F8F4EE"/>
          </a:solidFill>
          <a:ln/>
        </p:spPr>
      </p:sp>
      <p:sp>
        <p:nvSpPr>
          <p:cNvPr id="40" name="Text 38"/>
          <p:cNvSpPr/>
          <p:nvPr/>
        </p:nvSpPr>
        <p:spPr>
          <a:xfrm>
            <a:off x="2340864" y="3694176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2359152" y="37261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dispatch_register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发文登记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4078224" y="3694176"/>
            <a:ext cx="1682496" cy="457200"/>
          </a:xfrm>
          <a:prstGeom prst="roundRect">
            <a:avLst>
              <a:gd name="adj" fmla="val 12000"/>
            </a:avLst>
          </a:prstGeom>
          <a:solidFill>
            <a:srgbClr val="F8F4EE"/>
          </a:solidFill>
          <a:ln/>
        </p:spPr>
      </p:sp>
      <p:sp>
        <p:nvSpPr>
          <p:cNvPr id="43" name="Text 41"/>
          <p:cNvSpPr/>
          <p:nvPr/>
        </p:nvSpPr>
        <p:spPr>
          <a:xfrm>
            <a:off x="4151376" y="3694176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4169664" y="3726180"/>
            <a:ext cx="15179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receive_register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收文登记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57200" y="4315968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全文检索虚表：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documents_fts / phrases_fts（jieba 预分词后入库）；词典 12.3 万条不走 FTS，改 LIKE 三段式避免拖慢首启动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6263640" y="1691640"/>
            <a:ext cx="5468112" cy="4526280"/>
          </a:xfrm>
          <a:prstGeom prst="roundRect">
            <a:avLst>
              <a:gd name="adj" fmla="val 1616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92240" y="18470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机制要点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6492240" y="236829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49" name="Text 47"/>
          <p:cNvSpPr/>
          <p:nvPr/>
        </p:nvSpPr>
        <p:spPr>
          <a:xfrm>
            <a:off x="6729984" y="228600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线程安全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每线程独立连接，WAL + synchronous=NORMAL</a:t>
            </a:r>
            <a:endParaRPr lang="en-US" sz="1350" dirty="0"/>
          </a:p>
        </p:txBody>
      </p:sp>
      <p:sp>
        <p:nvSpPr>
          <p:cNvPr id="50" name="Shape 48"/>
          <p:cNvSpPr/>
          <p:nvPr/>
        </p:nvSpPr>
        <p:spPr>
          <a:xfrm>
            <a:off x="6492240" y="301752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51" name="Text 49"/>
          <p:cNvSpPr/>
          <p:nvPr/>
        </p:nvSpPr>
        <p:spPr>
          <a:xfrm>
            <a:off x="6729984" y="2935224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内容去重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入库即算 SHA-256 指纹，重复内容拒收</a:t>
            </a:r>
            <a:endParaRPr lang="en-US" sz="1350" dirty="0"/>
          </a:p>
        </p:txBody>
      </p:sp>
      <p:sp>
        <p:nvSpPr>
          <p:cNvPr id="52" name="Shape 50"/>
          <p:cNvSpPr/>
          <p:nvPr/>
        </p:nvSpPr>
        <p:spPr>
          <a:xfrm>
            <a:off x="6492240" y="366674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53" name="Text 51"/>
          <p:cNvSpPr/>
          <p:nvPr/>
        </p:nvSpPr>
        <p:spPr>
          <a:xfrm>
            <a:off x="6729984" y="3584448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相似预存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documents 表同时落 SimHash 64 位指纹</a:t>
            </a:r>
            <a:endParaRPr lang="en-US" sz="1350" dirty="0"/>
          </a:p>
        </p:txBody>
      </p:sp>
      <p:sp>
        <p:nvSpPr>
          <p:cNvPr id="54" name="Shape 52"/>
          <p:cNvSpPr/>
          <p:nvPr/>
        </p:nvSpPr>
        <p:spPr>
          <a:xfrm>
            <a:off x="6492240" y="431596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55" name="Text 53"/>
          <p:cNvSpPr/>
          <p:nvPr/>
        </p:nvSpPr>
        <p:spPr>
          <a:xfrm>
            <a:off x="6729984" y="4233672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平滑升级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PRAGMA user_version 迁移，迁移前自动 zip 备份</a:t>
            </a:r>
            <a:endParaRPr lang="en-US" sz="1350" dirty="0"/>
          </a:p>
        </p:txBody>
      </p:sp>
      <p:sp>
        <p:nvSpPr>
          <p:cNvPr id="56" name="Shape 54"/>
          <p:cNvSpPr/>
          <p:nvPr/>
        </p:nvSpPr>
        <p:spPr>
          <a:xfrm>
            <a:off x="6492240" y="496519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57" name="Text 55"/>
          <p:cNvSpPr/>
          <p:nvPr/>
        </p:nvSpPr>
        <p:spPr>
          <a:xfrm>
            <a:off x="6729984" y="4882896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快照轮转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每文档保留最近 30 版，DAO 层自动裁剪</a:t>
            </a:r>
            <a:endParaRPr lang="en-US" sz="1350" dirty="0"/>
          </a:p>
        </p:txBody>
      </p:sp>
      <p:sp>
        <p:nvSpPr>
          <p:cNvPr id="58" name="Shape 56"/>
          <p:cNvSpPr/>
          <p:nvPr/>
        </p:nvSpPr>
        <p:spPr>
          <a:xfrm>
            <a:off x="6492240" y="56144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59" name="Text 57"/>
          <p:cNvSpPr/>
          <p:nvPr/>
        </p:nvSpPr>
        <p:spPr>
          <a:xfrm>
            <a:off x="6729984" y="553212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 自救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索引失配时 rebuild_fts 一键全量重建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全文检索：中文切词 + FTS5，20 万字语料秒回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692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用户输入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“乡村振兴 政策”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569464" y="2606040"/>
            <a:ext cx="237744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83464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94436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jieba 搜索引擎切词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lcut_for_search ≤24 词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946904" y="2606040"/>
            <a:ext cx="237744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21208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2180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FTS5 MATCH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“乡村”AND“振兴”AND“政策”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324344" y="2606040"/>
            <a:ext cx="237744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58952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69924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bm25() 相关度排序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701784" y="2606040"/>
            <a:ext cx="237744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966960" y="192024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0076688" y="2011680"/>
            <a:ext cx="18653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snippet 摘要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命中词高亮返回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" y="3703320"/>
            <a:ext cx="6675120" cy="1234440"/>
          </a:xfrm>
          <a:prstGeom prst="roundRect">
            <a:avLst>
              <a:gd name="adj" fmla="val 5926"/>
            </a:avLst>
          </a:prstGeom>
          <a:solidFill>
            <a:srgbClr val="1F1917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840480"/>
            <a:ext cx="6217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查询构造示例（db/tokenize.py）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“乡村振兴 政策” → "乡村" "振兴" "政策"（逐词加引号，隐式 AND）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452360" y="3703320"/>
            <a:ext cx="4279392" cy="1234440"/>
          </a:xfrm>
          <a:prstGeom prst="roundRect">
            <a:avLst>
              <a:gd name="adj" fmla="val 5926"/>
            </a:avLst>
          </a:prstGeom>
          <a:solidFill>
            <a:srgbClr val="F5EAE7"/>
          </a:solidFill>
          <a:ln/>
        </p:spPr>
      </p:sp>
      <p:sp>
        <p:nvSpPr>
          <p:cNvPr id="25" name="Text 23"/>
          <p:cNvSpPr/>
          <p:nvPr/>
        </p:nvSpPr>
        <p:spPr>
          <a:xfrm>
            <a:off x="7726680" y="3822192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 秒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 篇文档全文检索实测（test_fts_search_speed_and_snippet）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457200" y="54315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7" name="Text 25"/>
          <p:cNvSpPr/>
          <p:nvPr/>
        </p:nvSpPr>
        <p:spPr>
          <a:xfrm>
            <a:off x="694944" y="5349240"/>
            <a:ext cx="11009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词典检索特殊优化：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12 万词条不做 FTS，按“精确 0.9 &gt; 前缀 0.8 &gt; 包含 0.7”三段 LIKE 分级，兼顾首启速度与命中质量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457200" y="595274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9" name="Text 27"/>
          <p:cNvSpPr/>
          <p:nvPr/>
        </p:nvSpPr>
        <p:spPr>
          <a:xfrm>
            <a:off x="694944" y="5870448"/>
            <a:ext cx="11009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资料库检索：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结果带上下文摘要（snippet）与相关度排序，回车即查，上限 100 条，F3 一键聚焦检索框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系统架构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线程模型：耗时全后台，界面零卡顿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3017520" cy="3566160"/>
          </a:xfrm>
          <a:prstGeom prst="roundRect">
            <a:avLst>
              <a:gd name="adj" fmla="val 2424"/>
            </a:avLst>
          </a:prstGeom>
          <a:solidFill>
            <a:srgbClr val="1F1917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13232" y="2148840"/>
            <a:ext cx="2514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主线程 · UI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只做界面绘制与交互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结果经 Signal 回流更新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600ms 防抖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大纲树 / 公文预览均防抖重建，输入不抖屏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709160" y="1920240"/>
            <a:ext cx="6995160" cy="749808"/>
          </a:xfrm>
          <a:prstGeom prst="roundRect">
            <a:avLst>
              <a:gd name="adj" fmla="val 853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1920240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FnWorker　</a:t>
            </a:r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通用函数工作器：纠错 / 体检 / 对比 / 查重 / PDF 页渲染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3474720" y="2295144"/>
            <a:ext cx="120700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709160" y="2852928"/>
            <a:ext cx="6995160" cy="749808"/>
          </a:xfrm>
          <a:prstGeom prst="roundRect">
            <a:avLst>
              <a:gd name="adj" fmla="val 853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2852928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ImportWorker　</a:t>
            </a:r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批量导入：逐文件进度 + OCR 页级进度，可中途停止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474720" y="3227832"/>
            <a:ext cx="120700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709160" y="3785616"/>
            <a:ext cx="6995160" cy="749808"/>
          </a:xfrm>
          <a:prstGeom prst="roundRect">
            <a:avLst>
              <a:gd name="adj" fmla="val 853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3785616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CompileWorker 等　</a:t>
            </a:r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 / 两遍 PDF 渲染 / 小册子拼版，三大输出各一个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474720" y="4160520"/>
            <a:ext cx="120700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709160" y="4718304"/>
            <a:ext cx="6995160" cy="749808"/>
          </a:xfrm>
          <a:prstGeom prst="roundRect">
            <a:avLst>
              <a:gd name="adj" fmla="val 853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0" y="4718304"/>
            <a:ext cx="6583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TTSWorker　</a:t>
            </a:r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逐句朗读，sentence 信号驱动编辑器同步高亮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3474720" y="5093208"/>
            <a:ext cx="120700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457200" y="58064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细节：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QImage 可跨线程传递（QPixmap 不行）；SQLite 每线程独立连接；全文替换保留一次撤销。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材料导入与资料库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八种格式进得来，一座资料库管得住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格式解析全部本地完成，扫描件 OCR 内置开箱即用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 .doc 二进制格式四级降级解析，尽力提取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分类树 + 标签 + FTS 检索 + 快照版本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材料导入与资料库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一站式导入：8 种文档格式 + 图片 OCR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9" name="Text 7"/>
          <p:cNvSpPr/>
          <p:nvPr/>
        </p:nvSpPr>
        <p:spPr>
          <a:xfrm>
            <a:off x="53035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docx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5448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1" name="Text 9"/>
          <p:cNvSpPr/>
          <p:nvPr/>
        </p:nvSpPr>
        <p:spPr>
          <a:xfrm>
            <a:off x="162763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65176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3" name="Text 11"/>
          <p:cNvSpPr/>
          <p:nvPr/>
        </p:nvSpPr>
        <p:spPr>
          <a:xfrm>
            <a:off x="272491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74904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5" name="Text 13"/>
          <p:cNvSpPr/>
          <p:nvPr/>
        </p:nvSpPr>
        <p:spPr>
          <a:xfrm>
            <a:off x="382219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txt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4632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7" name="Text 15"/>
          <p:cNvSpPr/>
          <p:nvPr/>
        </p:nvSpPr>
        <p:spPr>
          <a:xfrm>
            <a:off x="491947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rtf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94360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19" name="Text 17"/>
          <p:cNvSpPr/>
          <p:nvPr/>
        </p:nvSpPr>
        <p:spPr>
          <a:xfrm>
            <a:off x="601675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04088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21" name="Text 19"/>
          <p:cNvSpPr/>
          <p:nvPr/>
        </p:nvSpPr>
        <p:spPr>
          <a:xfrm>
            <a:off x="711403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138160" y="1783080"/>
            <a:ext cx="932688" cy="566928"/>
          </a:xfrm>
          <a:prstGeom prst="roundRect">
            <a:avLst>
              <a:gd name="adj" fmla="val 9677"/>
            </a:avLst>
          </a:prstGeom>
          <a:solidFill>
            <a:srgbClr val="F5EAE7"/>
          </a:solidFill>
          <a:ln/>
        </p:spPr>
      </p:sp>
      <p:sp>
        <p:nvSpPr>
          <p:cNvPr id="23" name="Text 21"/>
          <p:cNvSpPr/>
          <p:nvPr/>
        </p:nvSpPr>
        <p:spPr>
          <a:xfrm>
            <a:off x="8211312" y="1783080"/>
            <a:ext cx="786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html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235440" y="1783080"/>
            <a:ext cx="2286000" cy="566928"/>
          </a:xfrm>
          <a:prstGeom prst="roundRect">
            <a:avLst>
              <a:gd name="adj" fmla="val 9677"/>
            </a:avLst>
          </a:prstGeom>
          <a:solidFill>
            <a:srgbClr val="F8F4EE"/>
          </a:solidFill>
          <a:ln/>
        </p:spPr>
      </p:sp>
      <p:sp>
        <p:nvSpPr>
          <p:cNvPr id="25" name="Text 23"/>
          <p:cNvSpPr/>
          <p:nvPr/>
        </p:nvSpPr>
        <p:spPr>
          <a:xfrm>
            <a:off x="9308592" y="1783080"/>
            <a:ext cx="2139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png/jpg/bmp/tif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2487168"/>
            <a:ext cx="10972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 8 种格式直读（.wps 按内容嗅探路由，装 WPS 机器 COM 保真）　·　图片 4 类走内置 OCR（Tesseract + chi_sim 随安装包分发）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31455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8" name="Text 26"/>
          <p:cNvSpPr/>
          <p:nvPr/>
        </p:nvSpPr>
        <p:spPr>
          <a:xfrm>
            <a:off x="694944" y="3063240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拖拽即进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支持拖入文件或整个文件夹（递归扫描），也可从右键菜单 / 剪贴板一键入库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457200" y="376732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0" name="Text 28"/>
          <p:cNvSpPr/>
          <p:nvPr/>
        </p:nvSpPr>
        <p:spPr>
          <a:xfrm>
            <a:off x="694944" y="3685032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后台解析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ImportWorker 逐个解析入库，进度条含“OCR 第 x/y 页”页级反馈，可中途停止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457200" y="438912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2" name="Text 30"/>
          <p:cNvSpPr/>
          <p:nvPr/>
        </p:nvSpPr>
        <p:spPr>
          <a:xfrm>
            <a:off x="694944" y="4306824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内容去重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入库即算 SHA-256 指纹，重复内容自动跳过；完成统计“成功 N / 重复失败 M”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457200" y="501091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4" name="Text 32"/>
          <p:cNvSpPr/>
          <p:nvPr/>
        </p:nvSpPr>
        <p:spPr>
          <a:xfrm>
            <a:off x="694944" y="4928616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失败友好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扫描版 PDF 无文字层时自动走内置 OCR；中文包随安装包内置，缺包场景（源码运行）返回可操作指引而非静默空白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457200" y="563270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6" name="Text 34"/>
          <p:cNvSpPr/>
          <p:nvPr/>
        </p:nvSpPr>
        <p:spPr>
          <a:xfrm>
            <a:off x="694944" y="5550408"/>
            <a:ext cx="11009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标题识别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复用公文编号正则识别“一、（一）1.”标题层级，首行 ≤50 字提为文档标题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材料导入与资料库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最难啃的 .doc：四级降级解析链，尽力而为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4708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本机办公软件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 调用 WPS / WPS 个人版 / Word，另存为 DOCX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89720" y="1965960"/>
            <a:ext cx="1234440" cy="530352"/>
          </a:xfrm>
          <a:prstGeom prst="roundRect">
            <a:avLst>
              <a:gd name="adj" fmla="val 10345"/>
            </a:avLst>
          </a:prstGeom>
          <a:solidFill>
            <a:srgbClr val="EFE8DE"/>
          </a:solidFill>
          <a:ln/>
        </p:spPr>
      </p:sp>
      <p:sp>
        <p:nvSpPr>
          <p:cNvPr id="11" name="Text 9"/>
          <p:cNvSpPr/>
          <p:nvPr/>
        </p:nvSpPr>
        <p:spPr>
          <a:xfrm>
            <a:off x="9262872" y="1965960"/>
            <a:ext cx="1088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效果最佳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68680" y="2688336"/>
            <a:ext cx="0" cy="13716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57200" y="2834640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89864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LibreOffice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soffice --headless --convert-to docx 无窗口转换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89720" y="3017520"/>
            <a:ext cx="1234440" cy="530352"/>
          </a:xfrm>
          <a:prstGeom prst="roundRect">
            <a:avLst>
              <a:gd name="adj" fmla="val 10345"/>
            </a:avLst>
          </a:prstGeom>
          <a:solidFill>
            <a:srgbClr val="EFE8DE"/>
          </a:solidFill>
          <a:ln/>
        </p:spPr>
      </p:sp>
      <p:sp>
        <p:nvSpPr>
          <p:cNvPr id="16" name="Text 14"/>
          <p:cNvSpPr/>
          <p:nvPr/>
        </p:nvSpPr>
        <p:spPr>
          <a:xfrm>
            <a:off x="9262872" y="3017520"/>
            <a:ext cx="1088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次优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68680" y="3739896"/>
            <a:ext cx="0" cy="13716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57200" y="3886200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395020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纯 Python 硬解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olefile 读 WordDocument 流：FIB → fcClx → 分片表，UTF-16 / cp1252 解码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189720" y="4069080"/>
            <a:ext cx="1234440" cy="530352"/>
          </a:xfrm>
          <a:prstGeom prst="roundRect">
            <a:avLst>
              <a:gd name="adj" fmla="val 10345"/>
            </a:avLst>
          </a:prstGeom>
          <a:solidFill>
            <a:srgbClr val="EFE8DE"/>
          </a:solidFill>
          <a:ln/>
        </p:spPr>
      </p:sp>
      <p:sp>
        <p:nvSpPr>
          <p:cNvPr id="21" name="Text 19"/>
          <p:cNvSpPr/>
          <p:nvPr/>
        </p:nvSpPr>
        <p:spPr>
          <a:xfrm>
            <a:off x="9262872" y="4069080"/>
            <a:ext cx="1088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95% 完整率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68680" y="4791456"/>
            <a:ext cx="0" cy="13716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57200" y="4937760"/>
            <a:ext cx="8229600" cy="896112"/>
          </a:xfrm>
          <a:prstGeom prst="roundRect">
            <a:avLst>
              <a:gd name="adj" fmla="val 7143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5001768"/>
            <a:ext cx="6675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原始扫描兜底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字节步长扫描 UTF-16 中文片段，连续 ≥8 字符才收录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189720" y="5120640"/>
            <a:ext cx="1234440" cy="530352"/>
          </a:xfrm>
          <a:prstGeom prst="roundRect">
            <a:avLst>
              <a:gd name="adj" fmla="val 10345"/>
            </a:avLst>
          </a:prstGeom>
          <a:solidFill>
            <a:srgbClr val="9E2B25"/>
          </a:solidFill>
          <a:ln/>
        </p:spPr>
      </p:sp>
      <p:sp>
        <p:nvSpPr>
          <p:cNvPr id="26" name="Text 24"/>
          <p:cNvSpPr/>
          <p:nvPr/>
        </p:nvSpPr>
        <p:spPr>
          <a:xfrm>
            <a:off x="9262872" y="5120640"/>
            <a:ext cx="1088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保底不空手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57200" y="5870448"/>
            <a:ext cx="11247120" cy="475488"/>
          </a:xfrm>
          <a:prstGeom prst="roundRect">
            <a:avLst>
              <a:gd name="adj" fmla="val 13462"/>
            </a:avLst>
          </a:prstGeom>
          <a:solidFill>
            <a:srgbClr val="1F1917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5870448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设计哲学：</a:t>
            </a:r>
            <a:pPr indent="0" marL="0">
              <a:buNone/>
            </a:pPr>
            <a:r>
              <a:rPr lang="en-US" sz="120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 .doc 不挑环境 —— 装了 WPS 用 WPS，装了 Office 用 Office，什么都没有也能靠纯解析把文字捞出来。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材料导入与资料库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资料库：像管档案一样管材料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4297680" cy="4434840"/>
          </a:xfrm>
          <a:prstGeom prst="roundRect">
            <a:avLst>
              <a:gd name="adj" fmla="val 1702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74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分类树（右键管理）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2331720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331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▾ 全部文档（128）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2898648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EFE8DE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89864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▾ 办公室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188720" y="3465576"/>
            <a:ext cx="3063240" cy="457200"/>
          </a:xfrm>
          <a:prstGeom prst="roundRect">
            <a:avLst>
              <a:gd name="adj" fmla="val 10000"/>
            </a:avLst>
          </a:prstGeom>
          <a:solidFill>
            <a:srgbClr val="F7F2EA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3465576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通知 (32)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88720" y="4032504"/>
            <a:ext cx="3063240" cy="457200"/>
          </a:xfrm>
          <a:prstGeom prst="roundRect">
            <a:avLst>
              <a:gd name="adj" fmla="val 10000"/>
            </a:avLst>
          </a:prstGeom>
          <a:solidFill>
            <a:srgbClr val="F7F2EA"/>
          </a:solidFill>
          <a:ln/>
        </p:spPr>
      </p:sp>
      <p:sp>
        <p:nvSpPr>
          <p:cNvPr id="17" name="Text 15"/>
          <p:cNvSpPr/>
          <p:nvPr/>
        </p:nvSpPr>
        <p:spPr>
          <a:xfrm>
            <a:off x="1325880" y="403250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请示 (11)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4599432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EFE8DE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59943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▾ 政策文件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188720" y="5166360"/>
            <a:ext cx="3063240" cy="457200"/>
          </a:xfrm>
          <a:prstGeom prst="roundRect">
            <a:avLst>
              <a:gd name="adj" fmla="val 10000"/>
            </a:avLst>
          </a:prstGeom>
          <a:solidFill>
            <a:srgbClr val="F7F2EA"/>
          </a:solidFill>
          <a:ln/>
        </p:spPr>
      </p:sp>
      <p:sp>
        <p:nvSpPr>
          <p:cNvPr id="21" name="Text 19"/>
          <p:cNvSpPr/>
          <p:nvPr/>
        </p:nvSpPr>
        <p:spPr>
          <a:xfrm>
            <a:off x="1325880" y="51663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上级来文 (46)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85800" y="5733288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EFE8DE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573328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未分类 (39)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120640" y="189280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5" name="Text 23"/>
          <p:cNvSpPr/>
          <p:nvPr/>
        </p:nvSpPr>
        <p:spPr>
          <a:xfrm>
            <a:off x="5358384" y="1810512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全文检索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回车即查，FTS5 + bm25 排序 + 摘要高亮，上限 100 条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5120640" y="26426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7" name="Text 25"/>
          <p:cNvSpPr/>
          <p:nvPr/>
        </p:nvSpPr>
        <p:spPr>
          <a:xfrm>
            <a:off x="5358384" y="2560320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多级整理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分类树右键增删改；删除分类时文档自动归入未分类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120640" y="33924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9" name="Text 27"/>
          <p:cNvSpPr/>
          <p:nvPr/>
        </p:nvSpPr>
        <p:spPr>
          <a:xfrm>
            <a:off x="5358384" y="3310128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标签与过滤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条目显示“标题 [类型] 字数 #标签”；按类型动态过滤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5120640" y="414223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1" name="Text 29"/>
          <p:cNvSpPr/>
          <p:nvPr/>
        </p:nvSpPr>
        <p:spPr>
          <a:xfrm>
            <a:off x="5358384" y="4059936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四种排序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导入时间 / 标题 / 字数 / 最近更新一键切换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120640" y="489204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3" name="Text 31"/>
          <p:cNvSpPr/>
          <p:nvPr/>
        </p:nvSpPr>
        <p:spPr>
          <a:xfrm>
            <a:off x="5358384" y="4809744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批量操作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多选后批量删除；导出为 TXT；移动到指定分类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5120640" y="564184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5" name="Text 33"/>
          <p:cNvSpPr/>
          <p:nvPr/>
        </p:nvSpPr>
        <p:spPr>
          <a:xfrm>
            <a:off x="5358384" y="5559552"/>
            <a:ext cx="6345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版本守护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打开即看历史快照（30 版），差异预览后一键回滚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智能写作辅助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从“憋公文”到“填公文”：骨架、工具、参考、纠错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种法定文种骨架，填要素即成稿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写作参考三库联合检索，双击插入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三级纠错流水线 + 三道误报防线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新建公文：15 种法定文种骨架全覆盖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5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决议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71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57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命令（令）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43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公报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601200" y="178308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29216" y="178308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公告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5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通告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71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意见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57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通知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43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通报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601200" y="256032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29216" y="25603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33756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85216" y="333756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请示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743200" y="333756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871216" y="333756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批复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029200" y="333756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57216" y="333756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议案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315200" y="333756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43216" y="333756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9601200" y="3337560"/>
            <a:ext cx="2121408" cy="621792"/>
          </a:xfrm>
          <a:prstGeom prst="roundRect">
            <a:avLst>
              <a:gd name="adj" fmla="val 1029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729216" y="333756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 </a:t>
            </a:r>
            <a:pPr indent="0" marL="0">
              <a:buNone/>
            </a:pPr>
            <a:r>
              <a:rPr lang="en-US" sz="14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纪要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200" y="4224528"/>
            <a:ext cx="11247120" cy="658368"/>
          </a:xfrm>
          <a:prstGeom prst="roundRect">
            <a:avLst>
              <a:gd name="adj" fmla="val 9722"/>
            </a:avLst>
          </a:prstGeom>
          <a:solidFill>
            <a:srgbClr val="F5EAE7"/>
          </a:solidFill>
          <a:ln/>
        </p:spPr>
      </p:sp>
      <p:sp>
        <p:nvSpPr>
          <p:cNvPr id="39" name="Text 37"/>
          <p:cNvSpPr/>
          <p:nvPr/>
        </p:nvSpPr>
        <p:spPr>
          <a:xfrm>
            <a:off x="731520" y="422452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请示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一文一事 · 主送一个机关 · 不得越级；结束语“妥否，请批示”</a:t>
            </a:r>
            <a:endParaRPr lang="en-US" sz="1350" dirty="0"/>
          </a:p>
        </p:txBody>
      </p:sp>
      <p:sp>
        <p:nvSpPr>
          <p:cNvPr id="40" name="Shape 38"/>
          <p:cNvSpPr/>
          <p:nvPr/>
        </p:nvSpPr>
        <p:spPr>
          <a:xfrm>
            <a:off x="457200" y="5020056"/>
            <a:ext cx="11247120" cy="658368"/>
          </a:xfrm>
          <a:prstGeom prst="roundRect">
            <a:avLst>
              <a:gd name="adj" fmla="val 9722"/>
            </a:avLst>
          </a:prstGeom>
          <a:solidFill>
            <a:srgbClr val="F5EAE7"/>
          </a:solidFill>
          <a:ln/>
        </p:spPr>
      </p:sp>
      <p:sp>
        <p:nvSpPr>
          <p:cNvPr id="41" name="Text 39"/>
          <p:cNvSpPr/>
          <p:nvPr/>
        </p:nvSpPr>
        <p:spPr>
          <a:xfrm>
            <a:off x="731520" y="5020056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不得夹带请示事项（体检自动报 error）；结束语“特此报告”</a:t>
            </a:r>
            <a:endParaRPr lang="en-US" sz="1350" dirty="0"/>
          </a:p>
        </p:txBody>
      </p:sp>
      <p:sp>
        <p:nvSpPr>
          <p:cNvPr id="42" name="Text 40"/>
          <p:cNvSpPr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骨架即规范：</a:t>
            </a:r>
            <a:pPr indent="0" marL="0"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每种骨架自带标题模板、主送机关、分段结构与【】待填要素、（提示）写作提示段 —— 选文种、填要素，初稿即刻成型。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文秘工具箱：编辑器右键，随手可得的“老文秘”手艺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11247120" cy="932688"/>
          </a:xfrm>
          <a:prstGeom prst="roundRect">
            <a:avLst>
              <a:gd name="adj" fmla="val 68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783080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金额大写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194560" y="189280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10050000.30  →  </a:t>
            </a:r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人民币壹仟零伍拾万元零叁角整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212848" y="2331720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按人民银行票据规范：零压缩 · 角分规则 · “整”字处理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62072"/>
            <a:ext cx="11247120" cy="932688"/>
          </a:xfrm>
          <a:prstGeom prst="roundRect">
            <a:avLst>
              <a:gd name="adj" fmla="val 68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862072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日期大写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2194560" y="29718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2026年8月30日  →  </a:t>
            </a:r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二〇二六年八月三十日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212848" y="3410712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另支持编号大写码转换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941064"/>
            <a:ext cx="11247120" cy="932688"/>
          </a:xfrm>
          <a:prstGeom prst="roundRect">
            <a:avLst>
              <a:gd name="adj" fmla="val 68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941064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简繁转换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2194560" y="405079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简体选区  →  </a:t>
            </a:r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一键转繁体 / 转回简体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12848" y="4489704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OpenCC 离线词典（s2t / t2s），缺库优雅降级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5020056"/>
            <a:ext cx="11247120" cy="932688"/>
          </a:xfrm>
          <a:prstGeom prst="roundRect">
            <a:avLst>
              <a:gd name="adj" fmla="val 68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020056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全半角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2194560" y="512978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全角 ABC123  →  </a:t>
            </a:r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ABC123（或反向）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212848" y="5568696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0xFF01–0xFF5E 区间平移，选区或全文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6172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同类还有：数字大写码 · 一键排版微调 · 朗读校对（F9）—— 全部离线，选区操作，Ctrl+Z 可撤销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写作参考：三库联合检索，双击即插入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743200" cy="1051560"/>
          </a:xfrm>
          <a:prstGeom prst="roundRect">
            <a:avLst>
              <a:gd name="adj" fmla="val 695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865376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资料库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FTS5 + bm25 全文检索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所有入库材料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3246120" y="2308860"/>
            <a:ext cx="7772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57200" y="3081528"/>
            <a:ext cx="2743200" cy="1051560"/>
          </a:xfrm>
          <a:prstGeom prst="roundRect">
            <a:avLst>
              <a:gd name="adj" fmla="val 695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163824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词典库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12.3 万条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LIKE 三段式分级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3246120" y="3607308"/>
            <a:ext cx="7772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57200" y="4379976"/>
            <a:ext cx="2743200" cy="1051560"/>
          </a:xfrm>
          <a:prstGeom prst="roundRect">
            <a:avLst>
              <a:gd name="adj" fmla="val 695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462272"/>
            <a:ext cx="2377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常用句式库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用户沉淀句式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FTS5 检索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3246120" y="4905756"/>
            <a:ext cx="7772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069080" y="1783080"/>
            <a:ext cx="3566160" cy="3794760"/>
          </a:xfrm>
          <a:prstGeom prst="roundRect">
            <a:avLst>
              <a:gd name="adj" fmla="val 205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343400" y="1783080"/>
            <a:ext cx="30632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相关度融合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各组分数 min-max 归一到 [0,1]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标题命中 +0.15 · 标签命中 +0.10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同源去重后合并排序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7680960" y="3675888"/>
            <a:ext cx="777240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503920" y="2395728"/>
            <a:ext cx="3200400" cy="2560320"/>
          </a:xfrm>
          <a:prstGeom prst="roundRect">
            <a:avLst>
              <a:gd name="adj" fmla="val 2857"/>
            </a:avLst>
          </a:prstGeom>
          <a:solidFill>
            <a:srgbClr val="1F1917"/>
          </a:solidFill>
          <a:ln/>
        </p:spPr>
      </p:sp>
      <p:sp>
        <p:nvSpPr>
          <p:cNvPr id="21" name="Text 19"/>
          <p:cNvSpPr/>
          <p:nvPr/>
        </p:nvSpPr>
        <p:spPr>
          <a:xfrm>
            <a:off x="8778240" y="2395728"/>
            <a:ext cx="2697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结果即所得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 / 按钮插入光标处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好句一键“存为常用句式”</a:t>
            </a:r>
            <a:endParaRPr lang="en-US" sz="15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同拼音近音词联想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457200" y="56784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3" name="Text 21"/>
          <p:cNvSpPr/>
          <p:nvPr/>
        </p:nvSpPr>
        <p:spPr>
          <a:xfrm>
            <a:off x="694944" y="5596128"/>
            <a:ext cx="11009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怎么用：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写“关于 XX 的通知”没有思路？输入关键词，同类材料、惯用句式、规范用语一次呈现；好句可“存为常用句式”反哺词库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纠错引擎：三级流水线 + 可选 L4/L5 神经增强包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76656" y="201168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第一级 · 精确匹配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万条错别字/混淆对，首字桶索引 + 最长优先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内置精标 + 程序生成 + 用户自定义 + 机构沿革（提示级 0.7）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23360" y="2971800"/>
            <a:ext cx="475488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544568" y="18288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64024" y="201168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第二级 · 上下文规则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同一个词，不同语境不同结论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“截止日期”保留；“截止 8 月底”改“截至”；火山爆发 / 山洪暴发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10728" y="2971800"/>
            <a:ext cx="475488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631936" y="1828800"/>
            <a:ext cx="3520440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851392" y="201168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第三级 · 标点数字规则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GB/T 15835 数字与标点规范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全角标点 · 省略号“……” · 破折号“——” · 汉字年份 · 概数顿号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4526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置信度决定呈现：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514600" y="4526280"/>
            <a:ext cx="2212848" cy="411480"/>
          </a:xfrm>
          <a:prstGeom prst="roundRect">
            <a:avLst>
              <a:gd name="adj" fmla="val 13333"/>
            </a:avLst>
          </a:prstGeom>
          <a:solidFill>
            <a:srgbClr val="D32F2F"/>
          </a:solidFill>
          <a:ln/>
        </p:spPr>
      </p:sp>
      <p:sp>
        <p:nvSpPr>
          <p:cNvPr id="18" name="Text 16"/>
          <p:cNvSpPr/>
          <p:nvPr/>
        </p:nvSpPr>
        <p:spPr>
          <a:xfrm>
            <a:off x="2587752" y="452628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0.85–0.98 精标对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514600" y="49743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确认错误 · 红色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818888" y="4526280"/>
            <a:ext cx="2212848" cy="411480"/>
          </a:xfrm>
          <a:prstGeom prst="roundRect">
            <a:avLst>
              <a:gd name="adj" fmla="val 13333"/>
            </a:avLst>
          </a:prstGeom>
          <a:solidFill>
            <a:srgbClr val="E58A2E"/>
          </a:solidFill>
          <a:ln/>
        </p:spPr>
      </p:sp>
      <p:sp>
        <p:nvSpPr>
          <p:cNvPr id="21" name="Text 19"/>
          <p:cNvSpPr/>
          <p:nvPr/>
        </p:nvSpPr>
        <p:spPr>
          <a:xfrm>
            <a:off x="4892040" y="452628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0.55 程序生成对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818888" y="49743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疑似错误 · 橙色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123176" y="4526280"/>
            <a:ext cx="2212848" cy="411480"/>
          </a:xfrm>
          <a:prstGeom prst="roundRect">
            <a:avLst>
              <a:gd name="adj" fmla="val 13333"/>
            </a:avLst>
          </a:prstGeom>
          <a:solidFill>
            <a:srgbClr val="D32F2F"/>
          </a:solidFill>
          <a:ln/>
        </p:spPr>
      </p:sp>
      <p:sp>
        <p:nvSpPr>
          <p:cNvPr id="24" name="Text 22"/>
          <p:cNvSpPr/>
          <p:nvPr/>
        </p:nvSpPr>
        <p:spPr>
          <a:xfrm>
            <a:off x="7196328" y="452628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≥0.99 用户自定义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123176" y="49743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用户最高优先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427464" y="4526280"/>
            <a:ext cx="2212848" cy="411480"/>
          </a:xfrm>
          <a:prstGeom prst="roundRect">
            <a:avLst>
              <a:gd name="adj" fmla="val 13333"/>
            </a:avLst>
          </a:prstGeom>
          <a:solidFill>
            <a:srgbClr val="8C8178"/>
          </a:solidFill>
          <a:ln/>
        </p:spPr>
      </p:sp>
      <p:sp>
        <p:nvSpPr>
          <p:cNvPr id="27" name="Text 25"/>
          <p:cNvSpPr/>
          <p:nvPr/>
        </p:nvSpPr>
        <p:spPr>
          <a:xfrm>
            <a:off x="9500616" y="452628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0.70 机构沿革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9427464" y="497433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提示级 · 灰色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57200" y="56144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0" name="Text 28"/>
          <p:cNvSpPr/>
          <p:nvPr/>
        </p:nvSpPr>
        <p:spPr>
          <a:xfrm>
            <a:off x="694944" y="5532120"/>
            <a:ext cx="11009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结果可交互：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逐条替换 / 全部替换（自动排除数字类）/ 忽略本次 / 永久忽略（写入 ignore_words，下次不再提示）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457200" y="60716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2" name="Text 30"/>
          <p:cNvSpPr/>
          <p:nvPr/>
        </p:nvSpPr>
        <p:spPr>
          <a:xfrm>
            <a:off x="694944" y="5989320"/>
            <a:ext cx="11009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即时生效：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词典管理中新增纠错对立即参与匹配，缓存自动失效，无需重启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三道误报防线：宁可少报，不可错报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11247120" cy="1207008"/>
          </a:xfrm>
          <a:prstGeom prst="roundRect">
            <a:avLst>
              <a:gd name="adj" fmla="val 530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911096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防线一 · 词边界保护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154680" y="1892808"/>
            <a:ext cx="5120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jieba 分词边界判定：命中片段落在词语内部即抑制；低置信命中（&lt;0.7）双重门控，jieba 高频词（词频≥30）例外放行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458200" y="1965960"/>
            <a:ext cx="3017520" cy="841248"/>
          </a:xfrm>
          <a:prstGeom prst="roundRect">
            <a:avLst>
              <a:gd name="adj" fmla="val 6522"/>
            </a:avLst>
          </a:prstGeom>
          <a:solidFill>
            <a:srgbClr val="EFF7EE"/>
          </a:solidFill>
          <a:ln/>
        </p:spPr>
      </p:sp>
      <p:sp>
        <p:nvSpPr>
          <p:cNvPr id="12" name="Text 10"/>
          <p:cNvSpPr/>
          <p:nvPr/>
        </p:nvSpPr>
        <p:spPr>
          <a:xfrm>
            <a:off x="8613648" y="196596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</a:t>
            </a:r>
            <a:pPr indent="0" marL="0">
              <a:buNone/>
            </a:pPr>
            <a:r>
              <a:rPr lang="en-US" sz="1150" dirty="0">
                <a:solidFill>
                  <a:srgbClr val="2E5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“安全生产”内部不误报“全生→全省”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154680"/>
            <a:ext cx="11247120" cy="1207008"/>
          </a:xfrm>
          <a:prstGeom prst="roundRect">
            <a:avLst>
              <a:gd name="adj" fmla="val 530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282696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防线二 · 负向上下文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154680" y="3264408"/>
            <a:ext cx="5120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成语与惯用语白名单：命中词位于特定固定搭配中时不提示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458200" y="3337560"/>
            <a:ext cx="3017520" cy="841248"/>
          </a:xfrm>
          <a:prstGeom prst="roundRect">
            <a:avLst>
              <a:gd name="adj" fmla="val 6522"/>
            </a:avLst>
          </a:prstGeom>
          <a:solidFill>
            <a:srgbClr val="EFF7EE"/>
          </a:solidFill>
          <a:ln/>
        </p:spPr>
      </p:sp>
      <p:sp>
        <p:nvSpPr>
          <p:cNvPr id="17" name="Text 15"/>
          <p:cNvSpPr/>
          <p:nvPr/>
        </p:nvSpPr>
        <p:spPr>
          <a:xfrm>
            <a:off x="8613648" y="333756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</a:t>
            </a:r>
            <a:pPr indent="0" marL="0">
              <a:buNone/>
            </a:pPr>
            <a:r>
              <a:rPr lang="en-US" sz="1150" dirty="0">
                <a:solidFill>
                  <a:srgbClr val="2E5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“以德报怨”不纠“报怨”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4526280"/>
            <a:ext cx="11247120" cy="1207008"/>
          </a:xfrm>
          <a:prstGeom prst="roundRect">
            <a:avLst>
              <a:gd name="adj" fmla="val 530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4654296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防线三 · 书名号保护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3154680" y="4636008"/>
            <a:ext cx="51206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书名号内是文件标题，按原文引用原则不作纠改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458200" y="4709160"/>
            <a:ext cx="3017520" cy="841248"/>
          </a:xfrm>
          <a:prstGeom prst="roundRect">
            <a:avLst>
              <a:gd name="adj" fmla="val 6522"/>
            </a:avLst>
          </a:prstGeom>
          <a:solidFill>
            <a:srgbClr val="EFF7EE"/>
          </a:solidFill>
          <a:ln/>
        </p:spPr>
      </p:sp>
      <p:sp>
        <p:nvSpPr>
          <p:cNvPr id="22" name="Text 20"/>
          <p:cNvSpPr/>
          <p:nvPr/>
        </p:nvSpPr>
        <p:spPr>
          <a:xfrm>
            <a:off x="8613648" y="470916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</a:t>
            </a:r>
            <a:pPr indent="0" marL="0">
              <a:buNone/>
            </a:pPr>
            <a:r>
              <a:rPr lang="en-US" sz="1150" dirty="0">
                <a:solidFill>
                  <a:srgbClr val="2E5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《关于布署工作的通知》保持原样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5943600"/>
            <a:ext cx="11247120" cy="502920"/>
          </a:xfrm>
          <a:prstGeom prst="roundRect">
            <a:avLst>
              <a:gd name="adj" fmla="val 12727"/>
            </a:avLst>
          </a:prstGeom>
          <a:solidFill>
            <a:srgbClr val="1F1917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59436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重叠命中按“置信度降序 → 长度降序”贪心去重，从后往前批量替换，Ctrl+Z 一次还原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智能写作辅助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纠错知识库：4 万条规则从哪里来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794760" cy="4480560"/>
          </a:xfrm>
          <a:prstGeom prst="roundRect">
            <a:avLst>
              <a:gd name="adj" fmla="val 1928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2057400"/>
            <a:ext cx="32004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40220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纠错对总量（seed.db 实测）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220 条 人工精标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音近错字 · 易混搭配 · 新华社禁用词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40000 条 程序化生成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高频双字词 × pypinyin 同音替换，</a:t>
            </a:r>
            <a:endParaRPr lang="en-US" sz="5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错写本身不是常用词才入库</a:t>
            </a:r>
            <a:endParaRPr lang="en-US" sz="5400" dirty="0"/>
          </a:p>
        </p:txBody>
      </p:sp>
      <p:sp>
        <p:nvSpPr>
          <p:cNvPr id="10" name="Shape 8"/>
          <p:cNvSpPr/>
          <p:nvPr/>
        </p:nvSpPr>
        <p:spPr>
          <a:xfrm>
            <a:off x="4663440" y="191109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4901184" y="182880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新华社禁用词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建国以来 → 新中国成立以来；残废人 → 残疾人（规范用语提示）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663440" y="26883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4901184" y="260604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机构沿革 52 条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环境保护部 → 生态环境部；银保监会 → 国家金融监督管理总局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663440" y="346557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4901184" y="338328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易混词分档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权力/权利 按搭配区分；“反应情况→反映情况”类搭配纠错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663440" y="42428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7" name="Text 15"/>
          <p:cNvSpPr/>
          <p:nvPr/>
        </p:nvSpPr>
        <p:spPr>
          <a:xfrm>
            <a:off x="4901184" y="416052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生成质量把控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仅保留“错写不是真实常用词”的对，配合词边界门控防误报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663440" y="502005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9" name="Text 17"/>
          <p:cNvSpPr/>
          <p:nvPr/>
        </p:nvSpPr>
        <p:spPr>
          <a:xfrm>
            <a:off x="4901184" y="4937760"/>
            <a:ext cx="68031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用户可扩充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词典管理批量导入 CSV 纠错对，置信度 0.95，立即生效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663440" y="585216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验收：精标词库抽 100 对在样句中 100% 识别（test_corrector）；布署→部署、截止→截至 为 e2e 固定验收对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一键汇编与成品输出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选材料、选模板，剩下的交给程序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三步向导：选材料排序 → 选模板封面 → 生成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 Word（WPS 不跑版）· A4 PDF · A3 骑马订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批量模式：每份材料独立成文，失败不中断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三步向导：从一堆材料到一本汇编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94944" y="19659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1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选择材料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全部文档勾选，默认全选；拖拽或上下移调整合并顺序；可选“材料标题作一级标题”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14800" y="2834640"/>
            <a:ext cx="292608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453128" y="178308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90872" y="19659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2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模板与封面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下拉选模板（可跳转管理）；填封面标题、汇编单位、落款日期；勾选生成封面页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10728" y="2834640"/>
            <a:ext cx="292608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449056" y="1783080"/>
            <a:ext cx="3611880" cy="2148840"/>
          </a:xfrm>
          <a:prstGeom prst="roundRect">
            <a:avLst>
              <a:gd name="adj" fmla="val 3404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0" y="19659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spc="200" kern="0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3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生成输出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同名自动加时间戳防覆盖；完成后一键打开输出文件夹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四种输出（可多选）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4663440"/>
            <a:ext cx="2724912" cy="1051560"/>
          </a:xfrm>
          <a:prstGeom prst="roundRect">
            <a:avLst>
              <a:gd name="adj" fmla="val 6957"/>
            </a:avLst>
          </a:prstGeom>
          <a:solidFill>
            <a:srgbClr val="F5EAE7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731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 Word .docx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 OOXML，WPS / Word 通用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3328416" y="4663440"/>
            <a:ext cx="2724912" cy="1051560"/>
          </a:xfrm>
          <a:prstGeom prst="roundRect">
            <a:avLst>
              <a:gd name="adj" fmla="val 6957"/>
            </a:avLst>
          </a:prstGeom>
          <a:solidFill>
            <a:srgbClr val="F5EAE7"/>
          </a:solidFill>
          <a:ln/>
        </p:spPr>
      </p:sp>
      <p:sp>
        <p:nvSpPr>
          <p:cNvPr id="20" name="Text 18"/>
          <p:cNvSpPr/>
          <p:nvPr/>
        </p:nvSpPr>
        <p:spPr>
          <a:xfrm>
            <a:off x="3511296" y="47731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A4 PDF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内置渲染器，真实目录页码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199632" y="4663440"/>
            <a:ext cx="2724912" cy="1051560"/>
          </a:xfrm>
          <a:prstGeom prst="roundRect">
            <a:avLst>
              <a:gd name="adj" fmla="val 6957"/>
            </a:avLst>
          </a:prstGeom>
          <a:solidFill>
            <a:srgbClr val="F5EAE7"/>
          </a:solidFill>
          <a:ln/>
        </p:spPr>
      </p:sp>
      <p:sp>
        <p:nvSpPr>
          <p:cNvPr id="22" name="Text 20"/>
          <p:cNvSpPr/>
          <p:nvPr/>
        </p:nvSpPr>
        <p:spPr>
          <a:xfrm>
            <a:off x="6382512" y="47731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 骑马订小册子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自动补页 · 页序自动排列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9070848" y="4663440"/>
            <a:ext cx="2724912" cy="1051560"/>
          </a:xfrm>
          <a:prstGeom prst="roundRect">
            <a:avLst>
              <a:gd name="adj" fmla="val 6957"/>
            </a:avLst>
          </a:prstGeom>
          <a:solidFill>
            <a:srgbClr val="F5EAE7"/>
          </a:solidFill>
          <a:ln/>
        </p:spPr>
      </p:sp>
      <p:sp>
        <p:nvSpPr>
          <p:cNvPr id="24" name="Text 22"/>
          <p:cNvSpPr/>
          <p:nvPr/>
        </p:nvSpPr>
        <p:spPr>
          <a:xfrm>
            <a:off x="9253728" y="4773168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批量模式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每份材料独立成文，失败不中断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5720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输出位置：我的文档\公文汇编输出\（独立于数据目录，方便直接取用）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默认模板：GB/T 9704-2012 开箱即用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页边距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286000" y="178308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 37 · 下 35 · 左 28 · 右 26 毫米（国标版心）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340864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39572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286000" y="2395728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仿宋_GB2312 · 三号（16pt）· 固定行距 28 磅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953512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00837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首行缩进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286000" y="3008376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字符（firstLineChars=200，随字号缩放）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62102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标题体系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2286000" y="3621024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一级 黑体 · 二级 楷体 · 三级 仿宋加粗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178808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423367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页码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2286000" y="4233672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宋体四号 · 奇数右 / 偶数左（外侧）· “— 1 —”格式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4791456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48463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红头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2286000" y="484632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机关标志 方正小标宋 36pt 红字 + 发文字号 + 红色分隔线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5404104"/>
            <a:ext cx="7955280" cy="0"/>
          </a:xfrm>
          <a:prstGeom prst="line">
            <a:avLst/>
          </a:prstGeom>
          <a:noFill/>
          <a:ln w="12700">
            <a:solidFill>
              <a:srgbClr val="E7DFD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54589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可选件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286000" y="5458968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封面 · 目录 · 版记 · 水印 / 密级标注（秘密★1年）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732520" y="1783080"/>
            <a:ext cx="2999232" cy="4206240"/>
          </a:xfrm>
          <a:prstGeom prst="roundRect">
            <a:avLst>
              <a:gd name="adj" fmla="val 2439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098280" y="2057400"/>
            <a:ext cx="226771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EB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98280" y="2194560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32F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××机关文件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098280" y="2578608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5E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×政办发〔2026〕12号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9464040" y="2907792"/>
            <a:ext cx="1536192" cy="25603"/>
          </a:xfrm>
          <a:prstGeom prst="rect">
            <a:avLst/>
          </a:prstGeom>
          <a:solidFill>
            <a:srgbClr val="D32F2F"/>
          </a:solidFill>
          <a:ln/>
        </p:spPr>
      </p:sp>
      <p:sp>
        <p:nvSpPr>
          <p:cNvPr id="33" name="Shape 31"/>
          <p:cNvSpPr/>
          <p:nvPr/>
        </p:nvSpPr>
        <p:spPr>
          <a:xfrm>
            <a:off x="9281160" y="3154680"/>
            <a:ext cx="1901952" cy="82296"/>
          </a:xfrm>
          <a:prstGeom prst="rect">
            <a:avLst/>
          </a:prstGeom>
          <a:solidFill>
            <a:srgbClr val="3B342E"/>
          </a:solidFill>
          <a:ln/>
        </p:spPr>
      </p:sp>
      <p:sp>
        <p:nvSpPr>
          <p:cNvPr id="34" name="Shape 32"/>
          <p:cNvSpPr/>
          <p:nvPr/>
        </p:nvSpPr>
        <p:spPr>
          <a:xfrm>
            <a:off x="9281160" y="3401568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5" name="Shape 33"/>
          <p:cNvSpPr/>
          <p:nvPr/>
        </p:nvSpPr>
        <p:spPr>
          <a:xfrm>
            <a:off x="9281160" y="3639312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6" name="Shape 34"/>
          <p:cNvSpPr/>
          <p:nvPr/>
        </p:nvSpPr>
        <p:spPr>
          <a:xfrm>
            <a:off x="9281160" y="3877056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7" name="Shape 35"/>
          <p:cNvSpPr/>
          <p:nvPr/>
        </p:nvSpPr>
        <p:spPr>
          <a:xfrm>
            <a:off x="9281160" y="4114800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8" name="Shape 36"/>
          <p:cNvSpPr/>
          <p:nvPr/>
        </p:nvSpPr>
        <p:spPr>
          <a:xfrm>
            <a:off x="9281160" y="4352544"/>
            <a:ext cx="1901952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39" name="Shape 37"/>
          <p:cNvSpPr/>
          <p:nvPr/>
        </p:nvSpPr>
        <p:spPr>
          <a:xfrm>
            <a:off x="9281160" y="4590288"/>
            <a:ext cx="1005840" cy="50292"/>
          </a:xfrm>
          <a:prstGeom prst="rect">
            <a:avLst/>
          </a:prstGeom>
          <a:solidFill>
            <a:srgbClr val="B4A99D"/>
          </a:solidFill>
          <a:ln/>
        </p:spPr>
      </p:sp>
      <p:sp>
        <p:nvSpPr>
          <p:cNvPr id="40" name="Text 38"/>
          <p:cNvSpPr/>
          <p:nvPr/>
        </p:nvSpPr>
        <p:spPr>
          <a:xfrm>
            <a:off x="10469880" y="4892040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5E5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1 —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869680" y="5440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 JSON 实时渲染预览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模板管理器三参数页 + 实时首页预览，保存即生效；字体不随包分发（版权），缺失时启动自动提示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Word 生成引擎：六项底层细节，换来“不跑版”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86537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9" name="Text 7"/>
          <p:cNvSpPr/>
          <p:nvPr/>
        </p:nvSpPr>
        <p:spPr>
          <a:xfrm>
            <a:off x="694944" y="1783080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目录真域代码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TOC \o "1-3" \h \z \u + settings 写入 w:updateFields，Word/WPS 打开自动刷新页码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257860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2496312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中文字体不丢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每个 run 同时设置 ascii / hAnsi / eastAsia 三个字体位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29184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694944" y="3209544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缩进随字号缩放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firstLineChars=200（字符单位）并写 twips 兜底，改字号不乱缩进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57200" y="400507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694944" y="3922776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页码在外侧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evenAndOddHeaders 奇偶页脚 + PAGE 域，奇数右偶数左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471830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" y="4636008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红头红线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红色分隔线用段落底边框（FF0000 · 15/8pt），标题挂 Heading 1–3 供目录抓取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57200" y="543153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9" name="Text 17"/>
          <p:cNvSpPr/>
          <p:nvPr/>
        </p:nvSpPr>
        <p:spPr>
          <a:xfrm>
            <a:off x="694944" y="5349240"/>
            <a:ext cx="7168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水印注入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页眉 VML 艺术字水印（Word/WPS 标准做法），透明度可调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8229600" y="192024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522208" y="2194560"/>
            <a:ext cx="2926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WPS 打开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不跑版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纯标准 OOXML：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域代码 · 字符缩进 ·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奇偶页脚全部按规范写入，</a:t>
            </a:r>
            <a:endParaRPr lang="en-US" sz="3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永中 / WPS / Word 三端验证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验收：test_compile_pdf 校验 TOC 域 / updateFields / 奇偶页脚 / 28 磅行距 / 重开解析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 PDF 渲染器：两遍渲染算准目录页码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993392"/>
            <a:ext cx="221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第一遍渲染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目录页码用“00”占位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占位宽度≈真实页码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保证分页与最终一致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3072384" y="2971800"/>
            <a:ext cx="256032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383280" y="1828800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66160" y="1993392"/>
            <a:ext cx="221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定位标题页码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PyMuPDF search_for 全文找标题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全匹配失败退 12 字前缀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重名标题按顺序单调消歧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998464" y="2971800"/>
            <a:ext cx="256032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309360" y="1828800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1993392"/>
            <a:ext cx="221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第二遍渲染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以真实页码重排重绘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前置页数解析式计算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（封面 1 页 + 目录分片数）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8924544" y="2971800"/>
            <a:ext cx="256032" cy="0"/>
          </a:xfrm>
          <a:prstGeom prst="line">
            <a:avLst/>
          </a:prstGeom>
          <a:noFill/>
          <a:ln w="22225">
            <a:solidFill>
              <a:srgbClr val="9E2B2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235440" y="1828800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18320" y="1993392"/>
            <a:ext cx="221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页码盖章 + 水印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PyMuPDF 盖“奇右偶左”页码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内置中文字体 china-s</a:t>
            </a:r>
            <a:endParaRPr lang="en-US" sz="14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可选密级/文稿水印平铺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457200" y="4526280"/>
            <a:ext cx="5532120" cy="1600200"/>
          </a:xfrm>
          <a:prstGeom prst="roundRect">
            <a:avLst>
              <a:gd name="adj" fmla="val 4571"/>
            </a:avLst>
          </a:prstGeom>
          <a:solidFill>
            <a:srgbClr val="1F1917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70916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为什么值得做？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不依赖 Word / WPS / LibreOffice —— 麒麟内网机器什么办公软件都没装，也能出带准确目录页码的正式 PDF。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17920" y="4526280"/>
            <a:ext cx="5513832" cy="1600200"/>
          </a:xfrm>
          <a:prstGeom prst="roundRect">
            <a:avLst>
              <a:gd name="adj" fmla="val 4571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92240" y="466344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4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外部办公软件依赖；目录分片（首页 20 行 / 后续每页 22 行）规避 Qt 表格不跨页限制</a:t>
            </a:r>
            <a:endParaRPr lang="en-US" sz="4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一键汇编与成品输出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 骑马订小册子：页序算法，折对即成册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页手册 → 2 张 A3 纸（每张正反面，A4 两页并排）：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2148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张 · 正面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502920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9E2B2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971800" y="2514600"/>
            <a:ext cx="0" cy="1115568"/>
          </a:xfrm>
          <a:prstGeom prst="line">
            <a:avLst/>
          </a:prstGeom>
          <a:noFill/>
          <a:ln w="12700">
            <a:solidFill>
              <a:srgbClr val="C9BEB2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57200" y="251460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2971800" y="251460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355080" y="2148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张 · 背面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55080" y="2514600"/>
            <a:ext cx="502920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9E2B2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869680" y="2514600"/>
            <a:ext cx="0" cy="1115568"/>
          </a:xfrm>
          <a:prstGeom prst="line">
            <a:avLst/>
          </a:prstGeom>
          <a:noFill/>
          <a:ln w="12700">
            <a:solidFill>
              <a:srgbClr val="C9BEB2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6355080" y="251460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869680" y="251460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457200" y="3886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张 · 正面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4251960"/>
            <a:ext cx="502920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9E2B2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971800" y="4251960"/>
            <a:ext cx="0" cy="1115568"/>
          </a:xfrm>
          <a:prstGeom prst="line">
            <a:avLst/>
          </a:prstGeom>
          <a:noFill/>
          <a:ln w="12700">
            <a:solidFill>
              <a:srgbClr val="C9BEB2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457200" y="425196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2971800" y="425196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6355080" y="38862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张 · 背面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355080" y="4251960"/>
            <a:ext cx="502920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9E2B25"/>
            </a:solidFill>
            <a:prstDash val="solid"/>
          </a:ln>
          <a:effectLst>
            <a:outerShdw sx="100000" sy="100000" kx="0" ky="0" algn="bl" rotWithShape="0" blurRad="88900" dist="25400" dir="3600000">
              <a:srgbClr val="3A2E28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869680" y="4251960"/>
            <a:ext cx="0" cy="1115568"/>
          </a:xfrm>
          <a:prstGeom prst="line">
            <a:avLst/>
          </a:prstGeom>
          <a:noFill/>
          <a:ln w="12700">
            <a:solidFill>
              <a:srgbClr val="C9BEB2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6355080" y="425196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8869680" y="4251960"/>
            <a:ext cx="2514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3200" dirty="0"/>
          </a:p>
        </p:txBody>
      </p:sp>
      <p:sp>
        <p:nvSpPr>
          <p:cNvPr id="29" name="Shape 27"/>
          <p:cNvSpPr/>
          <p:nvPr/>
        </p:nvSpPr>
        <p:spPr>
          <a:xfrm>
            <a:off x="457200" y="5687568"/>
            <a:ext cx="11247120" cy="621792"/>
          </a:xfrm>
          <a:prstGeom prst="roundRect">
            <a:avLst>
              <a:gd name="adj" fmla="val 10294"/>
            </a:avLst>
          </a:prstGeom>
          <a:solidFill>
            <a:srgbClr val="1F1917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568756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k 张纸（k 从 0 计）公式：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正面 [N−2k, 2k+1] · 背面 [2k+2, N−2k−1]；页数自动补齐 4 的倍数（末尾补空白页）。沿中线装订折叠后恰为 1–8 页顺序（test_booklet_order_math 验收）。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质检、对比与安全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交出去之前，再把它从头到尾查一遍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GB/T 9704 格式体检：编号链条到字体行距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文档对比 + SimHash 查重：改了哪、重复哪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口令锁 + AES 备份：数据安全有多道保险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格式体检：把《条例》和《国标》装进检查器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856232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标题编号链条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一、（一）1.（1）逐行跟踪计数器：跳号、重复、回退、层级断档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783080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3368" y="1856232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发文字号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必须六角括号〔〕；圆括号 / 方括号直接报 error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807208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2880360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成文日期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汉字年份、前导零、2026.8.30 点分格式提示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72200" y="2807208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73368" y="2880360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结束语×文种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请示→“妥否，请批示”；报告→“特此报告”；函→“为盼/为荷”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831336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3904488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文种混用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报告夹带“请批示/请批复”报 error；请示多事项提示“一文一事”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72200" y="3831336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3368" y="3904488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体例细节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主送机关顶格；密级“秘密★保密期限”；附件说明全角冒号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855464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4928616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docx 版式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页边距 · 仿宋正文 · 三号字 · 28 磅行距 · 页脚 PAGE 域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172200" y="4855464"/>
            <a:ext cx="5532120" cy="896112"/>
          </a:xfrm>
          <a:prstGeom prst="roundRect">
            <a:avLst>
              <a:gd name="adj" fmla="val 714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73368" y="4928616"/>
            <a:ext cx="5166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防误报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版式类 &gt;30% 段落异常才整体报警，个别特例不打扰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9436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结果三级着色：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1874520" y="5943600"/>
            <a:ext cx="1554480" cy="411480"/>
          </a:xfrm>
          <a:prstGeom prst="roundRect">
            <a:avLst>
              <a:gd name="adj" fmla="val 13333"/>
            </a:avLst>
          </a:prstGeom>
          <a:solidFill>
            <a:srgbClr val="D32F2F"/>
          </a:solidFill>
          <a:ln/>
        </p:spPr>
      </p:sp>
      <p:sp>
        <p:nvSpPr>
          <p:cNvPr id="26" name="Text 24"/>
          <p:cNvSpPr/>
          <p:nvPr/>
        </p:nvSpPr>
        <p:spPr>
          <a:xfrm>
            <a:off x="1947672" y="594360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error 红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502152" y="5943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必须改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0" y="5943600"/>
            <a:ext cx="1554480" cy="411480"/>
          </a:xfrm>
          <a:prstGeom prst="roundRect">
            <a:avLst>
              <a:gd name="adj" fmla="val 13333"/>
            </a:avLst>
          </a:prstGeom>
          <a:solidFill>
            <a:srgbClr val="E58A2E"/>
          </a:solidFill>
          <a:ln/>
        </p:spPr>
      </p:sp>
      <p:sp>
        <p:nvSpPr>
          <p:cNvPr id="29" name="Text 27"/>
          <p:cNvSpPr/>
          <p:nvPr/>
        </p:nvSpPr>
        <p:spPr>
          <a:xfrm>
            <a:off x="4645152" y="594360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warn 橙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199632" y="5943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建议改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269480" y="5943600"/>
            <a:ext cx="1554480" cy="411480"/>
          </a:xfrm>
          <a:prstGeom prst="roundRect">
            <a:avLst>
              <a:gd name="adj" fmla="val 13333"/>
            </a:avLst>
          </a:prstGeom>
          <a:solidFill>
            <a:srgbClr val="8C8178"/>
          </a:solidFill>
          <a:ln/>
        </p:spPr>
      </p:sp>
      <p:sp>
        <p:nvSpPr>
          <p:cNvPr id="32" name="Text 30"/>
          <p:cNvSpPr/>
          <p:nvPr/>
        </p:nvSpPr>
        <p:spPr>
          <a:xfrm>
            <a:off x="7342632" y="594360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info 灰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8897112" y="5943600"/>
            <a:ext cx="868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供参考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文档对比与相似查重：改了哪、重复哪，一眼看清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5422392" cy="4434840"/>
          </a:xfrm>
          <a:prstGeom prst="roundRect">
            <a:avLst>
              <a:gd name="adj" fmla="val 1649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文档对比 · differ.py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13232" y="24140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950976" y="2331720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段落级 SequenceMatcher 行对齐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13232" y="303580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950976" y="2953512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replace 行内再做词级 diff（jieba 分词，短串退字符级）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13232" y="365760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950976" y="3575304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双栏红绿 HTML：删红 · 增绿 · 改黄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13232" y="427939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7" name="Text 15"/>
          <p:cNvSpPr/>
          <p:nvPr/>
        </p:nvSpPr>
        <p:spPr>
          <a:xfrm>
            <a:off x="950976" y="4197096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统计增/删/改行数 + 相似度百分比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13232" y="490118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9" name="Text 17"/>
          <p:cNvSpPr/>
          <p:nvPr/>
        </p:nvSpPr>
        <p:spPr>
          <a:xfrm>
            <a:off x="950976" y="4818888"/>
            <a:ext cx="47914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对比对象：库内两文档，或任选本地文件（6 格式直读）</a:t>
            </a:r>
            <a:pPr indent="0" marL="0">
              <a:lnSpc>
                <a:spcPct val="112000"/>
              </a:lnSpc>
              <a:buNone/>
            </a:pP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309360" y="1737360"/>
            <a:ext cx="5422392" cy="4434840"/>
          </a:xfrm>
          <a:prstGeom prst="roundRect">
            <a:avLst>
              <a:gd name="adj" fmla="val 1649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3796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相似查重 · simhash.py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537960" y="241401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3" name="Text 21"/>
          <p:cNvSpPr/>
          <p:nvPr/>
        </p:nvSpPr>
        <p:spPr>
          <a:xfrm>
            <a:off x="6775704" y="2331720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建指纹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特征 = jieba 词语 + 相邻二元组；FNV-1a 64 位哈希（纯 Python 零依赖）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537960" y="31638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5" name="Text 23"/>
          <p:cNvSpPr/>
          <p:nvPr/>
        </p:nvSpPr>
        <p:spPr>
          <a:xfrm>
            <a:off x="6775704" y="3081528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粗筛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SimHash 海明距离（阈值放宽 0.25），速度优先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537960" y="391363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7" name="Text 25"/>
          <p:cNvSpPr/>
          <p:nvPr/>
        </p:nvSpPr>
        <p:spPr>
          <a:xfrm>
            <a:off x="6775704" y="3831336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精判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粗筛命中对再算字符三元组 Jaccard，作为最终相似度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6537960" y="466344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9" name="Text 27"/>
          <p:cNvSpPr/>
          <p:nvPr/>
        </p:nvSpPr>
        <p:spPr>
          <a:xfrm>
            <a:off x="6775704" y="4581144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入库即算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documents 表持久化指纹，查重免全库重算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6537960" y="541324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31" name="Text 29"/>
          <p:cNvSpPr/>
          <p:nvPr/>
        </p:nvSpPr>
        <p:spPr>
          <a:xfrm>
            <a:off x="6775704" y="5330952"/>
            <a:ext cx="474573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可调阈值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40–99% 滑块（默认 70%），找出“换说法的重复件”</a:t>
            </a:r>
            <a:endParaRPr lang="en-US" sz="13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历史快照与排版微调：让“手滑”可反悔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历史快照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276856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0" name="Text 8"/>
          <p:cNvSpPr/>
          <p:nvPr/>
        </p:nvSpPr>
        <p:spPr>
          <a:xfrm>
            <a:off x="694944" y="2194560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 3 分钟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有改动时自动快照（reason=auto）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2935224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2" name="Text 10"/>
          <p:cNvSpPr/>
          <p:nvPr/>
        </p:nvSpPr>
        <p:spPr>
          <a:xfrm>
            <a:off x="694944" y="2852928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保存前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写入资料库前先存一版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3593592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" y="3511296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 30 版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每文档独立计数，DAO 自动裁剪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4251960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6" name="Text 14"/>
          <p:cNvSpPr/>
          <p:nvPr/>
        </p:nvSpPr>
        <p:spPr>
          <a:xfrm>
            <a:off x="694944" y="4169664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差异预览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与当前内容词级 diff，确认后回滚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4910328"/>
            <a:ext cx="100584" cy="100584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8" name="Text 16"/>
          <p:cNvSpPr/>
          <p:nvPr/>
        </p:nvSpPr>
        <p:spPr>
          <a:xfrm>
            <a:off x="694944" y="4828032"/>
            <a:ext cx="4974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回滚安全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整块替换保留撤销栈，Ctrl+Z 可再反悔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126480" y="173736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一键排版微调（五步流水线，输出变更清单）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126480" y="2240280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21" name="Text 19"/>
          <p:cNvSpPr/>
          <p:nvPr/>
        </p:nvSpPr>
        <p:spPr>
          <a:xfrm>
            <a:off x="612648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748272" y="2258568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清理多余空格 / 空行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355080" y="2697480"/>
            <a:ext cx="0" cy="256032"/>
          </a:xfrm>
          <a:prstGeom prst="line">
            <a:avLst/>
          </a:prstGeom>
          <a:noFill/>
          <a:ln w="19050">
            <a:solidFill>
              <a:srgbClr val="D9C9B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26480" y="2953512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25" name="Text 23"/>
          <p:cNvSpPr/>
          <p:nvPr/>
        </p:nvSpPr>
        <p:spPr>
          <a:xfrm>
            <a:off x="6126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748272" y="2971800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全角数字转半角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355080" y="3410712"/>
            <a:ext cx="0" cy="256032"/>
          </a:xfrm>
          <a:prstGeom prst="line">
            <a:avLst/>
          </a:prstGeom>
          <a:noFill/>
          <a:ln w="19050">
            <a:solidFill>
              <a:srgbClr val="D9C9B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3666744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0" y="3666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748272" y="3685032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去除段首空白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355080" y="4123944"/>
            <a:ext cx="0" cy="256032"/>
          </a:xfrm>
          <a:prstGeom prst="line">
            <a:avLst/>
          </a:prstGeom>
          <a:noFill/>
          <a:ln w="19050">
            <a:solidFill>
              <a:srgbClr val="D9C9B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0" y="4379976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33" name="Text 31"/>
          <p:cNvSpPr/>
          <p:nvPr/>
        </p:nvSpPr>
        <p:spPr>
          <a:xfrm>
            <a:off x="6126480" y="43799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748272" y="4398264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规范标题编号链（一、（一）1.（1））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355080" y="4837176"/>
            <a:ext cx="0" cy="256032"/>
          </a:xfrm>
          <a:prstGeom prst="line">
            <a:avLst/>
          </a:prstGeom>
          <a:noFill/>
          <a:ln w="19050">
            <a:solidFill>
              <a:srgbClr val="D9C9B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26480" y="5093208"/>
            <a:ext cx="457200" cy="457200"/>
          </a:xfrm>
          <a:prstGeom prst="ellipse">
            <a:avLst/>
          </a:prstGeom>
          <a:solidFill>
            <a:srgbClr val="9E2B25"/>
          </a:solidFill>
          <a:ln/>
        </p:spPr>
      </p:sp>
      <p:sp>
        <p:nvSpPr>
          <p:cNvPr id="37" name="Text 35"/>
          <p:cNvSpPr/>
          <p:nvPr/>
        </p:nvSpPr>
        <p:spPr>
          <a:xfrm>
            <a:off x="6126480" y="5093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748272" y="5111496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正文段补两字符缩进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457200" y="5852160"/>
            <a:ext cx="11247120" cy="548640"/>
          </a:xfrm>
          <a:prstGeom prst="roundRect">
            <a:avLst>
              <a:gd name="adj" fmla="val 11667"/>
            </a:avLst>
          </a:prstGeom>
          <a:solidFill>
            <a:srgbClr val="F5EAE7"/>
          </a:solidFill>
          <a:ln/>
        </p:spPr>
      </p:sp>
      <p:sp>
        <p:nvSpPr>
          <p:cNvPr id="40" name="Text 38"/>
          <p:cNvSpPr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相似主题：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跨文档批量查找替换（支持正则，先预览每篇命中再执行，执行前提醒备份）</a:t>
            </a:r>
            <a:endParaRPr lang="en-US" sz="12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质检、对比与安全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安全与备份：四道保险，数据留在本机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724912" cy="3291840"/>
          </a:xfrm>
          <a:prstGeom prst="roundRect">
            <a:avLst>
              <a:gd name="adj" fmla="val 2685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" y="2450592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PBKDF2-HMAC-SHA256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万次迭代 + 随机盐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compare_digest 防时序攻击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 5 次强制等待 10 秒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28416" y="1783080"/>
            <a:ext cx="2724912" cy="3291840"/>
          </a:xfrm>
          <a:prstGeom prst="roundRect">
            <a:avLst>
              <a:gd name="adj" fmla="val 2685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9584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加密备份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9584" y="2450592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pyzipper AES（WZ_AES）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口令可选，明文包也支持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包内含库 + 模板 + 清单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跨机迁移一键完成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99632" y="1783080"/>
            <a:ext cx="2724912" cy="3291840"/>
          </a:xfrm>
          <a:prstGeom prst="roundRect">
            <a:avLst>
              <a:gd name="adj" fmla="val 2685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自动轮转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0" y="2450592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退出时自动备份（可关）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定时备份间隔可配置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保留最近 20 份轮转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文件名含毫秒防同秒覆盖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070848" y="1783080"/>
            <a:ext cx="2724912" cy="3291840"/>
          </a:xfrm>
          <a:prstGeom prst="roundRect">
            <a:avLst>
              <a:gd name="adj" fmla="val 2685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72016" y="193852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恢复护栏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272016" y="2450592"/>
            <a:ext cx="2377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备份前 WAL checkpoint 落盘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恢复前自动再做一次备份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 完整性试连校验</a:t>
            </a:r>
            <a:endParaRPr lang="en-US" sz="115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临时目录校验后原子替换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5349240"/>
            <a:ext cx="11247120" cy="868680"/>
          </a:xfrm>
          <a:prstGeom prst="roundRect">
            <a:avLst>
              <a:gd name="adj" fmla="val 7368"/>
            </a:avLst>
          </a:prstGeom>
          <a:solidFill>
            <a:srgbClr val="1F1917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534924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透明说明：</a:t>
            </a:r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口令锁定位是“防误用级”防护，非涉密级加密；真正的安全底线是 —— 全程零网络请求，数据不出这台机器。</a:t>
            </a:r>
            <a:endParaRPr lang="en-US" sz="12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0000" dirty="0"/>
          </a:p>
        </p:txBody>
      </p:sp>
      <p:sp>
        <p:nvSpPr>
          <p:cNvPr id="6" name="Text 4"/>
          <p:cNvSpPr/>
          <p:nvPr/>
        </p:nvSpPr>
        <p:spPr>
          <a:xfrm>
            <a:off x="2880360" y="2212848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交付、质量与生态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2907792" y="3090672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装得上、跑得动、测得全、发得出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4082796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97764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x64 + 麒麟 V10 ARM64 双平台交付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926080" y="4503420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4398264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个离线安装包自动构建，GitHub Actions 全自动发布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926080" y="4924044"/>
            <a:ext cx="109728" cy="10972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3182112" y="4818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1118 项测试 + 20 步端到端自检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双平台交付：从 Windows 办公机到麒麟信创终端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5532120" cy="2377440"/>
          </a:xfrm>
          <a:prstGeom prst="roundRect">
            <a:avLst>
              <a:gd name="adj" fmla="val 307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745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10 / 11 · x64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37744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Inno Setup 安装包（免管理员权限，装完即用）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Tesseract OCR + 中文包内置，离线开箱即用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便携模式 --portable：数据随程序走，U 盘可用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右键菜单“用公文汇编助手导入”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1737360"/>
            <a:ext cx="5532120" cy="2377440"/>
          </a:xfrm>
          <a:prstGeom prst="roundRect">
            <a:avLst>
              <a:gd name="adj" fmla="val 3077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0" y="18745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麒麟 V10 · ARM64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0" y="237744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 ARM64 runner 打包（非交叉编译模拟）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deb 包：desktop 入口 + Qt 运行库依赖声明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Tesseract 与中文包内置（glibc 与麒麟对齐）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启动器预检缺库，给出确切 apt 安装命令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4343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数据放哪，一目了然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480060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常规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%APPDATA%\gwtool\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172200" y="480060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麒麟 / Linux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~/.local/share/gwtool/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5367528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便携模式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程序同级 Data\（U 盘随带随走）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172200" y="5367528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汇编输出　</a:t>
            </a:r>
            <a:pPr indent="0" marL="0">
              <a:buNone/>
            </a:pPr>
            <a:r>
              <a:rPr lang="en-US" sz="12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我的文档\公文汇编输出\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6053328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程序与数据分离：升级重装不动数据；“备份/恢复”可整体搬迁到另一台电脑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打包矩阵：一份 spec，两大离线安装包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38728" y="1737360"/>
            <a:ext cx="5120640" cy="1417320"/>
          </a:xfrm>
          <a:prstGeom prst="roundRect">
            <a:avLst>
              <a:gd name="adj" fmla="val 5161"/>
            </a:avLst>
          </a:prstGeom>
          <a:solidFill>
            <a:srgbClr val="9E2B25"/>
          </a:solidFill>
          <a:ln/>
          <a:effectLst>
            <a:outerShdw sx="100000" sy="100000" kx="0" ky="0" algn="bl" rotWithShape="0" blurRad="88900" dist="25400" dir="5400000">
              <a:srgbClr val="3A2E28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794760" y="1874520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gwtool.spec · PyInstaller onedir</a:t>
            </a:r>
            <a:endParaRPr lang="en-US" sz="15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2D8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双平台共用唯一配置：携带 seed.db + OpenCC 数据；排除 17 个网络/重型模块；UPX 压缩；窗口程序无控制台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099048" y="3154680"/>
            <a:ext cx="0" cy="32004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0" y="3474720"/>
            <a:ext cx="5715000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0" y="3474720"/>
            <a:ext cx="0" cy="18288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57200" y="365760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3785616"/>
            <a:ext cx="5120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x64 安装包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gwtool_setup_win64.exe · Inno Setup LZMA2 固实压缩 · Tesseract OCR 与中文包内置 · 装完即启动，全程零网络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15400" y="3474720"/>
            <a:ext cx="0" cy="18288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172200" y="365760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73368" y="3785616"/>
            <a:ext cx="5120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麒麟 ARM64 deb 包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gwtool_&lt;版本&gt;_linux_arm64.deb · dpkg-deb 组装 · desktop 入口 + Qt 运行库依赖声明 · OCR 内置，glibc 对齐麒麟 V10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7200" y="53492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系统集成：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install_context_menu.bat 写当前用户注册表（无需管理员）挂右键菜单；gwtool.desktop 注册 6 类文档“打开方式”；OCR 引擎与中文包已内置，两个安装包均离线安装、开箱即用。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CI/CD：打一个 tag，两大离线安装包自动发布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286000" cy="3566160"/>
          </a:xfrm>
          <a:prstGeom prst="roundRect">
            <a:avLst>
              <a:gd name="adj" fmla="val 3200"/>
            </a:avLst>
          </a:prstGeom>
          <a:solidFill>
            <a:srgbClr val="1F1917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1965960"/>
            <a:ext cx="1920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触发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v* 标签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或手动触发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build.yml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 Actions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154680" y="1783080"/>
            <a:ext cx="8577072" cy="1115568"/>
          </a:xfrm>
          <a:prstGeom prst="roundRect">
            <a:avLst>
              <a:gd name="adj" fmla="val 5738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8745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Job 1 · windows-latest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806440" y="1856232"/>
            <a:ext cx="57607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ruff 静态检查（gwtool/scripts/tests）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pytest 全量 1118 用例 + 20 步端到端自检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PyInstaller 按 spec 打包 + Tesseract/中文包内置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smoke_dist 冒烟校验 → ISCC 安装包（版本号取自代码）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749040" y="2898648"/>
            <a:ext cx="0" cy="146304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154680" y="3044952"/>
            <a:ext cx="8577072" cy="1115568"/>
          </a:xfrm>
          <a:prstGeom prst="roundRect">
            <a:avLst>
              <a:gd name="adj" fmla="val 5738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0" y="3136392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Job 2 · ubuntu-24.04-arm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806440" y="3118104"/>
            <a:ext cx="57607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 ARM64 runner（非交叉编译）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Debian 11 容器（glibc 2.31 对齐麒麟 V10）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 spec 打包 + OCR 集成 + 运行库自检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smoke_dist 冒烟校验 → dpkg-deb 组装 .deb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749040" y="4160520"/>
            <a:ext cx="0" cy="146304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154680" y="4306824"/>
            <a:ext cx="8577072" cy="1115568"/>
          </a:xfrm>
          <a:prstGeom prst="roundRect">
            <a:avLst>
              <a:gd name="adj" fmla="val 5738"/>
            </a:avLst>
          </a:prstGeom>
          <a:solidFill>
            <a:srgbClr val="F5EAE7"/>
          </a:solidFill>
          <a:ln w="12700">
            <a:solidFill>
              <a:srgbClr val="E5C9C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3280" y="4398264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Job 3 · release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806440" y="4379976"/>
            <a:ext cx="57607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依赖前两个 Job 全绿（含打包与冒烟）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 v* 标签触发 / 手动 workflow_dispatch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gh release create 自动建发布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 2 个安装包 + 自动 Release Notes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2743200" y="3566160"/>
            <a:ext cx="384048" cy="0"/>
          </a:xfrm>
          <a:prstGeom prst="line">
            <a:avLst/>
          </a:prstGeom>
          <a:noFill/>
          <a:ln w="15875">
            <a:solidFill>
              <a:srgbClr val="B9A79A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质量保障：1118 项测试，性能指标写进断言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测试分布（pytest，按文件 · 前 9）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221284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test_corrector_l5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880360" y="2263140"/>
            <a:ext cx="3246120" cy="21031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1" name="Text 9"/>
          <p:cNvSpPr/>
          <p:nvPr/>
        </p:nvSpPr>
        <p:spPr>
          <a:xfrm>
            <a:off x="6199632" y="221284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261518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test_features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880360" y="2665476"/>
            <a:ext cx="1693628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14" name="Text 12"/>
          <p:cNvSpPr/>
          <p:nvPr/>
        </p:nvSpPr>
        <p:spPr>
          <a:xfrm>
            <a:off x="4647140" y="261518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" y="30175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test_attachments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880360" y="3067812"/>
            <a:ext cx="1411357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17" name="Text 15"/>
          <p:cNvSpPr/>
          <p:nvPr/>
        </p:nvSpPr>
        <p:spPr>
          <a:xfrm>
            <a:off x="4364869" y="301752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7200" y="341985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test_corrector_l4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880360" y="3470148"/>
            <a:ext cx="1340789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20" name="Text 18"/>
          <p:cNvSpPr/>
          <p:nvPr/>
        </p:nvSpPr>
        <p:spPr>
          <a:xfrm>
            <a:off x="4294301" y="341985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3822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test_correction_highlighter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880360" y="3872484"/>
            <a:ext cx="1340789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23" name="Text 21"/>
          <p:cNvSpPr/>
          <p:nvPr/>
        </p:nvSpPr>
        <p:spPr>
          <a:xfrm>
            <a:off x="4294301" y="382219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422452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test_backup_limits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880360" y="4274820"/>
            <a:ext cx="1340789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26" name="Text 24"/>
          <p:cNvSpPr/>
          <p:nvPr/>
        </p:nvSpPr>
        <p:spPr>
          <a:xfrm>
            <a:off x="4294301" y="422452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462686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test_stage3_extras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880360" y="4677156"/>
            <a:ext cx="1340789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29" name="Text 27"/>
          <p:cNvSpPr/>
          <p:nvPr/>
        </p:nvSpPr>
        <p:spPr>
          <a:xfrm>
            <a:off x="4294301" y="462686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57200" y="50292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test_batch_correct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880360" y="5079492"/>
            <a:ext cx="1199653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32" name="Text 30"/>
          <p:cNvSpPr/>
          <p:nvPr/>
        </p:nvSpPr>
        <p:spPr>
          <a:xfrm>
            <a:off x="4153165" y="50292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57200" y="543153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test_registry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880360" y="5481828"/>
            <a:ext cx="1199653" cy="210312"/>
          </a:xfrm>
          <a:prstGeom prst="rect">
            <a:avLst/>
          </a:prstGeom>
          <a:solidFill>
            <a:srgbClr val="C4807A"/>
          </a:solidFill>
          <a:ln/>
        </p:spPr>
      </p:sp>
      <p:sp>
        <p:nvSpPr>
          <p:cNvPr id="35" name="Text 33"/>
          <p:cNvSpPr/>
          <p:nvPr/>
        </p:nvSpPr>
        <p:spPr>
          <a:xfrm>
            <a:off x="4153165" y="543153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57200" y="5943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合计 1118 用例 · 61 个测试文件 · 每次提交 ruff E9+F821 静态门槛（拦截“忘导入即崩溃”）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1737360"/>
            <a:ext cx="4782312" cy="4526280"/>
          </a:xfrm>
          <a:prstGeom prst="roundRect">
            <a:avLst>
              <a:gd name="adj" fmla="val 1616"/>
            </a:avLst>
          </a:prstGeom>
          <a:solidFill>
            <a:srgbClr val="1F1917"/>
          </a:solidFill>
          <a:ln/>
        </p:spPr>
      </p:sp>
      <p:sp>
        <p:nvSpPr>
          <p:cNvPr id="38" name="Text 36"/>
          <p:cNvSpPr/>
          <p:nvPr/>
        </p:nvSpPr>
        <p:spPr>
          <a:xfrm>
            <a:off x="7205472" y="190195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性能验收（写进测试的硬指标）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205472" y="239572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个文件导入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9966960" y="239572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10 秒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7205472" y="2852928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05472" y="2962656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万字语料检索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9966960" y="2962656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 秒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7205472" y="3419856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05472" y="352958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精标 100 对识别率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9966960" y="352958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7205472" y="3986784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205472" y="409651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首启种子导入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9966960" y="409651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15 秒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7205472" y="4553712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05472" y="4663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端到端自检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9966960" y="466344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步全 PASS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7205472" y="5120640"/>
            <a:ext cx="4251960" cy="0"/>
          </a:xfrm>
          <a:prstGeom prst="line">
            <a:avLst/>
          </a:prstGeom>
          <a:noFill/>
          <a:ln w="12700">
            <a:solidFill>
              <a:srgbClr val="4A3F3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205472" y="523036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FE7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网络请求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9966960" y="523036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次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7205472" y="58064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 e2e_check.py：模拟真实数据目录走通 20 大流程，逐项 PASS/FAIL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347472" cy="347472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73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8404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交付、质量与生态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4124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v1.6.0 新增：把公文管理的另一半补齐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137392" y="6382512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8251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81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系统介绍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691640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1819656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收文登记台账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签收 → 拟办 → 批办 → 承办 → 办结 → 归档 全流程登记：来文机关、来文字号、拟办意见、领导批示、承办部门与办理时限全要素；可按机关/文种/状态/年度组合筛选并统计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327648" y="1691640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27648" y="1691640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1819656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办理时限督办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填了“应办结日期”的件自动纳入督办：启动时扫描已逾期与 2 日内到期的，状态栏常显角标、点开即见清单。刻意不做后台常驻轮询 —— 那会伤续航，而公文以“天”为粒度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457200" y="3273552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73552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" y="3401568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归档与移交清单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已办结收文批量编档号、标注保管期限（永久/30年/10年），并生成可签字盖章随卷的《归档移交清单》。在办件不允许归档 —— 那会造成“卷内缺件”，比不归档更难收拾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327648" y="3273552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27648" y="3273552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0" y="3401568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Excel 导出（零新依赖）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台账、统计报表、体检整改清单均可导出 xlsx。xlsx 本质是 ZIP + XML，用标准库手写即可完成，不为此引入任何第三方依赖，安装包体积零增长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457200" y="4855464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4855464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4983480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运维可诊断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运行期诊断日志（有界轮转、队列异步、不记正文）+ 启动库完整性自检（正常时完全静默）+ 一键碎片整理 + 诊断包（只含版本与计数，绝不含公文正文）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6327648" y="4855464"/>
            <a:ext cx="5394960" cy="1444752"/>
          </a:xfrm>
          <a:prstGeom prst="roundRect">
            <a:avLst>
              <a:gd name="adj" fmla="val 5063"/>
            </a:avLst>
          </a:prstGeom>
          <a:solidFill>
            <a:srgbClr val="F8F4EE"/>
          </a:solidFill>
          <a:ln w="12700">
            <a:solidFill>
              <a:srgbClr val="E7DFD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7648" y="4855464"/>
            <a:ext cx="82296" cy="1444752"/>
          </a:xfrm>
          <a:prstGeom prst="rect">
            <a:avLst/>
          </a:prstGeom>
          <a:solidFill>
            <a:srgbClr val="9E2B25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4983480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9E2B2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体检与移交增强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01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格式体检新增引文规范、数字用法、文内一致性、公文文风四类；汇编可附材料来源清单；资料可按分类/时段导出为移交包（含每份文档的 sha256 校验清单）</a:t>
            </a:r>
            <a:endParaRPr lang="en-US" sz="14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F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402336" cy="402336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085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87552" y="50292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公文汇编助手 · 单机离线版 v1.6.0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完全离线 · 数据自主 · 开箱即用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484632" y="31546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不联网、不上传、不留痕 —— 一台电脑，就是一座公文资料馆。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4069080"/>
            <a:ext cx="3611880" cy="1234440"/>
          </a:xfrm>
          <a:prstGeom prst="roundRect">
            <a:avLst>
              <a:gd name="adj" fmla="val 5926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42062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README.md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功能总览 · 快速开始 · 打包发布 · 验收对照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4069080"/>
            <a:ext cx="3611880" cy="1234440"/>
          </a:xfrm>
          <a:prstGeom prst="roundRect">
            <a:avLst>
              <a:gd name="adj" fmla="val 5926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98848" y="42062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项目文件结构说明.md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写给新手的逐文件导读与“改 X 去哪”速查表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4069080"/>
            <a:ext cx="3611880" cy="1234440"/>
          </a:xfrm>
          <a:prstGeom prst="roundRect">
            <a:avLst>
              <a:gd name="adj" fmla="val 5926"/>
            </a:avLst>
          </a:prstGeom>
          <a:solidFill>
            <a:srgbClr val="2C2521"/>
          </a:solidFill>
          <a:ln w="12700">
            <a:solidFill>
              <a:srgbClr val="4A3F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39328" y="42062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2D8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scripts/e2e_check.py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9C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步端到端自检，部署后一键验货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58978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谢谢审阅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0241280" y="5074920"/>
            <a:ext cx="1051560" cy="1051560"/>
          </a:xfrm>
          <a:prstGeom prst="roundRect">
            <a:avLst>
              <a:gd name="adj" fmla="val 10000"/>
            </a:avLst>
          </a:prstGeom>
          <a:solidFill>
            <a:srgbClr val="9E2B25"/>
          </a:solidFill>
          <a:ln/>
        </p:spPr>
      </p:sp>
      <p:sp>
        <p:nvSpPr>
          <p:cNvPr id="15" name="Text 13"/>
          <p:cNvSpPr/>
          <p:nvPr/>
        </p:nvSpPr>
        <p:spPr>
          <a:xfrm>
            <a:off x="10241280" y="5043373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</a:t>
            </a:r>
            <a:endParaRPr lang="en-US" sz="4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公文汇编助手 · 系统介绍</dc:title>
  <dc:subject>单机离线公文汇编与写作辅助工具</dc:subject>
  <dc:creator>公文汇编助手</dc:creator>
  <cp:lastModifiedBy>公文汇编助手</cp:lastModifiedBy>
  <cp:revision>1</cp:revision>
  <dcterms:created xsi:type="dcterms:W3CDTF">2026-09-16T15:02:01Z</dcterms:created>
  <dcterms:modified xsi:type="dcterms:W3CDTF">2026-09-16T15:02:01Z</dcterms:modified>
</cp:coreProperties>
</file>